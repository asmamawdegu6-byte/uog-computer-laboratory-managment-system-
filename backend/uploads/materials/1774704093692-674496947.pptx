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handoutMasterIdLst>
    <p:handoutMasterId r:id="rId51"/>
  </p:handoutMasterIdLst>
  <p:sldIdLst>
    <p:sldId id="365" r:id="rId3"/>
    <p:sldId id="357" r:id="rId4"/>
    <p:sldId id="358" r:id="rId5"/>
    <p:sldId id="351" r:id="rId6"/>
    <p:sldId id="368" r:id="rId7"/>
    <p:sldId id="369" r:id="rId8"/>
    <p:sldId id="371" r:id="rId9"/>
    <p:sldId id="372" r:id="rId10"/>
    <p:sldId id="373" r:id="rId11"/>
    <p:sldId id="367" r:id="rId12"/>
    <p:sldId id="265" r:id="rId13"/>
    <p:sldId id="353" r:id="rId14"/>
    <p:sldId id="354" r:id="rId15"/>
    <p:sldId id="318" r:id="rId16"/>
    <p:sldId id="356" r:id="rId17"/>
    <p:sldId id="355" r:id="rId18"/>
    <p:sldId id="273" r:id="rId19"/>
    <p:sldId id="337" r:id="rId20"/>
    <p:sldId id="345" r:id="rId21"/>
    <p:sldId id="370" r:id="rId22"/>
    <p:sldId id="360" r:id="rId23"/>
    <p:sldId id="361" r:id="rId24"/>
    <p:sldId id="362" r:id="rId25"/>
    <p:sldId id="363" r:id="rId26"/>
    <p:sldId id="312" r:id="rId27"/>
    <p:sldId id="315" r:id="rId28"/>
    <p:sldId id="339" r:id="rId29"/>
    <p:sldId id="336" r:id="rId31"/>
    <p:sldId id="350" r:id="rId32"/>
    <p:sldId id="341" r:id="rId33"/>
    <p:sldId id="342" r:id="rId34"/>
    <p:sldId id="344" r:id="rId35"/>
    <p:sldId id="346" r:id="rId36"/>
    <p:sldId id="347" r:id="rId37"/>
    <p:sldId id="348" r:id="rId38"/>
    <p:sldId id="313" r:id="rId39"/>
    <p:sldId id="269" r:id="rId40"/>
    <p:sldId id="280" r:id="rId41"/>
    <p:sldId id="282" r:id="rId42"/>
    <p:sldId id="283" r:id="rId43"/>
    <p:sldId id="275" r:id="rId44"/>
    <p:sldId id="270" r:id="rId45"/>
    <p:sldId id="329" r:id="rId46"/>
    <p:sldId id="332" r:id="rId47"/>
    <p:sldId id="330" r:id="rId48"/>
    <p:sldId id="331" r:id="rId49"/>
    <p:sldId id="349" r:id="rId50"/>
  </p:sldIdLst>
  <p:sldSz cx="9144000" cy="6858000" type="screen4x3"/>
  <p:notesSz cx="7315200" cy="9601200"/>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1493"/>
    <p:restoredTop sz="94660"/>
  </p:normalViewPr>
  <p:slideViewPr>
    <p:cSldViewPr showGuides="1">
      <p:cViewPr varScale="1">
        <p:scale>
          <a:sx n="74" d="100"/>
          <a:sy n="74" d="100"/>
        </p:scale>
        <p:origin x="1434"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4" Type="http://schemas.openxmlformats.org/officeDocument/2006/relationships/tableStyles" Target="tableStyles.xml"/><Relationship Id="rId53" Type="http://schemas.openxmlformats.org/officeDocument/2006/relationships/viewProps" Target="viewProps.xml"/><Relationship Id="rId52" Type="http://schemas.openxmlformats.org/officeDocument/2006/relationships/presProps" Target="presProps.xml"/><Relationship Id="rId51" Type="http://schemas.openxmlformats.org/officeDocument/2006/relationships/handoutMaster" Target="handoutMasters/handoutMaster1.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notesMaster" Target="notesMasters/notesMaster1.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5842" name="Rectangle 2"/>
          <p:cNvSpPr>
            <a:spLocks noGrp="1" noChangeArrowheads="1"/>
          </p:cNvSpPr>
          <p:nvPr>
            <p:ph type="hdr" sz="quarter"/>
          </p:nvPr>
        </p:nvSpPr>
        <p:spPr bwMode="auto">
          <a:xfrm>
            <a:off x="0" y="0"/>
            <a:ext cx="3170238" cy="479425"/>
          </a:xfrm>
          <a:prstGeom prst="rect">
            <a:avLst/>
          </a:prstGeom>
          <a:noFill/>
          <a:ln w="9525">
            <a:noFill/>
            <a:miter lim="800000"/>
          </a:ln>
          <a:effectLst/>
        </p:spPr>
        <p:txBody>
          <a:bodyPr vert="horz" wrap="square" lIns="96661" tIns="48331" rIns="96661" bIns="48331" numCol="1" anchor="t" anchorCtr="0" compatLnSpc="1"/>
          <a:lstStyle>
            <a:lvl1pPr eaLnBrk="1" hangingPunct="1">
              <a:defRPr sz="13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3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5843" name="Rectangle 3"/>
          <p:cNvSpPr>
            <a:spLocks noGrp="1" noChangeArrowheads="1"/>
          </p:cNvSpPr>
          <p:nvPr>
            <p:ph type="dt" sz="quarter" idx="1"/>
          </p:nvPr>
        </p:nvSpPr>
        <p:spPr bwMode="auto">
          <a:xfrm>
            <a:off x="4143375" y="0"/>
            <a:ext cx="3170238" cy="479425"/>
          </a:xfrm>
          <a:prstGeom prst="rect">
            <a:avLst/>
          </a:prstGeom>
          <a:noFill/>
          <a:ln w="9525">
            <a:noFill/>
            <a:miter lim="800000"/>
          </a:ln>
          <a:effectLst/>
        </p:spPr>
        <p:txBody>
          <a:bodyPr vert="horz" wrap="square" lIns="96661" tIns="48331" rIns="96661" bIns="48331" numCol="1" anchor="t" anchorCtr="0" compatLnSpc="1"/>
          <a:lstStyle>
            <a:lvl1pPr algn="r" eaLnBrk="1" hangingPunct="1">
              <a:defRPr sz="130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3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5844" name="Rectangle 4"/>
          <p:cNvSpPr>
            <a:spLocks noGrp="1" noChangeArrowheads="1"/>
          </p:cNvSpPr>
          <p:nvPr>
            <p:ph type="ftr" sz="quarter" idx="2"/>
          </p:nvPr>
        </p:nvSpPr>
        <p:spPr bwMode="auto">
          <a:xfrm>
            <a:off x="0" y="9120188"/>
            <a:ext cx="3170238" cy="479425"/>
          </a:xfrm>
          <a:prstGeom prst="rect">
            <a:avLst/>
          </a:prstGeom>
          <a:noFill/>
          <a:ln w="9525">
            <a:noFill/>
            <a:miter lim="800000"/>
          </a:ln>
          <a:effectLst/>
        </p:spPr>
        <p:txBody>
          <a:bodyPr vert="horz" wrap="square" lIns="96661" tIns="48331" rIns="96661" bIns="48331" numCol="1" anchor="b" anchorCtr="0" compatLnSpc="1"/>
          <a:lstStyle>
            <a:lvl1pPr eaLnBrk="1" hangingPunct="1">
              <a:defRPr sz="13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3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5845" name="Rectangle 5"/>
          <p:cNvSpPr>
            <a:spLocks noGrp="1" noChangeArrowheads="1"/>
          </p:cNvSpPr>
          <p:nvPr>
            <p:ph type="sldNum" sz="quarter" idx="3"/>
          </p:nvPr>
        </p:nvSpPr>
        <p:spPr bwMode="auto">
          <a:xfrm>
            <a:off x="4143375" y="9120188"/>
            <a:ext cx="3170238" cy="479425"/>
          </a:xfrm>
          <a:prstGeom prst="rect">
            <a:avLst/>
          </a:prstGeom>
          <a:noFill/>
          <a:ln w="9525">
            <a:noFill/>
            <a:miter lim="800000"/>
          </a:ln>
          <a:effectLst/>
        </p:spPr>
        <p:txBody>
          <a:bodyPr vert="horz" wrap="square" lIns="96661" tIns="48331" rIns="96661" bIns="48331" numCol="1" anchor="b" anchorCtr="0" compatLnSpc="1"/>
          <a:lstStyle>
            <a:lvl1pPr algn="r" eaLnBrk="1" hangingPunct="1">
              <a:defRPr sz="1300"/>
            </a:lvl1pPr>
          </a:lstStyle>
          <a:p>
            <a:pPr marL="0" marR="0" lvl="0" indent="0" algn="r" defTabSz="914400" rtl="0" eaLnBrk="1" fontAlgn="base" latinLnBrk="0" hangingPunct="1">
              <a:lnSpc>
                <a:spcPct val="100000"/>
              </a:lnSpc>
              <a:spcBef>
                <a:spcPct val="0"/>
              </a:spcBef>
              <a:spcAft>
                <a:spcPct val="0"/>
              </a:spcAft>
              <a:buClrTx/>
              <a:buSzTx/>
              <a:buFontTx/>
              <a:buNone/>
              <a:defRPr/>
            </a:pPr>
            <a:fld id="{CBC17830-D4BD-4DE6-989D-5C0A6999E708}" type="slidenum">
              <a:rPr kumimoji="0" lang="en-US" sz="1300" b="0" i="0" u="none" strike="noStrike" kern="1200" cap="none" spc="0" normalizeH="0" baseline="0" noProof="0">
                <a:ln>
                  <a:noFill/>
                </a:ln>
                <a:solidFill>
                  <a:schemeClr val="tx1"/>
                </a:solidFill>
                <a:effectLst/>
                <a:uLnTx/>
                <a:uFillTx/>
                <a:latin typeface="Arial" panose="020B0604020202020204" pitchFamily="34" charset="0"/>
                <a:ea typeface="+mn-ea"/>
                <a:cs typeface="+mn-cs"/>
              </a:rPr>
            </a:fld>
            <a:endParaRPr kumimoji="0" lang="en-US" sz="13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1"/>
          <p:cNvSpPr>
            <a:spLocks noGrp="1"/>
          </p:cNvSpPr>
          <p:nvPr>
            <p:ph type="hdr" sz="quarter"/>
          </p:nvPr>
        </p:nvSpPr>
        <p:spPr>
          <a:xfrm>
            <a:off x="0" y="0"/>
            <a:ext cx="3170238" cy="479425"/>
          </a:xfrm>
          <a:prstGeom prst="rect">
            <a:avLst/>
          </a:prstGeom>
        </p:spPr>
        <p:txBody>
          <a:bodyPr vert="horz" wrap="square" lIns="96661" tIns="48331" rIns="96661" bIns="48331" numCol="1" anchor="t" anchorCtr="0" compatLnSpc="1"/>
          <a:lstStyle>
            <a:lvl1pPr eaLnBrk="1" hangingPunct="1">
              <a:defRPr sz="13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3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 name="Date Placeholder 2"/>
          <p:cNvSpPr>
            <a:spLocks noGrp="1"/>
          </p:cNvSpPr>
          <p:nvPr>
            <p:ph type="dt" idx="1"/>
          </p:nvPr>
        </p:nvSpPr>
        <p:spPr>
          <a:xfrm>
            <a:off x="4143375" y="0"/>
            <a:ext cx="3170238" cy="479425"/>
          </a:xfrm>
          <a:prstGeom prst="rect">
            <a:avLst/>
          </a:prstGeom>
        </p:spPr>
        <p:txBody>
          <a:bodyPr vert="horz" wrap="square" lIns="96661" tIns="48331" rIns="96661" bIns="48331" numCol="1" anchor="t" anchorCtr="0" compatLnSpc="1"/>
          <a:lstStyle>
            <a:lvl1pPr algn="r" eaLnBrk="1" hangingPunct="1">
              <a:defRPr sz="1300"/>
            </a:lvl1pPr>
          </a:lstStyle>
          <a:p>
            <a:pPr marL="0" marR="0" lvl="0" indent="0" algn="r" defTabSz="914400" rtl="0" eaLnBrk="1" fontAlgn="base" latinLnBrk="0" hangingPunct="1">
              <a:lnSpc>
                <a:spcPct val="100000"/>
              </a:lnSpc>
              <a:spcBef>
                <a:spcPct val="0"/>
              </a:spcBef>
              <a:spcAft>
                <a:spcPct val="0"/>
              </a:spcAft>
              <a:buClrTx/>
              <a:buSzTx/>
              <a:buFontTx/>
              <a:buNone/>
              <a:defRPr/>
            </a:pPr>
            <a:fld id="{5B86D573-EA70-4371-BF44-4062787D22CD}" type="datetimeFigureOut">
              <a:rPr kumimoji="0" lang="en-US" sz="1300" b="0" i="0" u="none" strike="noStrike" kern="1200" cap="none" spc="0" normalizeH="0" baseline="0" noProof="0">
                <a:ln>
                  <a:noFill/>
                </a:ln>
                <a:solidFill>
                  <a:schemeClr val="tx1"/>
                </a:solidFill>
                <a:effectLst/>
                <a:uLnTx/>
                <a:uFillTx/>
                <a:latin typeface="Arial" panose="020B0604020202020204" pitchFamily="34" charset="0"/>
                <a:ea typeface="+mn-ea"/>
                <a:cs typeface="+mn-cs"/>
              </a:rPr>
            </a:fld>
            <a:endParaRPr kumimoji="0" lang="en-US" sz="13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5" name="Notes Placeholder 4"/>
          <p:cNvSpPr>
            <a:spLocks noGrp="1"/>
          </p:cNvSpPr>
          <p:nvPr>
            <p:ph type="body" sz="quarter" idx="3"/>
          </p:nvPr>
        </p:nvSpPr>
        <p:spPr>
          <a:xfrm>
            <a:off x="731838" y="4560888"/>
            <a:ext cx="5851525" cy="4319588"/>
          </a:xfrm>
          <a:prstGeom prst="rect">
            <a:avLst/>
          </a:prstGeom>
        </p:spPr>
        <p:txBody>
          <a:bodyPr vert="horz" lIns="96661" tIns="48331" rIns="96661" bIns="48331" rtlCol="0">
            <a:norm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Click to edit Master text styles</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Second level</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Third level</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Fourth level</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Fifth level</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6" name="Footer Placeholder 5"/>
          <p:cNvSpPr>
            <a:spLocks noGrp="1"/>
          </p:cNvSpPr>
          <p:nvPr>
            <p:ph type="ftr" sz="quarter" idx="4"/>
          </p:nvPr>
        </p:nvSpPr>
        <p:spPr>
          <a:xfrm>
            <a:off x="0" y="9120188"/>
            <a:ext cx="3170238" cy="479425"/>
          </a:xfrm>
          <a:prstGeom prst="rect">
            <a:avLst/>
          </a:prstGeom>
        </p:spPr>
        <p:txBody>
          <a:bodyPr vert="horz" wrap="square" lIns="96661" tIns="48331" rIns="96661" bIns="48331" numCol="1" anchor="b" anchorCtr="0" compatLnSpc="1"/>
          <a:lstStyle>
            <a:lvl1pPr eaLnBrk="1" hangingPunct="1">
              <a:defRPr sz="13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3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 name="Slide Number Placeholder 6"/>
          <p:cNvSpPr>
            <a:spLocks noGrp="1"/>
          </p:cNvSpPr>
          <p:nvPr>
            <p:ph type="sldNum" sz="quarter" idx="5"/>
          </p:nvPr>
        </p:nvSpPr>
        <p:spPr>
          <a:xfrm>
            <a:off x="4143375" y="9120188"/>
            <a:ext cx="3170238" cy="479425"/>
          </a:xfrm>
          <a:prstGeom prst="rect">
            <a:avLst/>
          </a:prstGeom>
        </p:spPr>
        <p:txBody>
          <a:bodyPr vert="horz" wrap="square" lIns="96661" tIns="48331" rIns="96661" bIns="48331" numCol="1" anchor="b" anchorCtr="0" compatLnSpc="1"/>
          <a:lstStyle>
            <a:lvl1pPr algn="r" eaLnBrk="1" hangingPunct="1">
              <a:defRPr sz="1300"/>
            </a:lvl1pPr>
          </a:lstStyle>
          <a:p>
            <a:pPr marL="0" marR="0" lvl="0" indent="0" algn="r" defTabSz="914400" rtl="0" eaLnBrk="1" fontAlgn="base" latinLnBrk="0" hangingPunct="1">
              <a:lnSpc>
                <a:spcPct val="100000"/>
              </a:lnSpc>
              <a:spcBef>
                <a:spcPct val="0"/>
              </a:spcBef>
              <a:spcAft>
                <a:spcPct val="0"/>
              </a:spcAft>
              <a:buClrTx/>
              <a:buSzTx/>
              <a:buFontTx/>
              <a:buNone/>
              <a:defRPr/>
            </a:pPr>
            <a:fld id="{84E72E52-6FF6-4E10-A7E6-2C18C4C8C88D}" type="slidenum">
              <a:rPr kumimoji="0" lang="en-US" sz="1300" b="0" i="0" u="none" strike="noStrike" kern="1200" cap="none" spc="0" normalizeH="0" baseline="0" noProof="0">
                <a:ln>
                  <a:noFill/>
                </a:ln>
                <a:solidFill>
                  <a:schemeClr val="tx1"/>
                </a:solidFill>
                <a:effectLst/>
                <a:uLnTx/>
                <a:uFillTx/>
                <a:latin typeface="Arial" panose="020B0604020202020204" pitchFamily="34" charset="0"/>
                <a:ea typeface="+mn-ea"/>
                <a:cs typeface="+mn-cs"/>
              </a:rPr>
            </a:fld>
            <a:endParaRPr kumimoji="0" lang="en-US" sz="13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4818" name="Rectangle 1"/>
          <p:cNvSpPr>
            <a:spLocks noTextEdit="1"/>
          </p:cNvSpPr>
          <p:nvPr>
            <p:ph type="sldImg"/>
          </p:nvPr>
        </p:nvSpPr>
        <p:spPr>
          <a:xfrm>
            <a:off x="0" y="319088"/>
            <a:ext cx="1588" cy="1587"/>
          </a:xfrm>
          <a:solidFill>
            <a:srgbClr val="FFFFFF">
              <a:alpha val="100000"/>
            </a:srgbClr>
          </a:solidFill>
          <a:ln>
            <a:solidFill>
              <a:srgbClr val="000000">
                <a:alpha val="100000"/>
              </a:srgbClr>
            </a:solidFill>
            <a:miter lim="800000"/>
          </a:ln>
        </p:spPr>
      </p:sp>
      <p:sp>
        <p:nvSpPr>
          <p:cNvPr id="34819" name="Rectangle 2"/>
          <p:cNvSpPr/>
          <p:nvPr>
            <p:ph type="body" idx="1"/>
          </p:nvPr>
        </p:nvSpPr>
        <p:spPr>
          <a:xfrm>
            <a:off x="536575" y="4532313"/>
            <a:ext cx="6246813" cy="4264025"/>
          </a:xfrm>
          <a:noFill/>
          <a:ln>
            <a:noFill/>
          </a:ln>
        </p:spPr>
        <p:txBody>
          <a:bodyPr wrap="none" lIns="96661" tIns="48331" rIns="96661" bIns="48331" anchor="ctr" anchorCtr="0"/>
          <a:p>
            <a:pPr lvl="0" eaLnBrk="1" hangingPunct="1"/>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6866" name="Rectangle 1"/>
          <p:cNvSpPr>
            <a:spLocks noTextEdit="1"/>
          </p:cNvSpPr>
          <p:nvPr>
            <p:ph type="sldImg"/>
          </p:nvPr>
        </p:nvSpPr>
        <p:spPr>
          <a:xfrm>
            <a:off x="0" y="319088"/>
            <a:ext cx="1588" cy="1587"/>
          </a:xfrm>
          <a:solidFill>
            <a:srgbClr val="FFFFFF">
              <a:alpha val="100000"/>
            </a:srgbClr>
          </a:solidFill>
          <a:ln>
            <a:solidFill>
              <a:srgbClr val="000000">
                <a:alpha val="100000"/>
              </a:srgbClr>
            </a:solidFill>
            <a:miter lim="800000"/>
          </a:ln>
        </p:spPr>
      </p:sp>
      <p:sp>
        <p:nvSpPr>
          <p:cNvPr id="36867" name="Rectangle 2"/>
          <p:cNvSpPr/>
          <p:nvPr>
            <p:ph type="body" idx="1"/>
          </p:nvPr>
        </p:nvSpPr>
        <p:spPr>
          <a:xfrm>
            <a:off x="536575" y="4532313"/>
            <a:ext cx="6246813" cy="4264025"/>
          </a:xfrm>
          <a:noFill/>
          <a:ln>
            <a:noFill/>
          </a:ln>
        </p:spPr>
        <p:txBody>
          <a:bodyPr wrap="none" lIns="96661" tIns="48331" rIns="96661" bIns="48331" anchor="ctr" anchorCtr="0"/>
          <a:p>
            <a:pPr lvl="0" eaLnBrk="1" hangingPunct="1"/>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9938" name="Rectangle 1"/>
          <p:cNvSpPr>
            <a:spLocks noGrp="1" noRot="1" noChangeAspect="1" noTextEdit="1"/>
          </p:cNvSpPr>
          <p:nvPr>
            <p:ph type="sldImg"/>
          </p:nvPr>
        </p:nvSpPr>
        <p:spPr>
          <a:xfrm>
            <a:off x="0" y="319088"/>
            <a:ext cx="1588" cy="1587"/>
          </a:xfrm>
          <a:solidFill>
            <a:srgbClr val="FFFFFF">
              <a:alpha val="100000"/>
            </a:srgbClr>
          </a:solidFill>
          <a:ln>
            <a:solidFill>
              <a:srgbClr val="000000">
                <a:alpha val="100000"/>
              </a:srgbClr>
            </a:solidFill>
            <a:miter lim="800000"/>
          </a:ln>
        </p:spPr>
      </p:sp>
      <p:sp>
        <p:nvSpPr>
          <p:cNvPr id="39939" name="Rectangle 2"/>
          <p:cNvSpPr>
            <a:spLocks noGrp="1"/>
          </p:cNvSpPr>
          <p:nvPr>
            <p:ph type="body" idx="1"/>
          </p:nvPr>
        </p:nvSpPr>
        <p:spPr>
          <a:xfrm>
            <a:off x="536575" y="4532313"/>
            <a:ext cx="6246813" cy="4264025"/>
          </a:xfrm>
          <a:noFill/>
          <a:ln>
            <a:noFill/>
          </a:ln>
        </p:spPr>
        <p:txBody>
          <a:bodyPr wrap="none" lIns="96661" tIns="48331" rIns="96661" bIns="48331" anchor="ctr" anchorCtr="0"/>
          <a:p>
            <a:pPr lvl="0"/>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smtClean="0"/>
              <a:t>Click to edit Master title style</a:t>
            </a:r>
            <a:endParaRPr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14" name="Date Placeholder 29"/>
          <p:cNvSpPr>
            <a:spLocks noGrp="1"/>
          </p:cNvSpPr>
          <p:nvPr>
            <p:ph type="dt" sz="half" idx="2"/>
          </p:nvPr>
        </p:nvSpPr>
        <p:spPr>
          <a:xfrm>
            <a:off x="457200" y="6356350"/>
            <a:ext cx="2133600" cy="365125"/>
          </a:xfrm>
          <a:prstGeom prst="rect">
            <a:avLst/>
          </a:prstGeom>
        </p:spPr>
        <p:txBody>
          <a:bodyPr vert="horz" wrap="square" lIns="0" tIns="0" rIns="0" bIns="0" numCol="1" anchor="b" anchorCtr="0" compatLnSpc="1"/>
          <a:lstStyle>
            <a:lvl1pPr>
              <a:defRPr>
                <a:solidFill>
                  <a:srgbClr val="D1EAEE"/>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D1EAEE"/>
              </a:solidFill>
              <a:effectLst/>
              <a:uLnTx/>
              <a:uFillTx/>
              <a:latin typeface="Arial" panose="020B0604020202020204" pitchFamily="34" charset="0"/>
              <a:ea typeface="+mn-ea"/>
              <a:cs typeface="+mn-cs"/>
            </a:endParaRPr>
          </a:p>
        </p:txBody>
      </p:sp>
      <p:sp>
        <p:nvSpPr>
          <p:cNvPr id="15" name="Footer Placeholder 18"/>
          <p:cNvSpPr>
            <a:spLocks noGrp="1"/>
          </p:cNvSpPr>
          <p:nvPr>
            <p:ph type="ftr" sz="quarter" idx="3"/>
          </p:nvPr>
        </p:nvSpPr>
        <p:spPr>
          <a:xfrm>
            <a:off x="2667000" y="6356350"/>
            <a:ext cx="3352800" cy="365125"/>
          </a:xfrm>
          <a:prstGeom prst="rect">
            <a:avLst/>
          </a:prstGeom>
        </p:spPr>
        <p:txBody>
          <a:bodyPr vert="horz" wrap="square" lIns="0" tIns="0" rIns="0" bIns="0" numCol="1" anchor="b" anchorCtr="0" compatLnSpc="1"/>
          <a:lstStyle>
            <a:lvl1pPr>
              <a:defRPr>
                <a:solidFill>
                  <a:srgbClr val="D1EAEE"/>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D1EAEE"/>
              </a:solidFill>
              <a:effectLst/>
              <a:uLnTx/>
              <a:uFillTx/>
              <a:latin typeface="Arial" panose="020B0604020202020204" pitchFamily="34" charset="0"/>
              <a:ea typeface="+mn-ea"/>
              <a:cs typeface="+mn-cs"/>
            </a:endParaRPr>
          </a:p>
        </p:txBody>
      </p:sp>
      <p:sp>
        <p:nvSpPr>
          <p:cNvPr id="16" name="Slide Number Placeholder 26"/>
          <p:cNvSpPr>
            <a:spLocks noGrp="1"/>
          </p:cNvSpPr>
          <p:nvPr>
            <p:ph type="sldNum" sz="quarter" idx="4"/>
          </p:nvPr>
        </p:nvSpPr>
        <p:spPr>
          <a:xfrm>
            <a:off x="7924800" y="6356350"/>
            <a:ext cx="762000" cy="365125"/>
          </a:xfrm>
          <a:prstGeom prst="rect">
            <a:avLst/>
          </a:prstGeom>
        </p:spPr>
        <p:txBody>
          <a:bodyPr vert="horz" wrap="square" lIns="0" tIns="0" rIns="0" bIns="0" numCol="1" anchor="b" anchorCtr="0" compatLnSpc="1"/>
          <a:lstStyle>
            <a:lvl1pPr>
              <a:defRPr>
                <a:solidFill>
                  <a:srgbClr val="D1EAEE"/>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37E1880-DE4E-4C52-BD14-6C5C002DFC0D}" type="slidenum">
              <a:rPr kumimoji="0" lang="en-US" sz="1200" b="0" i="0" u="none" strike="noStrike" kern="1200" cap="none" spc="0" normalizeH="0" baseline="0" noProof="0">
                <a:ln>
                  <a:noFill/>
                </a:ln>
                <a:solidFill>
                  <a:srgbClr val="D1EAEE"/>
                </a:solidFill>
                <a:effectLst/>
                <a:uLnTx/>
                <a:uFillTx/>
                <a:latin typeface="Arial" panose="020B0604020202020204" pitchFamily="34" charset="0"/>
                <a:ea typeface="+mn-ea"/>
                <a:cs typeface="+mn-cs"/>
              </a:rPr>
            </a:fld>
            <a:endParaRPr kumimoji="0" lang="en-US" sz="1200" b="0" i="0" u="none" strike="noStrike" kern="1200" cap="none" spc="0" normalizeH="0" baseline="0" noProof="0">
              <a:ln>
                <a:noFill/>
              </a:ln>
              <a:solidFill>
                <a:srgbClr val="D1EAEE"/>
              </a:solidFill>
              <a:effectLst/>
              <a:uLnTx/>
              <a:uFillTx/>
              <a:latin typeface="Arial" panose="020B0604020202020204" pitchFamily="34" charset="0"/>
              <a:ea typeface="+mn-ea"/>
              <a:cs typeface="+mn-cs"/>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045C75"/>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045C75"/>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80A222F9-7CDA-4DDB-828C-04AC62825062}" type="slidenum">
              <a:rPr kumimoji="0" lang="en-US" sz="1200" b="0" i="0" u="none" strike="noStrike" kern="1200" cap="none" spc="0" normalizeH="0" baseline="0" noProof="0">
                <a:ln>
                  <a:noFill/>
                </a:ln>
                <a:solidFill>
                  <a:srgbClr val="045C75"/>
                </a:solidFill>
                <a:effectLst/>
                <a:uLnTx/>
                <a:uFillTx/>
                <a:latin typeface="Arial" panose="020B0604020202020204" pitchFamily="34" charset="0"/>
                <a:ea typeface="+mn-ea"/>
                <a:cs typeface="+mn-cs"/>
              </a:rPr>
            </a:fld>
            <a:endParaRPr kumimoji="0" lang="en-US" sz="1200" b="0" i="0" u="none" strike="noStrike" kern="1200" cap="none" spc="0" normalizeH="0" baseline="0" noProof="0">
              <a:ln>
                <a:noFill/>
              </a:ln>
              <a:solidFill>
                <a:srgbClr val="045C75"/>
              </a:solidFill>
              <a:effectLst/>
              <a:uLnTx/>
              <a:uFillTx/>
              <a:latin typeface="Arial" panose="020B0604020202020204" pitchFamily="34" charset="0"/>
              <a:ea typeface="+mn-ea"/>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en-US" smtClean="0"/>
              <a:t>Click to edit Master title style</a:t>
            </a:r>
            <a:endParaRPr lang="en-US"/>
          </a:p>
        </p:txBody>
      </p:sp>
      <p:sp>
        <p:nvSpPr>
          <p:cNvPr id="3" name="Text Placeholder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endParaRPr lang="en-US" smtClean="0"/>
          </a:p>
        </p:txBody>
      </p:sp>
      <p:sp>
        <p:nvSpPr>
          <p:cNvPr id="14" name="Date Placeholder 3"/>
          <p:cNvSpPr>
            <a:spLocks noGrp="1"/>
          </p:cNvSpPr>
          <p:nvPr>
            <p:ph type="dt" sz="half" idx="2"/>
          </p:nvPr>
        </p:nvSpPr>
        <p:spPr>
          <a:xfrm>
            <a:off x="457200" y="6356350"/>
            <a:ext cx="2133600" cy="365125"/>
          </a:xfrm>
          <a:prstGeom prst="rect">
            <a:avLst/>
          </a:prstGeom>
        </p:spPr>
        <p:txBody>
          <a:bodyPr vert="horz" wrap="square" lIns="0" tIns="0" rIns="0" bIns="0" numCol="1" anchor="b" anchorCtr="0" compatLnSpc="1"/>
          <a:lstStyle>
            <a:lvl1pPr>
              <a:defRPr>
                <a:solidFill>
                  <a:srgbClr val="D1EAEE"/>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D1EAEE"/>
              </a:solidFill>
              <a:effectLst/>
              <a:uLnTx/>
              <a:uFillTx/>
              <a:latin typeface="Arial" panose="020B0604020202020204" pitchFamily="34" charset="0"/>
              <a:ea typeface="+mn-ea"/>
              <a:cs typeface="+mn-cs"/>
            </a:endParaRPr>
          </a:p>
        </p:txBody>
      </p:sp>
      <p:sp>
        <p:nvSpPr>
          <p:cNvPr id="15" name="Footer Placeholder 4"/>
          <p:cNvSpPr>
            <a:spLocks noGrp="1"/>
          </p:cNvSpPr>
          <p:nvPr>
            <p:ph type="ftr" sz="quarter" idx="3"/>
          </p:nvPr>
        </p:nvSpPr>
        <p:spPr>
          <a:xfrm>
            <a:off x="2667000" y="6356350"/>
            <a:ext cx="3352800" cy="365125"/>
          </a:xfrm>
          <a:prstGeom prst="rect">
            <a:avLst/>
          </a:prstGeom>
        </p:spPr>
        <p:txBody>
          <a:bodyPr vert="horz" wrap="square" lIns="0" tIns="0" rIns="0" bIns="0" numCol="1" anchor="b" anchorCtr="0" compatLnSpc="1"/>
          <a:lstStyle>
            <a:lvl1pPr>
              <a:defRPr>
                <a:solidFill>
                  <a:srgbClr val="D1EAEE"/>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D1EAEE"/>
              </a:solidFill>
              <a:effectLst/>
              <a:uLnTx/>
              <a:uFillTx/>
              <a:latin typeface="Arial" panose="020B0604020202020204" pitchFamily="34" charset="0"/>
              <a:ea typeface="+mn-ea"/>
              <a:cs typeface="+mn-cs"/>
            </a:endParaRPr>
          </a:p>
        </p:txBody>
      </p:sp>
      <p:sp>
        <p:nvSpPr>
          <p:cNvPr id="16" name="Slide Number Placeholder 5"/>
          <p:cNvSpPr>
            <a:spLocks noGrp="1"/>
          </p:cNvSpPr>
          <p:nvPr>
            <p:ph type="sldNum" sz="quarter" idx="4"/>
          </p:nvPr>
        </p:nvSpPr>
        <p:spPr>
          <a:xfrm>
            <a:off x="7924800" y="6356350"/>
            <a:ext cx="762000" cy="365125"/>
          </a:xfrm>
          <a:prstGeom prst="rect">
            <a:avLst/>
          </a:prstGeom>
        </p:spPr>
        <p:txBody>
          <a:bodyPr vert="horz" wrap="square" lIns="0" tIns="0" rIns="0" bIns="0" numCol="1" anchor="b" anchorCtr="0" compatLnSpc="1"/>
          <a:lstStyle>
            <a:lvl1pPr>
              <a:defRPr>
                <a:solidFill>
                  <a:srgbClr val="D1EAEE"/>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F9749B6B-EFFF-4A00-8B11-000CDEFCB03E}" type="slidenum">
              <a:rPr kumimoji="0" lang="en-US" sz="1200" b="0" i="0" u="none" strike="noStrike" kern="1200" cap="none" spc="0" normalizeH="0" baseline="0" noProof="0">
                <a:ln>
                  <a:noFill/>
                </a:ln>
                <a:solidFill>
                  <a:srgbClr val="D1EAEE"/>
                </a:solidFill>
                <a:effectLst/>
                <a:uLnTx/>
                <a:uFillTx/>
                <a:latin typeface="Arial" panose="020B0604020202020204" pitchFamily="34" charset="0"/>
                <a:ea typeface="+mn-ea"/>
                <a:cs typeface="+mn-cs"/>
              </a:rPr>
            </a:fld>
            <a:endParaRPr kumimoji="0" lang="en-US" sz="1200" b="0" i="0" u="none" strike="noStrike" kern="1200" cap="none" spc="0" normalizeH="0" baseline="0" noProof="0">
              <a:ln>
                <a:noFill/>
              </a:ln>
              <a:solidFill>
                <a:srgbClr val="D1EAEE"/>
              </a:solidFill>
              <a:effectLst/>
              <a:uLnTx/>
              <a:uFillTx/>
              <a:latin typeface="Arial" panose="020B0604020202020204" pitchFamily="34" charset="0"/>
              <a:ea typeface="+mn-ea"/>
              <a:cs typeface="+mn-cs"/>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045C75"/>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045C75"/>
              </a:solidFill>
              <a:effectLst/>
              <a:uLnTx/>
              <a:uFillTx/>
              <a:latin typeface="Arial" panose="020B0604020202020204" pitchFamily="34" charset="0"/>
              <a:ea typeface="+mn-ea"/>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80A222F9-7CDA-4DDB-828C-04AC62825062}" type="slidenum">
              <a:rPr kumimoji="0" lang="en-US" sz="1200" b="0" i="0" u="none" strike="noStrike" kern="1200" cap="none" spc="0" normalizeH="0" baseline="0" noProof="0">
                <a:ln>
                  <a:noFill/>
                </a:ln>
                <a:solidFill>
                  <a:srgbClr val="045C75"/>
                </a:solidFill>
                <a:effectLst/>
                <a:uLnTx/>
                <a:uFillTx/>
                <a:latin typeface="Arial" panose="020B0604020202020204" pitchFamily="34" charset="0"/>
                <a:ea typeface="+mn-ea"/>
                <a:cs typeface="+mn-cs"/>
              </a:rPr>
            </a:fld>
            <a:endParaRPr kumimoji="0" lang="en-US" sz="1200" b="0" i="0" u="none" strike="noStrike" kern="1200" cap="none" spc="0" normalizeH="0" baseline="0" noProof="0">
              <a:ln>
                <a:noFill/>
              </a:ln>
              <a:solidFill>
                <a:srgbClr val="045C75"/>
              </a:solidFill>
              <a:effectLst/>
              <a:uLnTx/>
              <a:uFillTx/>
              <a:latin typeface="Arial" panose="020B0604020202020204" pitchFamily="34" charset="0"/>
              <a:ea typeface="+mn-ea"/>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endParaRPr lang="en-US" smtClean="0"/>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endParaRPr lang="en-US" smtClean="0"/>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045C75"/>
              </a:solidFill>
              <a:effectLst/>
              <a:uLnTx/>
              <a:uFillTx/>
              <a:latin typeface="Arial" panose="020B0604020202020204" pitchFamily="34" charset="0"/>
              <a:ea typeface="+mn-ea"/>
              <a:cs typeface="+mn-cs"/>
            </a:endParaRPr>
          </a:p>
        </p:txBody>
      </p:sp>
      <p:sp>
        <p:nvSpPr>
          <p:cNvPr id="8" name="Footer Placeholder 7"/>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045C75"/>
              </a:solidFill>
              <a:effectLst/>
              <a:uLnTx/>
              <a:uFillTx/>
              <a:latin typeface="Arial" panose="020B0604020202020204" pitchFamily="34" charset="0"/>
              <a:ea typeface="+mn-ea"/>
              <a:cs typeface="+mn-cs"/>
            </a:endParaRPr>
          </a:p>
        </p:txBody>
      </p:sp>
      <p:sp>
        <p:nvSpPr>
          <p:cNvPr id="9" name="Slide Number Placeholder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80A222F9-7CDA-4DDB-828C-04AC62825062}" type="slidenum">
              <a:rPr kumimoji="0" lang="en-US" sz="1200" b="0" i="0" u="none" strike="noStrike" kern="1200" cap="none" spc="0" normalizeH="0" baseline="0" noProof="0">
                <a:ln>
                  <a:noFill/>
                </a:ln>
                <a:solidFill>
                  <a:srgbClr val="045C75"/>
                </a:solidFill>
                <a:effectLst/>
                <a:uLnTx/>
                <a:uFillTx/>
                <a:latin typeface="Arial" panose="020B0604020202020204" pitchFamily="34" charset="0"/>
                <a:ea typeface="+mn-ea"/>
                <a:cs typeface="+mn-cs"/>
              </a:rPr>
            </a:fld>
            <a:endParaRPr kumimoji="0" lang="en-US" sz="1200" b="0" i="0" u="none" strike="noStrike" kern="1200" cap="none" spc="0" normalizeH="0" baseline="0" noProof="0">
              <a:ln>
                <a:noFill/>
              </a:ln>
              <a:solidFill>
                <a:srgbClr val="045C75"/>
              </a:solidFill>
              <a:effectLst/>
              <a:uLnTx/>
              <a:uFillTx/>
              <a:latin typeface="Arial" panose="020B0604020202020204" pitchFamily="34" charset="0"/>
              <a:ea typeface="+mn-ea"/>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en-US" smtClean="0"/>
              <a:t>Click to edit Master title style</a:t>
            </a:r>
            <a:endParaRPr lang="en-US"/>
          </a:p>
        </p:txBody>
      </p:sp>
      <p:sp>
        <p:nvSpPr>
          <p:cNvPr id="3" name="Date Placeholder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045C75"/>
              </a:solidFill>
              <a:effectLst/>
              <a:uLnTx/>
              <a:uFillTx/>
              <a:latin typeface="Arial" panose="020B0604020202020204" pitchFamily="34" charset="0"/>
              <a:ea typeface="+mn-ea"/>
              <a:cs typeface="+mn-cs"/>
            </a:endParaRPr>
          </a:p>
        </p:txBody>
      </p:sp>
      <p:sp>
        <p:nvSpPr>
          <p:cNvPr id="4" name="Footer Placeholder 3"/>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045C75"/>
              </a:solidFill>
              <a:effectLst/>
              <a:uLnTx/>
              <a:uFillTx/>
              <a:latin typeface="Arial" panose="020B0604020202020204" pitchFamily="34" charset="0"/>
              <a:ea typeface="+mn-ea"/>
              <a:cs typeface="+mn-cs"/>
            </a:endParaRPr>
          </a:p>
        </p:txBody>
      </p:sp>
      <p:sp>
        <p:nvSpPr>
          <p:cNvPr id="5" name="Slide Number Placeholder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80A222F9-7CDA-4DDB-828C-04AC62825062}" type="slidenum">
              <a:rPr kumimoji="0" lang="en-US" sz="1200" b="0" i="0" u="none" strike="noStrike" kern="1200" cap="none" spc="0" normalizeH="0" baseline="0" noProof="0">
                <a:ln>
                  <a:noFill/>
                </a:ln>
                <a:solidFill>
                  <a:srgbClr val="045C75"/>
                </a:solidFill>
                <a:effectLst/>
                <a:uLnTx/>
                <a:uFillTx/>
                <a:latin typeface="Arial" panose="020B0604020202020204" pitchFamily="34" charset="0"/>
                <a:ea typeface="+mn-ea"/>
                <a:cs typeface="+mn-cs"/>
              </a:rPr>
            </a:fld>
            <a:endParaRPr kumimoji="0" lang="en-US" sz="1200" b="0" i="0" u="none" strike="noStrike" kern="1200" cap="none" spc="0" normalizeH="0" baseline="0" noProof="0">
              <a:ln>
                <a:noFill/>
              </a:ln>
              <a:solidFill>
                <a:srgbClr val="045C75"/>
              </a:solidFill>
              <a:effectLst/>
              <a:uLnTx/>
              <a:uFillTx/>
              <a:latin typeface="Arial" panose="020B0604020202020204" pitchFamily="34" charset="0"/>
              <a:ea typeface="+mn-ea"/>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045C75"/>
              </a:solidFill>
              <a:effectLst/>
              <a:uLnTx/>
              <a:uFillTx/>
              <a:latin typeface="Arial" panose="020B0604020202020204" pitchFamily="34" charset="0"/>
              <a:ea typeface="+mn-ea"/>
              <a:cs typeface="+mn-cs"/>
            </a:endParaRPr>
          </a:p>
        </p:txBody>
      </p:sp>
      <p:sp>
        <p:nvSpPr>
          <p:cNvPr id="3" name="Footer Placeholder 2"/>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045C75"/>
              </a:solidFill>
              <a:effectLst/>
              <a:uLnTx/>
              <a:uFillTx/>
              <a:latin typeface="Arial" panose="020B0604020202020204" pitchFamily="34" charset="0"/>
              <a:ea typeface="+mn-ea"/>
              <a:cs typeface="+mn-cs"/>
            </a:endParaRPr>
          </a:p>
        </p:txBody>
      </p:sp>
      <p:sp>
        <p:nvSpPr>
          <p:cNvPr id="4" name="Slide Number Placeholder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80A222F9-7CDA-4DDB-828C-04AC62825062}" type="slidenum">
              <a:rPr kumimoji="0" lang="en-US" sz="1200" b="0" i="0" u="none" strike="noStrike" kern="1200" cap="none" spc="0" normalizeH="0" baseline="0" noProof="0">
                <a:ln>
                  <a:noFill/>
                </a:ln>
                <a:solidFill>
                  <a:srgbClr val="045C75"/>
                </a:solidFill>
                <a:effectLst/>
                <a:uLnTx/>
                <a:uFillTx/>
                <a:latin typeface="Arial" panose="020B0604020202020204" pitchFamily="34" charset="0"/>
                <a:ea typeface="+mn-ea"/>
                <a:cs typeface="+mn-cs"/>
              </a:rPr>
            </a:fld>
            <a:endParaRPr kumimoji="0" lang="en-US" sz="1200" b="0" i="0" u="none" strike="noStrike" kern="1200" cap="none" spc="0" normalizeH="0" baseline="0" noProof="0">
              <a:ln>
                <a:noFill/>
              </a:ln>
              <a:solidFill>
                <a:srgbClr val="045C75"/>
              </a:solidFill>
              <a:effectLst/>
              <a:uLnTx/>
              <a:uFillTx/>
              <a:latin typeface="Arial" panose="020B0604020202020204" pitchFamily="34" charset="0"/>
              <a:ea typeface="+mn-ea"/>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en-US" smtClean="0"/>
              <a:t>Click to edit Master title style</a:t>
            </a:r>
            <a:endParaRPr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en-US" smtClean="0"/>
              <a:t>Click to edit Master text styles</a:t>
            </a:r>
            <a:endParaRPr lang="en-US" smtClean="0"/>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045C75"/>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045C75"/>
              </a:solidFill>
              <a:effectLst/>
              <a:uLnTx/>
              <a:uFillTx/>
              <a:latin typeface="Arial" panose="020B0604020202020204" pitchFamily="34" charset="0"/>
              <a:ea typeface="+mn-ea"/>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80A222F9-7CDA-4DDB-828C-04AC62825062}" type="slidenum">
              <a:rPr kumimoji="0" lang="en-US" sz="1200" b="0" i="0" u="none" strike="noStrike" kern="1200" cap="none" spc="0" normalizeH="0" baseline="0" noProof="0">
                <a:ln>
                  <a:noFill/>
                </a:ln>
                <a:solidFill>
                  <a:srgbClr val="045C75"/>
                </a:solidFill>
                <a:effectLst/>
                <a:uLnTx/>
                <a:uFillTx/>
                <a:latin typeface="Arial" panose="020B0604020202020204" pitchFamily="34" charset="0"/>
                <a:ea typeface="+mn-ea"/>
                <a:cs typeface="+mn-cs"/>
              </a:rPr>
            </a:fld>
            <a:endParaRPr kumimoji="0" lang="en-US" sz="1200" b="0" i="0" u="none" strike="noStrike" kern="1200" cap="none" spc="0" normalizeH="0" baseline="0" noProof="0">
              <a:ln>
                <a:noFill/>
              </a:ln>
              <a:solidFill>
                <a:srgbClr val="045C75"/>
              </a:solidFill>
              <a:effectLst/>
              <a:uLnTx/>
              <a:uFillTx/>
              <a:latin typeface="Arial" panose="020B0604020202020204" pitchFamily="34" charset="0"/>
              <a:ea typeface="+mn-ea"/>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14" name="Snip and Round Single Corner Rectangle 13"/>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rgbClr val="FFFFFF"/>
              </a:solidFill>
              <a:effectLst/>
              <a:uLnTx/>
              <a:uFillTx/>
              <a:latin typeface="+mn-lt"/>
              <a:ea typeface="+mn-ea"/>
              <a:cs typeface="+mn-cs"/>
            </a:endParaRPr>
          </a:p>
        </p:txBody>
      </p:sp>
      <p:sp>
        <p:nvSpPr>
          <p:cNvPr id="15" name="Right Triangle 14"/>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rgbClr val="FFFFFF"/>
              </a:solidFill>
              <a:effectLst/>
              <a:uLnTx/>
              <a:uFillTx/>
              <a:latin typeface="+mn-lt"/>
              <a:ea typeface="+mn-ea"/>
              <a:cs typeface="+mn-cs"/>
            </a:endParaRPr>
          </a:p>
        </p:txBody>
      </p:sp>
      <p:sp>
        <p:nvSpPr>
          <p:cNvPr id="16" name="Freeform 15"/>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Constantia" panose="02030602050306030303" pitchFamily="18" charset="0"/>
              <a:ea typeface="+mn-ea"/>
              <a:cs typeface="+mn-cs"/>
            </a:endParaRPr>
          </a:p>
        </p:txBody>
      </p:sp>
      <p:sp>
        <p:nvSpPr>
          <p:cNvPr id="17" name="Freeform 16"/>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Constantia" panose="02030602050306030303" pitchFamily="18" charset="0"/>
              <a:ea typeface="+mn-ea"/>
              <a:cs typeface="+mn-cs"/>
            </a:endParaRPr>
          </a:p>
        </p:txBody>
      </p:sp>
      <p:sp>
        <p:nvSpPr>
          <p:cNvPr id="2" name="Title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en-US" smtClean="0"/>
              <a:t>Click to edit Master title style</a:t>
            </a:r>
            <a:endParaRPr lang="en-US"/>
          </a:p>
        </p:txBody>
      </p:sp>
      <p:sp>
        <p:nvSpPr>
          <p:cNvPr id="4" name="Text Placeholder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en-US" smtClean="0"/>
              <a:t>Click to edit Master text styles</a:t>
            </a:r>
            <a:endParaRPr lang="en-US" smtClean="0"/>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vert="horz" wrap="square" lIns="91440" tIns="45720" rIns="91440" bIns="45720" numCol="1" anchor="t" anchorCtr="0" compatLnSpc="1">
            <a:normAutofit/>
          </a:bodyPr>
          <a:lstStyle>
            <a:lvl1pPr marL="0" indent="0">
              <a:buNone/>
              <a:defRPr sz="3200"/>
            </a:lvl1pPr>
          </a:lstStyle>
          <a:p>
            <a:pPr marL="0" marR="0" lvl="0" indent="0" algn="l" defTabSz="914400" rtl="0" eaLnBrk="0" fontAlgn="base" latinLnBrk="0" hangingPunct="0">
              <a:lnSpc>
                <a:spcPct val="100000"/>
              </a:lnSpc>
              <a:spcBef>
                <a:spcPct val="20000"/>
              </a:spcBef>
              <a:spcAft>
                <a:spcPct val="0"/>
              </a:spcAft>
              <a:buClr>
                <a:srgbClr val="0BD0D9"/>
              </a:buClr>
              <a:buSzPct val="95000"/>
              <a:buFont typeface="Wingdings 2" pitchFamily="18" charset="2"/>
              <a:buNone/>
              <a:defRPr/>
            </a:pPr>
            <a:r>
              <a:rPr kumimoji="0" lang="en-US" sz="3200" b="0" i="0" u="none" strike="noStrike" kern="1200" cap="none" spc="0" normalizeH="0" baseline="0" noProof="0" smtClean="0">
                <a:ln>
                  <a:noFill/>
                </a:ln>
                <a:solidFill>
                  <a:schemeClr val="tx1"/>
                </a:solidFill>
                <a:effectLst/>
                <a:uLnTx/>
                <a:uFillTx/>
                <a:latin typeface="+mn-lt"/>
                <a:ea typeface="+mn-ea"/>
                <a:cs typeface="+mn-cs"/>
              </a:rPr>
              <a:t>Click icon to add picture</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19" name="Date Placeholder 4"/>
          <p:cNvSpPr>
            <a:spLocks noGrp="1"/>
          </p:cNvSpPr>
          <p:nvPr>
            <p:ph type="dt" sz="half" idx="12"/>
          </p:nvPr>
        </p:nvSpPr>
        <p:spPr>
          <a:xfrm>
            <a:off x="457200" y="6356350"/>
            <a:ext cx="2133600" cy="365125"/>
          </a:xfrm>
          <a:prstGeom prst="rect">
            <a:avLst/>
          </a:prstGeom>
        </p:spPr>
        <p:txBody>
          <a:bodyPr vert="horz" wrap="square" lIns="0" tIns="0" rIns="0" bIns="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045C75"/>
              </a:solidFill>
              <a:effectLst/>
              <a:uLnTx/>
              <a:uFillTx/>
              <a:latin typeface="Arial" panose="020B0604020202020204" pitchFamily="34" charset="0"/>
              <a:ea typeface="+mn-ea"/>
              <a:cs typeface="+mn-cs"/>
            </a:endParaRPr>
          </a:p>
        </p:txBody>
      </p:sp>
      <p:sp>
        <p:nvSpPr>
          <p:cNvPr id="20" name="Footer Placeholder 5"/>
          <p:cNvSpPr>
            <a:spLocks noGrp="1"/>
          </p:cNvSpPr>
          <p:nvPr>
            <p:ph type="ftr" sz="quarter" idx="3"/>
          </p:nvPr>
        </p:nvSpPr>
        <p:spPr>
          <a:xfrm>
            <a:off x="2667000" y="6356350"/>
            <a:ext cx="3352800" cy="365125"/>
          </a:xfrm>
          <a:prstGeom prst="rect">
            <a:avLst/>
          </a:prstGeom>
        </p:spPr>
        <p:txBody>
          <a:bodyPr vert="horz" wrap="square" lIns="0" tIns="0" rIns="0" bIns="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045C75"/>
              </a:solidFill>
              <a:effectLst/>
              <a:uLnTx/>
              <a:uFillTx/>
              <a:latin typeface="Arial" panose="020B0604020202020204" pitchFamily="34" charset="0"/>
              <a:ea typeface="+mn-ea"/>
              <a:cs typeface="+mn-cs"/>
            </a:endParaRPr>
          </a:p>
        </p:txBody>
      </p:sp>
      <p:sp>
        <p:nvSpPr>
          <p:cNvPr id="21" name="Slide Number Placeholder 6"/>
          <p:cNvSpPr>
            <a:spLocks noGrp="1"/>
          </p:cNvSpPr>
          <p:nvPr>
            <p:ph type="sldNum" sz="quarter" idx="4"/>
          </p:nvPr>
        </p:nvSpPr>
        <p:spPr>
          <a:xfrm>
            <a:off x="8077200" y="6356350"/>
            <a:ext cx="609600" cy="365125"/>
          </a:xfrm>
          <a:prstGeom prst="rect">
            <a:avLst/>
          </a:prstGeom>
        </p:spPr>
        <p:txBody>
          <a:bodyPr vert="horz" wrap="square" lIns="0" tIns="0" rIns="0" bIns="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49B3B00-7740-452A-A97D-166B0227C1AC}" type="slidenum">
              <a:rPr kumimoji="0" lang="en-US" sz="1200" b="0" i="0" u="none" strike="noStrike" kern="1200" cap="none" spc="0" normalizeH="0" baseline="0" noProof="0">
                <a:ln>
                  <a:noFill/>
                </a:ln>
                <a:solidFill>
                  <a:srgbClr val="045C75"/>
                </a:solidFill>
                <a:effectLst/>
                <a:uLnTx/>
                <a:uFillTx/>
                <a:latin typeface="Arial" panose="020B0604020202020204" pitchFamily="34" charset="0"/>
                <a:ea typeface="+mn-ea"/>
                <a:cs typeface="+mn-cs"/>
              </a:rPr>
            </a:fld>
            <a:endParaRPr kumimoji="0" lang="en-US" sz="1200" b="0" i="0" u="none" strike="noStrike" kern="1200" cap="none" spc="0" normalizeH="0" baseline="0" noProof="0">
              <a:ln>
                <a:noFill/>
              </a:ln>
              <a:solidFill>
                <a:srgbClr val="045C75"/>
              </a:solidFill>
              <a:effectLst/>
              <a:uLnTx/>
              <a:uFillTx/>
              <a:latin typeface="Arial" panose="020B0604020202020204" pitchFamily="34" charset="0"/>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045C75"/>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045C75"/>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80A222F9-7CDA-4DDB-828C-04AC62825062}" type="slidenum">
              <a:rPr kumimoji="0" lang="en-US" sz="1200" b="0" i="0" u="none" strike="noStrike" kern="1200" cap="none" spc="0" normalizeH="0" baseline="0" noProof="0">
                <a:ln>
                  <a:noFill/>
                </a:ln>
                <a:solidFill>
                  <a:srgbClr val="045C75"/>
                </a:solidFill>
                <a:effectLst/>
                <a:uLnTx/>
                <a:uFillTx/>
                <a:latin typeface="Arial" panose="020B0604020202020204" pitchFamily="34" charset="0"/>
                <a:ea typeface="+mn-ea"/>
                <a:cs typeface="+mn-cs"/>
              </a:rPr>
            </a:fld>
            <a:endParaRPr kumimoji="0" lang="en-US" sz="1200" b="0" i="0" u="none" strike="noStrike" kern="1200" cap="none" spc="0" normalizeH="0" baseline="0" noProof="0">
              <a:ln>
                <a:noFill/>
              </a:ln>
              <a:solidFill>
                <a:srgbClr val="045C75"/>
              </a:solidFill>
              <a:effectLst/>
              <a:uLnTx/>
              <a:uFillTx/>
              <a:latin typeface="Arial" panose="020B0604020202020204" pitchFamily="34" charset="0"/>
              <a:ea typeface="+mn-ea"/>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045C75"/>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045C75"/>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80A222F9-7CDA-4DDB-828C-04AC62825062}" type="slidenum">
              <a:rPr kumimoji="0" lang="en-US" sz="1200" b="0" i="0" u="none" strike="noStrike" kern="1200" cap="none" spc="0" normalizeH="0" baseline="0" noProof="0">
                <a:ln>
                  <a:noFill/>
                </a:ln>
                <a:solidFill>
                  <a:srgbClr val="045C75"/>
                </a:solidFill>
                <a:effectLst/>
                <a:uLnTx/>
                <a:uFillTx/>
                <a:latin typeface="Arial" panose="020B0604020202020204" pitchFamily="34" charset="0"/>
                <a:ea typeface="+mn-ea"/>
                <a:cs typeface="+mn-cs"/>
              </a:rPr>
            </a:fld>
            <a:endParaRPr kumimoji="0" lang="en-US" sz="1200" b="0" i="0" u="none" strike="noStrike" kern="1200" cap="none" spc="0" normalizeH="0" baseline="0" noProof="0">
              <a:ln>
                <a:noFill/>
              </a:ln>
              <a:solidFill>
                <a:srgbClr val="045C75"/>
              </a:solidFill>
              <a:effectLst/>
              <a:uLnTx/>
              <a:uFillTx/>
              <a:latin typeface="Arial" panose="020B0604020202020204" pitchFamily="34" charset="0"/>
              <a:ea typeface="+mn-ea"/>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045C75"/>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045C75"/>
              </a:solidFill>
              <a:effectLst/>
              <a:uLnTx/>
              <a:uFillTx/>
              <a:latin typeface="Arial" panose="020B0604020202020204" pitchFamily="34" charset="0"/>
              <a:ea typeface="+mn-ea"/>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80A222F9-7CDA-4DDB-828C-04AC62825062}" type="slidenum">
              <a:rPr kumimoji="0" lang="en-US" sz="1200" b="0" i="0" u="none" strike="noStrike" kern="1200" cap="none" spc="0" normalizeH="0" baseline="0" noProof="0">
                <a:ln>
                  <a:noFill/>
                </a:ln>
                <a:solidFill>
                  <a:srgbClr val="045C75"/>
                </a:solidFill>
                <a:effectLst/>
                <a:uLnTx/>
                <a:uFillTx/>
                <a:latin typeface="Arial" panose="020B0604020202020204" pitchFamily="34" charset="0"/>
                <a:ea typeface="+mn-ea"/>
                <a:cs typeface="+mn-cs"/>
              </a:rPr>
            </a:fld>
            <a:endParaRPr kumimoji="0" lang="en-US" sz="1200" b="0" i="0" u="none" strike="noStrike" kern="1200" cap="none" spc="0" normalizeH="0" baseline="0" noProof="0">
              <a:ln>
                <a:noFill/>
              </a:ln>
              <a:solidFill>
                <a:srgbClr val="045C75"/>
              </a:solidFill>
              <a:effectLst/>
              <a:uLnTx/>
              <a:uFillTx/>
              <a:latin typeface="Arial" panose="020B0604020202020204" pitchFamily="34" charset="0"/>
              <a:ea typeface="+mn-ea"/>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p:sp>
        <p:nvSpPr>
          <p:cNvPr id="7" name="Freeform 6"/>
          <p:cNvSpPr/>
          <p:nvPr/>
        </p:nvSpPr>
        <p:spPr bwMode="auto">
          <a:xfrm>
            <a:off x="-9525" y="-7937"/>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Constantia" panose="02030602050306030303" pitchFamily="18" charset="0"/>
              <a:ea typeface="+mn-ea"/>
              <a:cs typeface="+mn-cs"/>
            </a:endParaRPr>
          </a:p>
        </p:txBody>
      </p:sp>
      <p:sp>
        <p:nvSpPr>
          <p:cNvPr id="8" name="Freeform 7"/>
          <p:cNvSpPr/>
          <p:nvPr/>
        </p:nvSpPr>
        <p:spPr bwMode="auto">
          <a:xfrm>
            <a:off x="4381500" y="-7937"/>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Constantia" panose="02030602050306030303" pitchFamily="18" charset="0"/>
              <a:ea typeface="+mn-ea"/>
              <a:cs typeface="+mn-cs"/>
            </a:endParaRPr>
          </a:p>
        </p:txBody>
      </p:sp>
      <p:sp>
        <p:nvSpPr>
          <p:cNvPr id="1028" name="Title Placeholder 8"/>
          <p:cNvSpPr>
            <a:spLocks noGrp="1"/>
          </p:cNvSpPr>
          <p:nvPr>
            <p:ph type="title"/>
          </p:nvPr>
        </p:nvSpPr>
        <p:spPr>
          <a:xfrm>
            <a:off x="457200" y="704850"/>
            <a:ext cx="8229600" cy="1143000"/>
          </a:xfrm>
          <a:prstGeom prst="rect">
            <a:avLst/>
          </a:prstGeom>
          <a:noFill/>
          <a:ln w="9525">
            <a:noFill/>
          </a:ln>
        </p:spPr>
        <p:txBody>
          <a:bodyPr lIns="0" rIns="0" bIns="0" anchor="b" anchorCtr="0"/>
          <a:p>
            <a:pPr lvl="0"/>
            <a:r>
              <a:rPr dirty="0"/>
              <a:t>Click to edit Master title style</a:t>
            </a:r>
            <a:endParaRPr dirty="0"/>
          </a:p>
        </p:txBody>
      </p:sp>
      <p:sp>
        <p:nvSpPr>
          <p:cNvPr id="1029" name="Text Placeholder 29"/>
          <p:cNvSpPr>
            <a:spLocks noGrp="1"/>
          </p:cNvSpPr>
          <p:nvPr>
            <p:ph type="body" idx="1"/>
          </p:nvPr>
        </p:nvSpPr>
        <p:spPr>
          <a:xfrm>
            <a:off x="457200" y="1935163"/>
            <a:ext cx="8229600" cy="4389437"/>
          </a:xfrm>
          <a:prstGeom prst="rect">
            <a:avLst/>
          </a:prstGeom>
          <a:noFill/>
          <a:ln w="9525">
            <a:noFill/>
          </a:ln>
        </p:spPr>
        <p:txBody>
          <a:bodyPr/>
          <a:p>
            <a:pPr lvl="0"/>
            <a:r>
              <a:rPr dirty="0"/>
              <a:t>Click to edit Master text styles</a:t>
            </a:r>
            <a:endParaRPr dirty="0"/>
          </a:p>
          <a:p>
            <a:pPr lvl="1"/>
            <a:r>
              <a:rPr dirty="0"/>
              <a:t>Second level</a:t>
            </a:r>
            <a:endParaRPr dirty="0"/>
          </a:p>
          <a:p>
            <a:pPr lvl="2"/>
            <a:r>
              <a:rPr dirty="0"/>
              <a:t>Third level</a:t>
            </a:r>
            <a:endParaRPr dirty="0"/>
          </a:p>
          <a:p>
            <a:pPr lvl="3"/>
            <a:r>
              <a:rPr dirty="0"/>
              <a:t>Fourth level</a:t>
            </a:r>
            <a:endParaRPr dirty="0"/>
          </a:p>
          <a:p>
            <a:pPr lvl="4"/>
            <a:r>
              <a:rPr dirty="0"/>
              <a:t>Fifth level</a:t>
            </a:r>
            <a:endParaRPr dirty="0"/>
          </a:p>
        </p:txBody>
      </p:sp>
      <p:sp>
        <p:nvSpPr>
          <p:cNvPr id="10" name="Date Placeholder 9"/>
          <p:cNvSpPr>
            <a:spLocks noGrp="1"/>
          </p:cNvSpPr>
          <p:nvPr>
            <p:ph type="dt" sz="half" idx="2"/>
          </p:nvPr>
        </p:nvSpPr>
        <p:spPr>
          <a:xfrm>
            <a:off x="457200" y="6356350"/>
            <a:ext cx="2133600" cy="365125"/>
          </a:xfrm>
          <a:prstGeom prst="rect">
            <a:avLst/>
          </a:prstGeom>
        </p:spPr>
        <p:txBody>
          <a:bodyPr vert="horz" wrap="square" lIns="0" tIns="0" rIns="0" bIns="0" numCol="1" anchor="b" anchorCtr="0" compatLnSpc="1"/>
          <a:lstStyle>
            <a:lvl1pPr eaLnBrk="1" hangingPunct="1">
              <a:defRPr sz="1200">
                <a:solidFill>
                  <a:srgbClr val="045C75"/>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045C75"/>
              </a:solidFill>
              <a:effectLst/>
              <a:uLnTx/>
              <a:uFillTx/>
              <a:latin typeface="Arial" panose="020B0604020202020204" pitchFamily="34" charset="0"/>
              <a:ea typeface="+mn-ea"/>
              <a:cs typeface="+mn-cs"/>
            </a:endParaRPr>
          </a:p>
        </p:txBody>
      </p:sp>
      <p:sp>
        <p:nvSpPr>
          <p:cNvPr id="22" name="Footer Placeholder 21"/>
          <p:cNvSpPr>
            <a:spLocks noGrp="1"/>
          </p:cNvSpPr>
          <p:nvPr>
            <p:ph type="ftr" sz="quarter" idx="3"/>
          </p:nvPr>
        </p:nvSpPr>
        <p:spPr>
          <a:xfrm>
            <a:off x="2667000" y="6356350"/>
            <a:ext cx="3352800" cy="365125"/>
          </a:xfrm>
          <a:prstGeom prst="rect">
            <a:avLst/>
          </a:prstGeom>
        </p:spPr>
        <p:txBody>
          <a:bodyPr vert="horz" wrap="square" lIns="0" tIns="0" rIns="0" bIns="0" numCol="1" anchor="b" anchorCtr="0" compatLnSpc="1"/>
          <a:lstStyle>
            <a:lvl1pPr eaLnBrk="1" hangingPunct="1">
              <a:defRPr sz="1200">
                <a:solidFill>
                  <a:srgbClr val="045C75"/>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045C75"/>
              </a:solidFill>
              <a:effectLst/>
              <a:uLnTx/>
              <a:uFillTx/>
              <a:latin typeface="Arial" panose="020B0604020202020204" pitchFamily="34" charset="0"/>
              <a:ea typeface="+mn-ea"/>
              <a:cs typeface="+mn-cs"/>
            </a:endParaRPr>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wrap="square" lIns="0" tIns="0" rIns="0" bIns="0" numCol="1" anchor="b" anchorCtr="0" compatLnSpc="1"/>
          <a:lstStyle>
            <a:lvl1pPr algn="r" eaLnBrk="1" hangingPunct="1">
              <a:defRPr sz="1200">
                <a:solidFill>
                  <a:srgbClr val="045C75"/>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80A222F9-7CDA-4DDB-828C-04AC62825062}" type="slidenum">
              <a:rPr kumimoji="0" lang="en-US" sz="1200" b="0" i="0" u="none" strike="noStrike" kern="1200" cap="none" spc="0" normalizeH="0" baseline="0" noProof="0">
                <a:ln>
                  <a:noFill/>
                </a:ln>
                <a:solidFill>
                  <a:srgbClr val="045C75"/>
                </a:solidFill>
                <a:effectLst/>
                <a:uLnTx/>
                <a:uFillTx/>
                <a:latin typeface="Arial" panose="020B0604020202020204" pitchFamily="34" charset="0"/>
                <a:ea typeface="+mn-ea"/>
                <a:cs typeface="+mn-cs"/>
              </a:rPr>
            </a:fld>
            <a:endParaRPr kumimoji="0" lang="en-US" sz="1200" b="0" i="0" u="none" strike="noStrike" kern="1200" cap="none" spc="0" normalizeH="0" baseline="0" noProof="0">
              <a:ln>
                <a:noFill/>
              </a:ln>
              <a:solidFill>
                <a:srgbClr val="045C75"/>
              </a:solidFill>
              <a:effectLst/>
              <a:uLnTx/>
              <a:uFillTx/>
              <a:latin typeface="Arial" panose="020B0604020202020204" pitchFamily="34" charset="0"/>
              <a:ea typeface="+mn-ea"/>
              <a:cs typeface="+mn-cs"/>
            </a:endParaRPr>
          </a:p>
        </p:txBody>
      </p:sp>
      <p:grpSp>
        <p:nvGrpSpPr>
          <p:cNvPr id="1033" name="Group 1"/>
          <p:cNvGrpSpPr/>
          <p:nvPr/>
        </p:nvGrpSpPr>
        <p:grpSpPr>
          <a:xfrm>
            <a:off x="-19050" y="203200"/>
            <a:ext cx="9180513" cy="647700"/>
            <a:chOff x="-19045" y="216550"/>
            <a:chExt cx="9180548" cy="649224"/>
          </a:xfrm>
        </p:grpSpPr>
        <p:sp>
          <p:nvSpPr>
            <p:cNvPr id="12" name="Freeform 11"/>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3" name="Freeform 12"/>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eaLnBrk="0" fontAlgn="base" hangingPunct="0">
        <a:spcBef>
          <a:spcPct val="0"/>
        </a:spcBef>
        <a:spcAft>
          <a:spcPct val="0"/>
        </a:spcAft>
        <a:defRPr sz="5000" kern="12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Calibri" panose="020F0502020204030204" pitchFamily="34" charset="0"/>
        </a:defRPr>
      </a:lvl2pPr>
      <a:lvl3pPr algn="l" rtl="0" eaLnBrk="0" fontAlgn="base" hangingPunct="0">
        <a:spcBef>
          <a:spcPct val="0"/>
        </a:spcBef>
        <a:spcAft>
          <a:spcPct val="0"/>
        </a:spcAft>
        <a:defRPr sz="5000">
          <a:solidFill>
            <a:schemeClr val="tx2"/>
          </a:solidFill>
          <a:latin typeface="Calibri" panose="020F0502020204030204" pitchFamily="34" charset="0"/>
        </a:defRPr>
      </a:lvl3pPr>
      <a:lvl4pPr algn="l" rtl="0" eaLnBrk="0" fontAlgn="base" hangingPunct="0">
        <a:spcBef>
          <a:spcPct val="0"/>
        </a:spcBef>
        <a:spcAft>
          <a:spcPct val="0"/>
        </a:spcAft>
        <a:defRPr sz="5000">
          <a:solidFill>
            <a:schemeClr val="tx2"/>
          </a:solidFill>
          <a:latin typeface="Calibri" panose="020F0502020204030204" pitchFamily="34" charset="0"/>
        </a:defRPr>
      </a:lvl4pPr>
      <a:lvl5pPr algn="l" rtl="0" eaLnBrk="0" fontAlgn="base" hangingPunct="0">
        <a:spcBef>
          <a:spcPct val="0"/>
        </a:spcBef>
        <a:spcAft>
          <a:spcPct val="0"/>
        </a:spcAft>
        <a:defRPr sz="5000">
          <a:solidFill>
            <a:schemeClr val="tx2"/>
          </a:solidFill>
          <a:latin typeface="Calibri" panose="020F0502020204030204" pitchFamily="34" charset="0"/>
        </a:defRPr>
      </a:lvl5pPr>
      <a:lvl6pPr marL="457200" algn="l" rtl="0" fontAlgn="base">
        <a:spcBef>
          <a:spcPct val="0"/>
        </a:spcBef>
        <a:spcAft>
          <a:spcPct val="0"/>
        </a:spcAft>
        <a:defRPr sz="5000">
          <a:solidFill>
            <a:schemeClr val="tx2"/>
          </a:solidFill>
          <a:latin typeface="Calibri" panose="020F0502020204030204" pitchFamily="34" charset="0"/>
        </a:defRPr>
      </a:lvl6pPr>
      <a:lvl7pPr marL="914400" algn="l" rtl="0" fontAlgn="base">
        <a:spcBef>
          <a:spcPct val="0"/>
        </a:spcBef>
        <a:spcAft>
          <a:spcPct val="0"/>
        </a:spcAft>
        <a:defRPr sz="5000">
          <a:solidFill>
            <a:schemeClr val="tx2"/>
          </a:solidFill>
          <a:latin typeface="Calibri" panose="020F0502020204030204" pitchFamily="34" charset="0"/>
        </a:defRPr>
      </a:lvl7pPr>
      <a:lvl8pPr marL="1371600" algn="l" rtl="0" fontAlgn="base">
        <a:spcBef>
          <a:spcPct val="0"/>
        </a:spcBef>
        <a:spcAft>
          <a:spcPct val="0"/>
        </a:spcAft>
        <a:defRPr sz="5000">
          <a:solidFill>
            <a:schemeClr val="tx2"/>
          </a:solidFill>
          <a:latin typeface="Calibri" panose="020F0502020204030204" pitchFamily="34" charset="0"/>
        </a:defRPr>
      </a:lvl8pPr>
      <a:lvl9pPr marL="1828800" algn="l" rtl="0" fontAlgn="base">
        <a:spcBef>
          <a:spcPct val="0"/>
        </a:spcBef>
        <a:spcAft>
          <a:spcPct val="0"/>
        </a:spcAft>
        <a:defRPr sz="5000">
          <a:solidFill>
            <a:schemeClr val="tx2"/>
          </a:solidFill>
          <a:latin typeface="Calibri" panose="020F0502020204030204" pitchFamily="34" charset="0"/>
        </a:defRPr>
      </a:lvl9pPr>
    </p:titleStyle>
    <p:body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emf"/></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e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11.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12.xml"/><Relationship Id="rId2" Type="http://schemas.openxmlformats.org/officeDocument/2006/relationships/image" Target="../media/image10.png"/><Relationship Id="rId1" Type="http://schemas.openxmlformats.org/officeDocument/2006/relationships/oleObject" Target="../embeddings/oleObject1.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s://en.wikipedia.org/wiki/Library" TargetMode="External"/><Relationship Id="rId1" Type="http://schemas.openxmlformats.org/officeDocument/2006/relationships/hyperlink" Target="https://en.wikipedia.org/wiki/Bibliography"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en.wikipedia.org/wiki/Information_retrieva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1.jpe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2.emf"/></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3.emf"/></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4.emf"/></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6.wmf"/></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8.wmf"/><Relationship Id="rId1" Type="http://schemas.openxmlformats.org/officeDocument/2006/relationships/image" Target="../media/image17.wmf"/></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9.wmf"/><Relationship Id="rId1" Type="http://schemas.openxmlformats.org/officeDocument/2006/relationships/image" Target="../media/image17.w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170" name="Picture 2" descr="https://miro.medium.com/max/1920/1*zIko_UJAnI5oOI7f9Dwacw.png"/>
          <p:cNvPicPr>
            <a:picLocks noChangeAspect="1"/>
          </p:cNvPicPr>
          <p:nvPr/>
        </p:nvPicPr>
        <p:blipFill>
          <a:blip r:embed="rId1"/>
          <a:stretch>
            <a:fillRect/>
          </a:stretch>
        </p:blipFill>
        <p:spPr>
          <a:xfrm>
            <a:off x="0" y="457200"/>
            <a:ext cx="9144000" cy="6248400"/>
          </a:xfrm>
          <a:prstGeom prst="rect">
            <a:avLst/>
          </a:prstGeom>
          <a:noFill/>
          <a:ln w="9525">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194" name="Picture 3"/>
          <p:cNvPicPr>
            <a:picLocks noChangeAspect="1"/>
          </p:cNvPicPr>
          <p:nvPr/>
        </p:nvPicPr>
        <p:blipFill>
          <a:blip r:embed="rId1"/>
          <a:stretch>
            <a:fillRect/>
          </a:stretch>
        </p:blipFill>
        <p:spPr>
          <a:xfrm>
            <a:off x="152400" y="762000"/>
            <a:ext cx="8662988" cy="5562600"/>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218" name="Picture 3"/>
          <p:cNvPicPr>
            <a:picLocks noChangeAspect="1"/>
          </p:cNvPicPr>
          <p:nvPr/>
        </p:nvPicPr>
        <p:blipFill>
          <a:blip r:embed="rId1"/>
          <a:stretch>
            <a:fillRect/>
          </a:stretch>
        </p:blipFill>
        <p:spPr>
          <a:xfrm>
            <a:off x="609600" y="812800"/>
            <a:ext cx="8386763" cy="5511800"/>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Title 1"/>
          <p:cNvSpPr>
            <a:spLocks noGrp="1"/>
          </p:cNvSpPr>
          <p:nvPr>
            <p:ph type="title"/>
          </p:nvPr>
        </p:nvSpPr>
        <p:spPr>
          <a:xfrm>
            <a:off x="457200" y="274638"/>
            <a:ext cx="8229600" cy="792162"/>
          </a:xfrm>
          <a:ln/>
        </p:spPr>
        <p:txBody>
          <a:bodyPr vert="horz" wrap="square" lIns="0" tIns="45720" rIns="0" bIns="0" anchor="b" anchorCtr="0"/>
          <a:p>
            <a:pPr eaLnBrk="1" hangingPunct="1"/>
            <a:r>
              <a:rPr sz="3200" dirty="0">
                <a:solidFill>
                  <a:schemeClr val="tx1"/>
                </a:solidFill>
                <a:latin typeface="Constantia" panose="02030602050306030303" pitchFamily="18" charset="0"/>
              </a:rPr>
              <a:t>Information Retrieval</a:t>
            </a:r>
            <a:endParaRPr sz="3200" dirty="0"/>
          </a:p>
        </p:txBody>
      </p:sp>
      <p:sp>
        <p:nvSpPr>
          <p:cNvPr id="10243" name="Content Placeholder 2"/>
          <p:cNvSpPr>
            <a:spLocks noGrp="1"/>
          </p:cNvSpPr>
          <p:nvPr>
            <p:ph idx="1"/>
          </p:nvPr>
        </p:nvSpPr>
        <p:spPr>
          <a:xfrm>
            <a:off x="152400" y="1066800"/>
            <a:ext cx="8763000" cy="5486400"/>
          </a:xfrm>
          <a:ln/>
        </p:spPr>
        <p:txBody>
          <a:bodyPr vert="horz" wrap="square" lIns="91440" tIns="45720" rIns="91440" bIns="45720" anchor="t" anchorCtr="0"/>
          <a:p>
            <a:pPr eaLnBrk="1" hangingPunct="1"/>
            <a:r>
              <a:rPr sz="2800" dirty="0"/>
              <a:t>Information retrieval (IR) is the process of finding material (usually documents) of an unstructured nature (usually text) that satisfies an information need from within large collections (usually stored on computers).</a:t>
            </a:r>
            <a:endParaRPr sz="2800" dirty="0"/>
          </a:p>
          <a:p>
            <a:pPr lvl="2" eaLnBrk="1" hangingPunct="1"/>
            <a:endParaRPr sz="500" dirty="0"/>
          </a:p>
          <a:p>
            <a:pPr eaLnBrk="1" hangingPunct="1"/>
            <a:r>
              <a:rPr sz="2800" dirty="0"/>
              <a:t>Information is organized into (a large number of)  documents</a:t>
            </a:r>
            <a:endParaRPr sz="2800" dirty="0"/>
          </a:p>
          <a:p>
            <a:pPr lvl="1" eaLnBrk="1" hangingPunct="1"/>
            <a:r>
              <a:rPr dirty="0"/>
              <a:t>Large collections of documents from various sources: news articles, research papers, books, digital libraries, Web pages, etc.</a:t>
            </a:r>
            <a:endParaRPr dirty="0"/>
          </a:p>
          <a:p>
            <a:pPr lvl="1" eaLnBrk="1" hangingPunct="1">
              <a:lnSpc>
                <a:spcPct val="80000"/>
              </a:lnSpc>
            </a:pPr>
            <a:r>
              <a:rPr b="1" dirty="0"/>
              <a:t>Example</a:t>
            </a:r>
            <a:r>
              <a:rPr dirty="0"/>
              <a:t>: Web Search Engines like </a:t>
            </a:r>
            <a:r>
              <a:rPr sz="2000" dirty="0"/>
              <a:t>Google claim to index over 1 Trillion pages</a:t>
            </a:r>
            <a:endParaRPr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266" name="Picture 2" descr="Image result for information retrieval and applications ppt"/>
          <p:cNvPicPr>
            <a:picLocks noChangeAspect="1"/>
          </p:cNvPicPr>
          <p:nvPr/>
        </p:nvPicPr>
        <p:blipFill>
          <a:blip r:embed="rId1"/>
          <a:stretch>
            <a:fillRect/>
          </a:stretch>
        </p:blipFill>
        <p:spPr>
          <a:xfrm>
            <a:off x="304800" y="685800"/>
            <a:ext cx="8458200" cy="5943600"/>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290" name="Picture 2" descr="Image result for information retrieval and applications ppt"/>
          <p:cNvPicPr>
            <a:picLocks noChangeAspect="1"/>
          </p:cNvPicPr>
          <p:nvPr/>
        </p:nvPicPr>
        <p:blipFill>
          <a:blip r:embed="rId1"/>
          <a:stretch>
            <a:fillRect/>
          </a:stretch>
        </p:blipFill>
        <p:spPr>
          <a:xfrm>
            <a:off x="101600" y="228600"/>
            <a:ext cx="9067800" cy="7315200"/>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Title 1"/>
          <p:cNvSpPr>
            <a:spLocks noGrp="1"/>
          </p:cNvSpPr>
          <p:nvPr>
            <p:ph type="title"/>
          </p:nvPr>
        </p:nvSpPr>
        <p:spPr>
          <a:xfrm>
            <a:off x="685800" y="304800"/>
            <a:ext cx="8229600" cy="1143000"/>
          </a:xfrm>
          <a:ln/>
        </p:spPr>
        <p:txBody>
          <a:bodyPr vert="horz" wrap="square" lIns="0" tIns="45720" rIns="0" bIns="0" anchor="b" anchorCtr="0"/>
          <a:p>
            <a:r>
              <a:rPr sz="3200" dirty="0">
                <a:solidFill>
                  <a:schemeClr val="tx1"/>
                </a:solidFill>
                <a:latin typeface="Times New Roman" panose="02020603050405020304" pitchFamily="18" charset="0"/>
                <a:cs typeface="Times New Roman" panose="02020603050405020304" pitchFamily="18" charset="0"/>
              </a:rPr>
              <a:t>Information Retrieval</a:t>
            </a:r>
            <a:endParaRPr sz="3200" dirty="0">
              <a:latin typeface="Times New Roman" panose="02020603050405020304" pitchFamily="18" charset="0"/>
              <a:ea typeface="Times New Roman" panose="02020603050405020304" pitchFamily="18" charset="0"/>
            </a:endParaRPr>
          </a:p>
        </p:txBody>
      </p:sp>
      <p:sp>
        <p:nvSpPr>
          <p:cNvPr id="13315" name="Content Placeholder 2"/>
          <p:cNvSpPr>
            <a:spLocks noGrp="1"/>
          </p:cNvSpPr>
          <p:nvPr>
            <p:ph idx="1"/>
          </p:nvPr>
        </p:nvSpPr>
        <p:spPr>
          <a:xfrm>
            <a:off x="457200" y="1371600"/>
            <a:ext cx="8229600" cy="4953000"/>
          </a:xfrm>
          <a:ln/>
        </p:spPr>
        <p:txBody>
          <a:bodyPr vert="horz" wrap="square" lIns="91440" tIns="45720" rIns="91440" bIns="45720" anchor="t" anchorCtr="0"/>
          <a:p>
            <a:pPr>
              <a:lnSpc>
                <a:spcPct val="200000"/>
              </a:lnSpc>
            </a:pPr>
            <a:r>
              <a:rPr dirty="0"/>
              <a:t>Given a </a:t>
            </a:r>
            <a:r>
              <a:rPr b="1" dirty="0"/>
              <a:t>query and a corpus, find relevant documents.</a:t>
            </a:r>
            <a:r>
              <a:rPr dirty="0"/>
              <a:t> </a:t>
            </a:r>
            <a:endParaRPr b="1" dirty="0"/>
          </a:p>
          <a:p>
            <a:pPr lvl="1">
              <a:lnSpc>
                <a:spcPct val="200000"/>
              </a:lnSpc>
            </a:pPr>
            <a:r>
              <a:rPr dirty="0"/>
              <a:t>query: user’s expression of the information need</a:t>
            </a:r>
            <a:endParaRPr dirty="0"/>
          </a:p>
          <a:p>
            <a:pPr lvl="1">
              <a:lnSpc>
                <a:spcPct val="200000"/>
              </a:lnSpc>
            </a:pPr>
            <a:r>
              <a:rPr dirty="0"/>
              <a:t>corpus: the repository of retrievable items</a:t>
            </a:r>
            <a:endParaRPr dirty="0"/>
          </a:p>
          <a:p>
            <a:pPr lvl="1">
              <a:lnSpc>
                <a:spcPct val="200000"/>
              </a:lnSpc>
            </a:pPr>
            <a:r>
              <a:rPr dirty="0"/>
              <a:t>relevance: satisfaction of the information need</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338" name="Picture 2" descr="Image result for information retrieval and applications ppt"/>
          <p:cNvPicPr>
            <a:picLocks noChangeAspect="1"/>
          </p:cNvPicPr>
          <p:nvPr/>
        </p:nvPicPr>
        <p:blipFill>
          <a:blip r:embed="rId1"/>
          <a:stretch>
            <a:fillRect/>
          </a:stretch>
        </p:blipFill>
        <p:spPr>
          <a:xfrm>
            <a:off x="381000" y="533400"/>
            <a:ext cx="8610600" cy="6019800"/>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5362" name="Picture 3"/>
          <p:cNvPicPr>
            <a:picLocks noChangeAspect="1"/>
          </p:cNvPicPr>
          <p:nvPr/>
        </p:nvPicPr>
        <p:blipFill>
          <a:blip r:embed="rId1"/>
          <a:stretch>
            <a:fillRect/>
          </a:stretch>
        </p:blipFill>
        <p:spPr>
          <a:xfrm>
            <a:off x="304800" y="762000"/>
            <a:ext cx="8829675" cy="5410200"/>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6386" name="Picture 2" descr="Image result for information retrieval and applications ppt"/>
          <p:cNvPicPr>
            <a:picLocks noChangeAspect="1"/>
          </p:cNvPicPr>
          <p:nvPr/>
        </p:nvPicPr>
        <p:blipFill>
          <a:blip r:embed="rId1"/>
          <a:stretch>
            <a:fillRect/>
          </a:stretch>
        </p:blipFill>
        <p:spPr>
          <a:xfrm>
            <a:off x="304800" y="762000"/>
            <a:ext cx="8686800" cy="5867400"/>
          </a:xfrm>
          <a:prstGeom prst="rect">
            <a:avLst/>
          </a:prstGeom>
          <a:noFill/>
          <a:ln w="9525">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2"/>
          <p:cNvSpPr>
            <a:spLocks noGrp="1"/>
          </p:cNvSpPr>
          <p:nvPr>
            <p:ph type="title"/>
          </p:nvPr>
        </p:nvSpPr>
        <p:spPr>
          <a:xfrm>
            <a:off x="457200" y="274638"/>
            <a:ext cx="8229600" cy="715962"/>
          </a:xfrm>
          <a:ln/>
        </p:spPr>
        <p:txBody>
          <a:bodyPr vert="horz" wrap="square" lIns="0" tIns="45720" rIns="0" bIns="0" anchor="b" anchorCtr="0"/>
          <a:p>
            <a:pPr eaLnBrk="1" hangingPunct="1"/>
            <a:r>
              <a:rPr sz="4000" dirty="0"/>
              <a:t>Information Retrieval Systems?</a:t>
            </a:r>
            <a:endParaRPr sz="4000" dirty="0"/>
          </a:p>
        </p:txBody>
      </p:sp>
      <p:sp>
        <p:nvSpPr>
          <p:cNvPr id="11267" name="Rectangle 3"/>
          <p:cNvSpPr>
            <a:spLocks noGrp="1"/>
          </p:cNvSpPr>
          <p:nvPr>
            <p:ph type="body" sz="half" idx="1"/>
          </p:nvPr>
        </p:nvSpPr>
        <p:spPr>
          <a:xfrm>
            <a:off x="228600" y="990600"/>
            <a:ext cx="4495800" cy="5562600"/>
          </a:xfrm>
          <a:ln/>
        </p:spPr>
        <p:txBody>
          <a:bodyPr vert="horz" wrap="square" lIns="91440" tIns="45720" rIns="91440" bIns="45720" anchor="t" anchorCtr="0"/>
          <a:p>
            <a:pPr marL="168275" indent="-168275" eaLnBrk="1" hangingPunct="1">
              <a:buClr>
                <a:srgbClr val="0BD0D9"/>
              </a:buClr>
              <a:buSzPct val="95000"/>
              <a:buFont typeface="Wingdings 2" pitchFamily="18" charset="2"/>
            </a:pPr>
            <a:r>
              <a:rPr sz="2800" dirty="0"/>
              <a:t>Document (Web page) retrieval in response to a query</a:t>
            </a:r>
            <a:endParaRPr sz="2800" dirty="0"/>
          </a:p>
          <a:p>
            <a:pPr lvl="1" eaLnBrk="1" hangingPunct="1">
              <a:buClr>
                <a:schemeClr val="accent1"/>
              </a:buClr>
              <a:buSzPct val="85000"/>
              <a:buFont typeface="Wingdings 2" pitchFamily="18" charset="2"/>
            </a:pPr>
            <a:r>
              <a:rPr dirty="0"/>
              <a:t>Quite effective (at some things)</a:t>
            </a:r>
            <a:endParaRPr dirty="0"/>
          </a:p>
          <a:p>
            <a:pPr lvl="1" eaLnBrk="1" hangingPunct="1">
              <a:buClr>
                <a:schemeClr val="accent1"/>
              </a:buClr>
              <a:buSzPct val="85000"/>
              <a:buFont typeface="Wingdings 2" pitchFamily="18" charset="2"/>
            </a:pPr>
            <a:r>
              <a:rPr dirty="0"/>
              <a:t>Commercially successful (some of them)</a:t>
            </a:r>
            <a:endParaRPr dirty="0"/>
          </a:p>
          <a:p>
            <a:pPr marL="168275" indent="-168275" eaLnBrk="1" hangingPunct="1">
              <a:buClr>
                <a:srgbClr val="0BD0D9"/>
              </a:buClr>
              <a:buSzPct val="95000"/>
              <a:buFont typeface="Wingdings 2" pitchFamily="18" charset="2"/>
            </a:pPr>
            <a:r>
              <a:rPr sz="2800" dirty="0"/>
              <a:t>But what goes on behind the scenes?</a:t>
            </a:r>
            <a:endParaRPr sz="2800" dirty="0"/>
          </a:p>
          <a:p>
            <a:pPr lvl="1" eaLnBrk="1" hangingPunct="1">
              <a:buClr>
                <a:schemeClr val="accent1"/>
              </a:buClr>
              <a:buSzPct val="85000"/>
              <a:buFont typeface="Wingdings 2" pitchFamily="18" charset="2"/>
            </a:pPr>
            <a:r>
              <a:rPr dirty="0"/>
              <a:t>How do they work?</a:t>
            </a:r>
            <a:endParaRPr dirty="0"/>
          </a:p>
          <a:p>
            <a:pPr lvl="1" eaLnBrk="1" hangingPunct="1">
              <a:buClr>
                <a:schemeClr val="accent1"/>
              </a:buClr>
              <a:buSzPct val="85000"/>
              <a:buFont typeface="Wingdings 2" pitchFamily="18" charset="2"/>
            </a:pPr>
            <a:r>
              <a:rPr dirty="0"/>
              <a:t>What happens beyond the Web?</a:t>
            </a:r>
            <a:endParaRPr dirty="0"/>
          </a:p>
        </p:txBody>
      </p:sp>
      <p:graphicFrame>
        <p:nvGraphicFramePr>
          <p:cNvPr id="11272" name="Object 8"/>
          <p:cNvGraphicFramePr>
            <a:graphicFrameLocks noChangeAspect="1"/>
          </p:cNvGraphicFramePr>
          <p:nvPr>
            <p:ph sz="half" idx="2"/>
          </p:nvPr>
        </p:nvGraphicFramePr>
        <p:xfrm>
          <a:off x="4876800" y="1736725"/>
          <a:ext cx="4038600" cy="2454275"/>
        </p:xfrm>
        <a:graphic>
          <a:graphicData uri="http://schemas.openxmlformats.org/presentationml/2006/ole">
            <mc:AlternateContent xmlns:mc="http://schemas.openxmlformats.org/markup-compatibility/2006">
              <mc:Choice xmlns:v="urn:schemas-microsoft-com:vml" Requires="v">
                <p:oleObj spid="_x0000_s3076" name="" r:id="rId1" imgW="3448050" imgH="2095500" progId="Paint.Picture">
                  <p:embed/>
                </p:oleObj>
              </mc:Choice>
              <mc:Fallback>
                <p:oleObj name="" r:id="rId1" imgW="3448050" imgH="2095500" progId="Paint.Picture">
                  <p:embed/>
                  <p:pic>
                    <p:nvPicPr>
                      <p:cNvPr id="0" name="Picture 3075"/>
                      <p:cNvPicPr/>
                      <p:nvPr/>
                    </p:nvPicPr>
                    <p:blipFill>
                      <a:blip r:embed="rId2"/>
                      <a:srcRect/>
                      <a:stretch>
                        <a:fillRect/>
                      </a:stretch>
                    </p:blipFill>
                    <p:spPr>
                      <a:xfrm>
                        <a:off x="4876800" y="1736725"/>
                        <a:ext cx="4038600" cy="2454275"/>
                      </a:xfrm>
                      <a:prstGeom prst="rect">
                        <a:avLst/>
                      </a:prstGeom>
                      <a:noFill/>
                      <a:ln w="38100">
                        <a:miter/>
                      </a:ln>
                    </p:spPr>
                  </p:pic>
                </p:oleObj>
              </mc:Fallback>
            </mc:AlternateContent>
          </a:graphicData>
        </a:graphic>
      </p:graphicFrame>
      <p:sp>
        <p:nvSpPr>
          <p:cNvPr id="11273" name="Rectangle 9"/>
          <p:cNvSpPr/>
          <p:nvPr/>
        </p:nvSpPr>
        <p:spPr>
          <a:xfrm>
            <a:off x="4572000" y="4965700"/>
            <a:ext cx="4572000" cy="1552575"/>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168275" lvl="0" indent="-168275" eaLnBrk="1" hangingPunct="1">
              <a:spcBef>
                <a:spcPct val="0"/>
              </a:spcBef>
              <a:buClrTx/>
              <a:buSzTx/>
              <a:buFontTx/>
              <a:buNone/>
            </a:pPr>
            <a:r>
              <a:rPr sz="2400" dirty="0">
                <a:latin typeface="Arial" panose="020B0604020202020204" pitchFamily="34" charset="0"/>
              </a:rPr>
              <a:t>Web search systems</a:t>
            </a:r>
            <a:endParaRPr sz="2400" dirty="0">
              <a:latin typeface="Arial" panose="020B0604020202020204" pitchFamily="34" charset="0"/>
            </a:endParaRPr>
          </a:p>
          <a:p>
            <a:pPr marL="168275" lvl="0" indent="-168275" eaLnBrk="1" hangingPunct="1">
              <a:spcBef>
                <a:spcPct val="0"/>
              </a:spcBef>
              <a:buClrTx/>
              <a:buSzTx/>
              <a:buFontTx/>
              <a:buChar char="•"/>
            </a:pPr>
            <a:r>
              <a:rPr sz="2400" dirty="0">
                <a:latin typeface="Arial" panose="020B0604020202020204" pitchFamily="34" charset="0"/>
              </a:rPr>
              <a:t>Lycos, Excite, Yahoo, Google, Live, Northern Light, Teoma, HotBot, Baidu, …</a:t>
            </a:r>
            <a:endParaRPr sz="2400"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1267">
                                            <p:txEl>
                                              <p:charRg st="0" end="53"/>
                                            </p:txEl>
                                          </p:spTgt>
                                        </p:tgtEl>
                                        <p:attrNameLst>
                                          <p:attrName>style.visibility</p:attrName>
                                        </p:attrNameLst>
                                      </p:cBhvr>
                                      <p:to>
                                        <p:strVal val="visible"/>
                                      </p:to>
                                    </p:set>
                                    <p:animEffect transition="in" filter="box(in)">
                                      <p:cBhvr>
                                        <p:cTn id="7" dur="500"/>
                                        <p:tgtEl>
                                          <p:spTgt spid="11267">
                                            <p:txEl>
                                              <p:charRg st="0" end="53"/>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11267">
                                            <p:txEl>
                                              <p:charRg st="53" end="86"/>
                                            </p:txEl>
                                          </p:spTgt>
                                        </p:tgtEl>
                                        <p:attrNameLst>
                                          <p:attrName>style.visibility</p:attrName>
                                        </p:attrNameLst>
                                      </p:cBhvr>
                                      <p:to>
                                        <p:strVal val="visible"/>
                                      </p:to>
                                    </p:set>
                                    <p:animEffect transition="in" filter="box(in)">
                                      <p:cBhvr>
                                        <p:cTn id="10" dur="500"/>
                                        <p:tgtEl>
                                          <p:spTgt spid="11267">
                                            <p:txEl>
                                              <p:charRg st="53" end="86"/>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11267">
                                            <p:txEl>
                                              <p:charRg st="86" end="125"/>
                                            </p:txEl>
                                          </p:spTgt>
                                        </p:tgtEl>
                                        <p:attrNameLst>
                                          <p:attrName>style.visibility</p:attrName>
                                        </p:attrNameLst>
                                      </p:cBhvr>
                                      <p:to>
                                        <p:strVal val="visible"/>
                                      </p:to>
                                    </p:set>
                                    <p:animEffect transition="in" filter="box(in)">
                                      <p:cBhvr>
                                        <p:cTn id="13" dur="500"/>
                                        <p:tgtEl>
                                          <p:spTgt spid="11267">
                                            <p:txEl>
                                              <p:charRg st="86" end="125"/>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11267">
                                            <p:txEl>
                                              <p:charRg st="125" end="161"/>
                                            </p:txEl>
                                          </p:spTgt>
                                        </p:tgtEl>
                                        <p:attrNameLst>
                                          <p:attrName>style.visibility</p:attrName>
                                        </p:attrNameLst>
                                      </p:cBhvr>
                                      <p:to>
                                        <p:strVal val="visible"/>
                                      </p:to>
                                    </p:set>
                                    <p:animEffect transition="in" filter="box(in)">
                                      <p:cBhvr>
                                        <p:cTn id="16" dur="500"/>
                                        <p:tgtEl>
                                          <p:spTgt spid="11267">
                                            <p:txEl>
                                              <p:charRg st="125" end="161"/>
                                            </p:txEl>
                                          </p:spTgt>
                                        </p:tgtEl>
                                      </p:cBhvr>
                                    </p:animEffect>
                                  </p:childTnLst>
                                </p:cTn>
                              </p:par>
                              <p:par>
                                <p:cTn id="17" presetID="4" presetClass="entr" presetSubtype="16" fill="hold" nodeType="withEffect">
                                  <p:stCondLst>
                                    <p:cond delay="0"/>
                                  </p:stCondLst>
                                  <p:childTnLst>
                                    <p:set>
                                      <p:cBhvr>
                                        <p:cTn id="18" dur="1" fill="hold">
                                          <p:stCondLst>
                                            <p:cond delay="0"/>
                                          </p:stCondLst>
                                        </p:cTn>
                                        <p:tgtEl>
                                          <p:spTgt spid="11267">
                                            <p:txEl>
                                              <p:charRg st="161" end="179"/>
                                            </p:txEl>
                                          </p:spTgt>
                                        </p:tgtEl>
                                        <p:attrNameLst>
                                          <p:attrName>style.visibility</p:attrName>
                                        </p:attrNameLst>
                                      </p:cBhvr>
                                      <p:to>
                                        <p:strVal val="visible"/>
                                      </p:to>
                                    </p:set>
                                    <p:animEffect transition="in" filter="box(in)">
                                      <p:cBhvr>
                                        <p:cTn id="19" dur="500"/>
                                        <p:tgtEl>
                                          <p:spTgt spid="11267">
                                            <p:txEl>
                                              <p:charRg st="161" end="179"/>
                                            </p:txEl>
                                          </p:spTgt>
                                        </p:tgtEl>
                                      </p:cBhvr>
                                    </p:animEffect>
                                  </p:childTnLst>
                                </p:cTn>
                              </p:par>
                              <p:par>
                                <p:cTn id="20" presetID="4" presetClass="entr" presetSubtype="16" fill="hold" nodeType="withEffect">
                                  <p:stCondLst>
                                    <p:cond delay="0"/>
                                  </p:stCondLst>
                                  <p:childTnLst>
                                    <p:set>
                                      <p:cBhvr>
                                        <p:cTn id="21" dur="1" fill="hold">
                                          <p:stCondLst>
                                            <p:cond delay="0"/>
                                          </p:stCondLst>
                                        </p:cTn>
                                        <p:tgtEl>
                                          <p:spTgt spid="11267">
                                            <p:txEl>
                                              <p:charRg st="179" end="208"/>
                                            </p:txEl>
                                          </p:spTgt>
                                        </p:tgtEl>
                                        <p:attrNameLst>
                                          <p:attrName>style.visibility</p:attrName>
                                        </p:attrNameLst>
                                      </p:cBhvr>
                                      <p:to>
                                        <p:strVal val="visible"/>
                                      </p:to>
                                    </p:set>
                                    <p:animEffect transition="in" filter="box(in)">
                                      <p:cBhvr>
                                        <p:cTn id="22" dur="500"/>
                                        <p:tgtEl>
                                          <p:spTgt spid="11267">
                                            <p:txEl>
                                              <p:charRg st="179" end="208"/>
                                            </p:txEl>
                                          </p:spTgt>
                                        </p:tgtEl>
                                      </p:cBhvr>
                                    </p:animEffect>
                                  </p:childTnLst>
                                </p:cTn>
                              </p:par>
                              <p:par>
                                <p:cTn id="23" presetID="2" presetClass="entr" presetSubtype="2" fill="hold" nodeType="withEffect">
                                  <p:stCondLst>
                                    <p:cond delay="0"/>
                                  </p:stCondLst>
                                  <p:childTnLst>
                                    <p:set>
                                      <p:cBhvr>
                                        <p:cTn id="24" dur="1" fill="hold">
                                          <p:stCondLst>
                                            <p:cond delay="0"/>
                                          </p:stCondLst>
                                        </p:cTn>
                                        <p:tgtEl>
                                          <p:spTgt spid="11272"/>
                                        </p:tgtEl>
                                        <p:attrNameLst>
                                          <p:attrName>style.visibility</p:attrName>
                                        </p:attrNameLst>
                                      </p:cBhvr>
                                      <p:to>
                                        <p:strVal val="visible"/>
                                      </p:to>
                                    </p:set>
                                    <p:anim calcmode="lin" valueType="num">
                                      <p:cBhvr additive="base">
                                        <p:cTn id="25" dur="500" fill="hold"/>
                                        <p:tgtEl>
                                          <p:spTgt spid="11272"/>
                                        </p:tgtEl>
                                        <p:attrNameLst>
                                          <p:attrName>ppt_x</p:attrName>
                                        </p:attrNameLst>
                                      </p:cBhvr>
                                      <p:tavLst>
                                        <p:tav tm="0">
                                          <p:val>
                                            <p:strVal val="1+#ppt_w/2"/>
                                          </p:val>
                                        </p:tav>
                                        <p:tav tm="100000">
                                          <p:val>
                                            <p:strVal val="#ppt_x"/>
                                          </p:val>
                                        </p:tav>
                                      </p:tavLst>
                                    </p:anim>
                                    <p:anim calcmode="lin" valueType="num">
                                      <p:cBhvr additive="base">
                                        <p:cTn id="26" dur="500" fill="hold"/>
                                        <p:tgtEl>
                                          <p:spTgt spid="11272"/>
                                        </p:tgtEl>
                                        <p:attrNameLst>
                                          <p:attrName>ppt_y</p:attrName>
                                        </p:attrNameLst>
                                      </p:cBhvr>
                                      <p:tavLst>
                                        <p:tav tm="0">
                                          <p:val>
                                            <p:strVal val="#ppt_y"/>
                                          </p:val>
                                        </p:tav>
                                        <p:tav tm="100000">
                                          <p:val>
                                            <p:strVal val="#ppt_y"/>
                                          </p:val>
                                        </p:tav>
                                      </p:tavLst>
                                    </p:anim>
                                  </p:childTnLst>
                                </p:cTn>
                              </p:par>
                              <p:par>
                                <p:cTn id="27" presetID="4" presetClass="entr" presetSubtype="16" fill="hold" nodeType="withEffect">
                                  <p:stCondLst>
                                    <p:cond delay="0"/>
                                  </p:stCondLst>
                                  <p:childTnLst>
                                    <p:set>
                                      <p:cBhvr>
                                        <p:cTn id="28" dur="1" fill="hold">
                                          <p:stCondLst>
                                            <p:cond delay="0"/>
                                          </p:stCondLst>
                                        </p:cTn>
                                        <p:tgtEl>
                                          <p:spTgt spid="11273">
                                            <p:txEl>
                                              <p:charRg st="0" end="19"/>
                                            </p:txEl>
                                          </p:spTgt>
                                        </p:tgtEl>
                                        <p:attrNameLst>
                                          <p:attrName>style.visibility</p:attrName>
                                        </p:attrNameLst>
                                      </p:cBhvr>
                                      <p:to>
                                        <p:strVal val="visible"/>
                                      </p:to>
                                    </p:set>
                                    <p:animEffect transition="in" filter="box(in)">
                                      <p:cBhvr>
                                        <p:cTn id="29" dur="500"/>
                                        <p:tgtEl>
                                          <p:spTgt spid="11273">
                                            <p:txEl>
                                              <p:charRg st="0" end="19"/>
                                            </p:txEl>
                                          </p:spTgt>
                                        </p:tgtEl>
                                      </p:cBhvr>
                                    </p:animEffect>
                                  </p:childTnLst>
                                </p:cTn>
                              </p:par>
                              <p:par>
                                <p:cTn id="30" presetID="4" presetClass="entr" presetSubtype="16" fill="hold" nodeType="withEffect">
                                  <p:stCondLst>
                                    <p:cond delay="0"/>
                                  </p:stCondLst>
                                  <p:childTnLst>
                                    <p:set>
                                      <p:cBhvr>
                                        <p:cTn id="31" dur="1" fill="hold">
                                          <p:stCondLst>
                                            <p:cond delay="0"/>
                                          </p:stCondLst>
                                        </p:cTn>
                                        <p:tgtEl>
                                          <p:spTgt spid="11273">
                                            <p:txEl>
                                              <p:charRg st="19" end="95"/>
                                            </p:txEl>
                                          </p:spTgt>
                                        </p:tgtEl>
                                        <p:attrNameLst>
                                          <p:attrName>style.visibility</p:attrName>
                                        </p:attrNameLst>
                                      </p:cBhvr>
                                      <p:to>
                                        <p:strVal val="visible"/>
                                      </p:to>
                                    </p:set>
                                    <p:animEffect transition="in" filter="box(in)">
                                      <p:cBhvr>
                                        <p:cTn id="32" dur="500"/>
                                        <p:tgtEl>
                                          <p:spTgt spid="11273">
                                            <p:txEl>
                                              <p:charRg st="19" end="9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Title 1"/>
          <p:cNvSpPr>
            <a:spLocks noGrp="1"/>
          </p:cNvSpPr>
          <p:nvPr>
            <p:ph type="title"/>
          </p:nvPr>
        </p:nvSpPr>
        <p:spPr>
          <a:xfrm>
            <a:off x="457200" y="704850"/>
            <a:ext cx="8229600" cy="742950"/>
          </a:xfrm>
          <a:ln/>
        </p:spPr>
        <p:txBody>
          <a:bodyPr vert="horz" wrap="square" lIns="0" tIns="45720" rIns="0" bIns="0" anchor="b" anchorCtr="0"/>
          <a:p>
            <a:r>
              <a:rPr sz="3200" dirty="0"/>
              <a:t>Examples of IR systems</a:t>
            </a:r>
            <a:endParaRPr sz="3200" dirty="0"/>
          </a:p>
        </p:txBody>
      </p:sp>
      <p:sp>
        <p:nvSpPr>
          <p:cNvPr id="18435" name="Content Placeholder 2"/>
          <p:cNvSpPr>
            <a:spLocks noGrp="1"/>
          </p:cNvSpPr>
          <p:nvPr>
            <p:ph idx="1"/>
          </p:nvPr>
        </p:nvSpPr>
        <p:spPr>
          <a:xfrm>
            <a:off x="533400" y="1447800"/>
            <a:ext cx="8229600" cy="4389438"/>
          </a:xfrm>
          <a:ln/>
        </p:spPr>
        <p:txBody>
          <a:bodyPr vert="horz" wrap="square" lIns="91440" tIns="45720" rIns="91440" bIns="45720" anchor="t" anchorCtr="0"/>
          <a:p>
            <a:r>
              <a:rPr sz="2800" dirty="0"/>
              <a:t>Examples of Information Retrieval Problems</a:t>
            </a:r>
            <a:br>
              <a:rPr sz="2800" dirty="0"/>
            </a:br>
            <a:r>
              <a:rPr sz="2800" dirty="0"/>
              <a:t>Web Search</a:t>
            </a:r>
            <a:endParaRPr dirty="0"/>
          </a:p>
          <a:p>
            <a:pPr lvl="1"/>
            <a:r>
              <a:rPr dirty="0"/>
              <a:t>given a </a:t>
            </a:r>
            <a:r>
              <a:rPr b="1" dirty="0"/>
              <a:t>keyword and a web crawl, find relevant URLs.</a:t>
            </a:r>
            <a:endParaRPr b="1" dirty="0"/>
          </a:p>
          <a:p>
            <a:r>
              <a:rPr dirty="0"/>
              <a:t>Examples of Information Retrieval Problems Image Search</a:t>
            </a:r>
            <a:endParaRPr dirty="0"/>
          </a:p>
          <a:p>
            <a:pPr lvl="1"/>
            <a:r>
              <a:rPr dirty="0"/>
              <a:t>given a </a:t>
            </a:r>
            <a:r>
              <a:rPr b="1" dirty="0"/>
              <a:t>keyword and image database, find relevant images.</a:t>
            </a:r>
            <a:endParaRPr b="1" dirty="0"/>
          </a:p>
          <a:p>
            <a:r>
              <a:rPr dirty="0"/>
              <a:t>Examples of Information Retrieval Problems Question Answering</a:t>
            </a:r>
            <a:endParaRPr dirty="0"/>
          </a:p>
          <a:p>
            <a:pPr lvl="1"/>
            <a:r>
              <a:rPr dirty="0"/>
              <a:t>given a </a:t>
            </a:r>
            <a:r>
              <a:rPr b="1" dirty="0"/>
              <a:t>question and available text, rules, logic, find an answer.</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Title 1"/>
          <p:cNvSpPr>
            <a:spLocks noGrp="1"/>
          </p:cNvSpPr>
          <p:nvPr>
            <p:ph type="title"/>
          </p:nvPr>
        </p:nvSpPr>
        <p:spPr>
          <a:xfrm>
            <a:off x="457200" y="704850"/>
            <a:ext cx="8229600" cy="895350"/>
          </a:xfrm>
          <a:ln/>
        </p:spPr>
        <p:txBody>
          <a:bodyPr vert="horz" wrap="square" lIns="0" tIns="45720" rIns="0" bIns="0" anchor="b" anchorCtr="0"/>
          <a:p>
            <a:r>
              <a:rPr sz="3200" dirty="0"/>
              <a:t>Examples of IR systems</a:t>
            </a:r>
            <a:endParaRPr sz="3200" dirty="0"/>
          </a:p>
        </p:txBody>
      </p:sp>
      <p:sp>
        <p:nvSpPr>
          <p:cNvPr id="19459" name="Content Placeholder 2"/>
          <p:cNvSpPr>
            <a:spLocks noGrp="1"/>
          </p:cNvSpPr>
          <p:nvPr>
            <p:ph idx="1"/>
          </p:nvPr>
        </p:nvSpPr>
        <p:spPr>
          <a:xfrm>
            <a:off x="381000" y="1676400"/>
            <a:ext cx="8229600" cy="4389438"/>
          </a:xfrm>
          <a:ln/>
        </p:spPr>
        <p:txBody>
          <a:bodyPr vert="horz" wrap="square" lIns="91440" tIns="45720" rIns="91440" bIns="45720" anchor="t" anchorCtr="0"/>
          <a:p>
            <a:r>
              <a:rPr dirty="0"/>
              <a:t>Examples of Information Retrieval Problems Job Search</a:t>
            </a:r>
            <a:endParaRPr dirty="0"/>
          </a:p>
          <a:p>
            <a:pPr lvl="1"/>
            <a:r>
              <a:rPr dirty="0"/>
              <a:t>given a </a:t>
            </a:r>
            <a:r>
              <a:rPr b="1" dirty="0"/>
              <a:t>resume and job advertisements, find relevant jobs.</a:t>
            </a:r>
            <a:endParaRPr b="1" dirty="0"/>
          </a:p>
          <a:p>
            <a:r>
              <a:rPr dirty="0"/>
              <a:t>Examples of Information Retrieval Problems Applicant Search</a:t>
            </a:r>
            <a:endParaRPr dirty="0"/>
          </a:p>
          <a:p>
            <a:pPr lvl="1"/>
            <a:r>
              <a:rPr dirty="0"/>
              <a:t>given a </a:t>
            </a:r>
            <a:r>
              <a:rPr b="1" dirty="0"/>
              <a:t>advertisement and resumes, find good candidates.</a:t>
            </a:r>
            <a:endParaRPr b="1" dirty="0"/>
          </a:p>
          <a:p>
            <a:pPr>
              <a:buNone/>
            </a:pP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2"/>
          <p:cNvSpPr>
            <a:spLocks noGrp="1" noChangeArrowheads="1"/>
          </p:cNvSpPr>
          <p:nvPr>
            <p:ph type="title"/>
          </p:nvPr>
        </p:nvSpPr>
        <p:spPr>
          <a:xfrm>
            <a:off x="457200" y="274638"/>
            <a:ext cx="8229600" cy="715963"/>
          </a:xfrm>
        </p:spPr>
        <p:txBody>
          <a:bodyPr vert="horz" wrap="square" lIns="0" tIns="45720" rIns="0" bIns="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5000" b="0" i="0" u="none" strike="noStrike" kern="1200" cap="none" spc="0" normalizeH="0" baseline="0" noProof="0" dirty="0" smtClean="0">
                <a:ln>
                  <a:noFill/>
                </a:ln>
                <a:solidFill>
                  <a:schemeClr val="tx2"/>
                </a:solidFill>
                <a:effectLst/>
                <a:uLnTx/>
                <a:uFillTx/>
                <a:latin typeface="+mj-lt"/>
                <a:ea typeface="+mj-ea"/>
                <a:cs typeface="+mj-cs"/>
              </a:rPr>
              <a:t>Examples of IR systems</a:t>
            </a:r>
            <a:endParaRPr kumimoji="0" lang="en-US" sz="5000" b="0" i="0" u="none" strike="noStrike" kern="1200" cap="none" spc="0" normalizeH="0" baseline="0" noProof="0" dirty="0" smtClean="0">
              <a:ln>
                <a:noFill/>
              </a:ln>
              <a:solidFill>
                <a:schemeClr val="tx2"/>
              </a:solidFill>
              <a:effectLst/>
              <a:uLnTx/>
              <a:uFillTx/>
              <a:latin typeface="+mj-lt"/>
              <a:ea typeface="+mj-ea"/>
              <a:cs typeface="+mj-cs"/>
            </a:endParaRPr>
          </a:p>
        </p:txBody>
      </p:sp>
      <p:sp>
        <p:nvSpPr>
          <p:cNvPr id="7171" name="Rectangle 3"/>
          <p:cNvSpPr>
            <a:spLocks noGrp="1" noChangeArrowheads="1"/>
          </p:cNvSpPr>
          <p:nvPr>
            <p:ph idx="1"/>
          </p:nvPr>
        </p:nvSpPr>
        <p:spPr>
          <a:xfrm>
            <a:off x="76200" y="990600"/>
            <a:ext cx="8991600" cy="5562600"/>
          </a:xfrm>
        </p:spPr>
        <p:txBody>
          <a:bodyPr vert="horz" wrap="square" lIns="91440" tIns="45720" rIns="91440" bIns="45720" numCol="1" anchor="t" anchorCtr="0" compatLnSpc="1">
            <a:normAutofit/>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Char char=""/>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Conventional (library catalog): </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Search by keyword, title, author, etc. </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sz="2000" b="0" i="0" u="none" strike="noStrike" kern="1200" cap="none" spc="0" normalizeH="0" baseline="0" noProof="0" dirty="0" smtClean="0">
              <a:ln>
                <a:noFill/>
              </a:ln>
              <a:solidFill>
                <a:schemeClr val="tx1"/>
              </a:solidFill>
              <a:effectLst/>
              <a:uLnTx/>
              <a:uFillTx/>
              <a:latin typeface="+mn-lt"/>
              <a:ea typeface="+mn-ea"/>
              <a:cs typeface="+mn-cs"/>
            </a:endParaRPr>
          </a:p>
          <a:p>
            <a:pPr marL="641350" marR="0" lvl="1" indent="-274320" algn="l" defTabSz="914400" rtl="0" eaLnBrk="1" fontAlgn="auto" latinLnBrk="0" hangingPunct="1">
              <a:lnSpc>
                <a:spcPct val="100000"/>
              </a:lnSpc>
              <a:spcBef>
                <a:spcPct val="20000"/>
              </a:spcBef>
              <a:spcAft>
                <a:spcPts val="0"/>
              </a:spcAft>
              <a:buClr>
                <a:schemeClr val="accent3"/>
              </a:buClr>
              <a:buSzPct val="85000"/>
              <a:buFont typeface="Wingdings 2"/>
              <a:buChar char=""/>
              <a:defRPr/>
            </a:pPr>
            <a:r>
              <a:rPr kumimoji="0" lang="en-US" sz="2000" b="0" i="0" u="none" strike="noStrike" kern="1200" cap="none" spc="0" normalizeH="0" baseline="0" noProof="0" dirty="0" smtClean="0">
                <a:ln>
                  <a:noFill/>
                </a:ln>
                <a:solidFill>
                  <a:schemeClr val="tx1"/>
                </a:solidFill>
                <a:effectLst/>
                <a:uLnTx/>
                <a:uFillTx/>
                <a:latin typeface="Constantia (Body)"/>
                <a:ea typeface="Tahoma" panose="020B0604030504040204" pitchFamily="34" charset="0"/>
                <a:cs typeface="Tahoma" panose="020B0604030504040204" pitchFamily="34" charset="0"/>
              </a:rPr>
              <a:t>is a register of all </a:t>
            </a:r>
            <a:r>
              <a:rPr kumimoji="0" lang="en-US" sz="2000" b="0" i="0" u="none" strike="noStrike" kern="1200" cap="none" spc="0" normalizeH="0" baseline="0" noProof="0" dirty="0" smtClean="0">
                <a:ln>
                  <a:noFill/>
                </a:ln>
                <a:solidFill>
                  <a:schemeClr val="tx1"/>
                </a:solidFill>
                <a:effectLst/>
                <a:uLnTx/>
                <a:uFillTx/>
                <a:latin typeface="Constantia (Body)"/>
                <a:ea typeface="Tahoma" panose="020B0604030504040204" pitchFamily="34" charset="0"/>
                <a:cs typeface="Tahoma" panose="020B0604030504040204" pitchFamily="34" charset="0"/>
                <a:hlinkClick r:id="rId1" tooltip="Bibliography"/>
              </a:rPr>
              <a:t>bibliographic</a:t>
            </a:r>
            <a:r>
              <a:rPr kumimoji="0" lang="en-US" sz="2000" b="0" i="0" u="none" strike="noStrike" kern="1200" cap="none" spc="0" normalizeH="0" baseline="0" noProof="0" dirty="0" smtClean="0">
                <a:ln>
                  <a:noFill/>
                </a:ln>
                <a:solidFill>
                  <a:schemeClr val="tx1"/>
                </a:solidFill>
                <a:effectLst/>
                <a:uLnTx/>
                <a:uFillTx/>
                <a:latin typeface="Constantia (Body)"/>
                <a:ea typeface="Tahoma" panose="020B0604030504040204" pitchFamily="34" charset="0"/>
                <a:cs typeface="Tahoma" panose="020B0604030504040204" pitchFamily="34" charset="0"/>
              </a:rPr>
              <a:t> items found in a </a:t>
            </a:r>
            <a:r>
              <a:rPr kumimoji="0" lang="en-US" sz="2000" b="0" i="0" u="none" strike="noStrike" kern="1200" cap="none" spc="0" normalizeH="0" baseline="0" noProof="0" dirty="0" smtClean="0">
                <a:ln>
                  <a:noFill/>
                </a:ln>
                <a:solidFill>
                  <a:schemeClr val="tx1"/>
                </a:solidFill>
                <a:effectLst/>
                <a:uLnTx/>
                <a:uFillTx/>
                <a:latin typeface="Constantia (Body)"/>
                <a:ea typeface="Tahoma" panose="020B0604030504040204" pitchFamily="34" charset="0"/>
                <a:cs typeface="Tahoma" panose="020B0604030504040204" pitchFamily="34" charset="0"/>
                <a:hlinkClick r:id="rId2" tooltip="Library"/>
              </a:rPr>
              <a:t>library</a:t>
            </a:r>
            <a:r>
              <a:rPr kumimoji="0" lang="en-US" sz="2000" b="0" i="0" u="none" strike="noStrike" kern="1200" cap="none" spc="0" normalizeH="0" baseline="0" noProof="0" dirty="0" smtClean="0">
                <a:ln>
                  <a:noFill/>
                </a:ln>
                <a:solidFill>
                  <a:schemeClr val="tx1"/>
                </a:solidFill>
                <a:effectLst/>
                <a:uLnTx/>
                <a:uFillTx/>
                <a:latin typeface="Constantia (Body)"/>
                <a:ea typeface="Tahoma" panose="020B0604030504040204" pitchFamily="34" charset="0"/>
                <a:cs typeface="Tahoma" panose="020B0604030504040204" pitchFamily="34" charset="0"/>
              </a:rPr>
              <a:t> or group of libraries, such as a network of libraries at several locations</a:t>
            </a:r>
            <a:endParaRPr kumimoji="0" lang="en-US" sz="2000" b="0" i="0" u="none" strike="noStrike" kern="1200" cap="none" spc="0" normalizeH="0" baseline="0" noProof="0" dirty="0" smtClean="0">
              <a:ln>
                <a:noFill/>
              </a:ln>
              <a:solidFill>
                <a:schemeClr val="tx1"/>
              </a:solidFill>
              <a:effectLst/>
              <a:uLnTx/>
              <a:uFillTx/>
              <a:latin typeface="Constantia (Body)"/>
              <a:ea typeface="Tahoma" panose="020B0604030504040204" pitchFamily="34" charset="0"/>
              <a:cs typeface="Tahoma" panose="020B0604030504040204" pitchFamily="34" charset="0"/>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Char char=""/>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Text-based (Lexis-Nexis, Google, FAST): </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Search by keywords. Limited search using queries in natural language.</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Char char=""/>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Multimedia (QBIC, </a:t>
            </a:r>
            <a:r>
              <a:rPr kumimoji="0" lang="en-US" sz="2800" b="0" i="0" u="none" strike="noStrike" kern="1200" cap="none" spc="0" normalizeH="0" baseline="0" noProof="0" dirty="0" err="1" smtClean="0">
                <a:ln>
                  <a:noFill/>
                </a:ln>
                <a:solidFill>
                  <a:schemeClr val="tx1"/>
                </a:solidFill>
                <a:effectLst/>
                <a:uLnTx/>
                <a:uFillTx/>
                <a:latin typeface="+mn-lt"/>
                <a:ea typeface="+mn-ea"/>
                <a:cs typeface="+mn-cs"/>
              </a:rPr>
              <a:t>WebSeek</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 </a:t>
            </a:r>
            <a:r>
              <a:rPr kumimoji="0" lang="en-US" sz="2800" b="0" i="0" u="none" strike="noStrike" kern="1200" cap="none" spc="0" normalizeH="0" baseline="0" noProof="0" dirty="0" err="1" smtClean="0">
                <a:ln>
                  <a:noFill/>
                </a:ln>
                <a:solidFill>
                  <a:schemeClr val="tx1"/>
                </a:solidFill>
                <a:effectLst/>
                <a:uLnTx/>
                <a:uFillTx/>
                <a:latin typeface="+mn-lt"/>
                <a:ea typeface="+mn-ea"/>
                <a:cs typeface="+mn-cs"/>
              </a:rPr>
              <a:t>SaFe</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 </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Search by visual appearance (shapes, colors,… ).</a:t>
            </a:r>
            <a:r>
              <a:rPr kumimoji="0" lang="en-US" sz="18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sz="1800" b="0" i="0" u="none" strike="noStrike" kern="1200" cap="none" spc="0" normalizeH="0" baseline="0" noProof="0" dirty="0" smtClean="0">
              <a:ln>
                <a:noFill/>
              </a:ln>
              <a:solidFill>
                <a:schemeClr val="tx1"/>
              </a:solidFill>
              <a:effectLst/>
              <a:uLnTx/>
              <a:uFillTx/>
              <a:latin typeface="+mn-lt"/>
              <a:ea typeface="+mn-ea"/>
              <a:cs typeface="+mn-cs"/>
            </a:endParaRPr>
          </a:p>
          <a:p>
            <a:pPr marL="641350" marR="0" lvl="1" indent="-274320" algn="l" defTabSz="914400" rtl="0" eaLnBrk="1" fontAlgn="auto" latinLnBrk="0" hangingPunct="1">
              <a:lnSpc>
                <a:spcPct val="100000"/>
              </a:lnSpc>
              <a:spcBef>
                <a:spcPct val="20000"/>
              </a:spcBef>
              <a:spcAft>
                <a:spcPts val="0"/>
              </a:spcAft>
              <a:buClr>
                <a:schemeClr val="accent3"/>
              </a:buClr>
              <a:buSzPct val="85000"/>
              <a:buFont typeface="Wingdings 2"/>
              <a:buChar char=""/>
              <a:defRPr/>
            </a:pPr>
            <a:r>
              <a:rPr kumimoji="0" lang="en-US" sz="2300" b="1" i="0" u="none" strike="noStrike" kern="1200" cap="none" spc="0" normalizeH="0" baseline="0" noProof="0" dirty="0" smtClean="0">
                <a:ln>
                  <a:noFill/>
                </a:ln>
                <a:solidFill>
                  <a:schemeClr val="tx1"/>
                </a:solidFill>
                <a:effectLst/>
                <a:uLnTx/>
                <a:uFillTx/>
                <a:latin typeface="+mn-lt"/>
                <a:ea typeface="+mn-ea"/>
                <a:cs typeface="+mn-cs"/>
              </a:rPr>
              <a:t>Multimedia Information Retrieval</a:t>
            </a:r>
            <a:r>
              <a:rPr kumimoji="0" lang="en-US" sz="2300" b="0" i="0" u="none" strike="noStrike" kern="1200" cap="none" spc="0" normalizeH="0" baseline="0" noProof="0" dirty="0" smtClean="0">
                <a:ln>
                  <a:noFill/>
                </a:ln>
                <a:solidFill>
                  <a:schemeClr val="tx1"/>
                </a:solidFill>
                <a:effectLst/>
                <a:uLnTx/>
                <a:uFillTx/>
                <a:latin typeface="+mn-lt"/>
                <a:ea typeface="+mn-ea"/>
                <a:cs typeface="+mn-cs"/>
              </a:rPr>
              <a:t> (MIR) is an organic system made up of Text </a:t>
            </a:r>
            <a:r>
              <a:rPr kumimoji="0" lang="en-US" sz="2300" b="1" i="0" u="none" strike="noStrike" kern="1200" cap="none" spc="0" normalizeH="0" baseline="0" noProof="0" dirty="0" smtClean="0">
                <a:ln>
                  <a:noFill/>
                </a:ln>
                <a:solidFill>
                  <a:schemeClr val="tx1"/>
                </a:solidFill>
                <a:effectLst/>
                <a:uLnTx/>
                <a:uFillTx/>
                <a:latin typeface="+mn-lt"/>
                <a:ea typeface="+mn-ea"/>
                <a:cs typeface="+mn-cs"/>
              </a:rPr>
              <a:t>Retrieval</a:t>
            </a:r>
            <a:r>
              <a:rPr kumimoji="0" lang="en-US" sz="2300" b="0" i="0" u="none" strike="noStrike" kern="1200" cap="none" spc="0" normalizeH="0" baseline="0" noProof="0" dirty="0" smtClean="0">
                <a:ln>
                  <a:noFill/>
                </a:ln>
                <a:solidFill>
                  <a:schemeClr val="tx1"/>
                </a:solidFill>
                <a:effectLst/>
                <a:uLnTx/>
                <a:uFillTx/>
                <a:latin typeface="+mn-lt"/>
                <a:ea typeface="+mn-ea"/>
                <a:cs typeface="+mn-cs"/>
              </a:rPr>
              <a:t> (TR); Visual </a:t>
            </a:r>
            <a:r>
              <a:rPr kumimoji="0" lang="en-US" sz="2300" b="1" i="0" u="none" strike="noStrike" kern="1200" cap="none" spc="0" normalizeH="0" baseline="0" noProof="0" dirty="0" smtClean="0">
                <a:ln>
                  <a:noFill/>
                </a:ln>
                <a:solidFill>
                  <a:schemeClr val="tx1"/>
                </a:solidFill>
                <a:effectLst/>
                <a:uLnTx/>
                <a:uFillTx/>
                <a:latin typeface="+mn-lt"/>
                <a:ea typeface="+mn-ea"/>
                <a:cs typeface="+mn-cs"/>
              </a:rPr>
              <a:t>Retrieval</a:t>
            </a:r>
            <a:r>
              <a:rPr kumimoji="0" lang="en-US" sz="2300" b="0" i="0" u="none" strike="noStrike" kern="1200" cap="none" spc="0" normalizeH="0" baseline="0" noProof="0" dirty="0" smtClean="0">
                <a:ln>
                  <a:noFill/>
                </a:ln>
                <a:solidFill>
                  <a:schemeClr val="tx1"/>
                </a:solidFill>
                <a:effectLst/>
                <a:uLnTx/>
                <a:uFillTx/>
                <a:latin typeface="+mn-lt"/>
                <a:ea typeface="+mn-ea"/>
                <a:cs typeface="+mn-cs"/>
              </a:rPr>
              <a:t> (VR); Video </a:t>
            </a:r>
            <a:r>
              <a:rPr kumimoji="0" lang="en-US" sz="2300" b="1" i="0" u="none" strike="noStrike" kern="1200" cap="none" spc="0" normalizeH="0" baseline="0" noProof="0" dirty="0" smtClean="0">
                <a:ln>
                  <a:noFill/>
                </a:ln>
                <a:solidFill>
                  <a:schemeClr val="tx1"/>
                </a:solidFill>
                <a:effectLst/>
                <a:uLnTx/>
                <a:uFillTx/>
                <a:latin typeface="+mn-lt"/>
                <a:ea typeface="+mn-ea"/>
                <a:cs typeface="+mn-cs"/>
              </a:rPr>
              <a:t>Retrieval</a:t>
            </a:r>
            <a:r>
              <a:rPr kumimoji="0" lang="en-US" sz="2300" b="0" i="0" u="none" strike="noStrike" kern="1200" cap="none" spc="0" normalizeH="0" baseline="0" noProof="0" dirty="0" smtClean="0">
                <a:ln>
                  <a:noFill/>
                </a:ln>
                <a:solidFill>
                  <a:schemeClr val="tx1"/>
                </a:solidFill>
                <a:effectLst/>
                <a:uLnTx/>
                <a:uFillTx/>
                <a:latin typeface="+mn-lt"/>
                <a:ea typeface="+mn-ea"/>
                <a:cs typeface="+mn-cs"/>
              </a:rPr>
              <a:t>(VDR); and Audio </a:t>
            </a:r>
            <a:r>
              <a:rPr kumimoji="0" lang="en-US" sz="2300" b="1" i="0" u="none" strike="noStrike" kern="1200" cap="none" spc="0" normalizeH="0" baseline="0" noProof="0" dirty="0" smtClean="0">
                <a:ln>
                  <a:noFill/>
                </a:ln>
                <a:solidFill>
                  <a:schemeClr val="tx1"/>
                </a:solidFill>
                <a:effectLst/>
                <a:uLnTx/>
                <a:uFillTx/>
                <a:latin typeface="+mn-lt"/>
                <a:ea typeface="+mn-ea"/>
                <a:cs typeface="+mn-cs"/>
              </a:rPr>
              <a:t>Retrieval</a:t>
            </a:r>
            <a:r>
              <a:rPr kumimoji="0" lang="en-US" sz="2300" b="0" i="0" u="none" strike="noStrike" kern="1200" cap="none" spc="0" normalizeH="0" baseline="0" noProof="0" dirty="0" smtClean="0">
                <a:ln>
                  <a:noFill/>
                </a:ln>
                <a:solidFill>
                  <a:schemeClr val="tx1"/>
                </a:solidFill>
                <a:effectLst/>
                <a:uLnTx/>
                <a:uFillTx/>
                <a:latin typeface="+mn-lt"/>
                <a:ea typeface="+mn-ea"/>
                <a:cs typeface="+mn-cs"/>
              </a:rPr>
              <a:t> (AR) </a:t>
            </a:r>
            <a:r>
              <a:rPr kumimoji="0" lang="en-US" sz="2300" b="1" i="0" u="none" strike="noStrike" kern="1200" cap="none" spc="0" normalizeH="0" baseline="0" noProof="0" dirty="0" smtClean="0">
                <a:ln>
                  <a:noFill/>
                </a:ln>
                <a:solidFill>
                  <a:schemeClr val="tx1"/>
                </a:solidFill>
                <a:effectLst/>
                <a:uLnTx/>
                <a:uFillTx/>
                <a:latin typeface="+mn-lt"/>
                <a:ea typeface="+mn-ea"/>
                <a:cs typeface="+mn-cs"/>
              </a:rPr>
              <a:t>systems</a:t>
            </a:r>
            <a:r>
              <a:rPr kumimoji="0" lang="en-US" sz="2300" b="0" i="0" u="none" strike="noStrike" kern="1200" cap="none" spc="0" normalizeH="0" baseline="0" noProof="0" dirty="0" smtClean="0">
                <a:ln>
                  <a:noFill/>
                </a:ln>
                <a:solidFill>
                  <a:schemeClr val="tx1"/>
                </a:solidFill>
                <a:effectLst/>
                <a:uLnTx/>
                <a:uFillTx/>
                <a:latin typeface="+mn-lt"/>
                <a:ea typeface="+mn-ea"/>
                <a:cs typeface="+mn-cs"/>
              </a:rPr>
              <a:t>. ... Such an approach is known as the Content Based </a:t>
            </a:r>
            <a:r>
              <a:rPr kumimoji="0" lang="en-US" sz="2300" b="1" i="0" u="none" strike="noStrike" kern="1200" cap="none" spc="0" normalizeH="0" baseline="0" noProof="0" dirty="0" smtClean="0">
                <a:ln>
                  <a:noFill/>
                </a:ln>
                <a:solidFill>
                  <a:schemeClr val="tx1"/>
                </a:solidFill>
                <a:effectLst/>
                <a:uLnTx/>
                <a:uFillTx/>
                <a:latin typeface="+mn-lt"/>
                <a:ea typeface="+mn-ea"/>
                <a:cs typeface="+mn-cs"/>
              </a:rPr>
              <a:t>Information Retrieval</a:t>
            </a:r>
            <a:r>
              <a:rPr kumimoji="0" lang="en-US" sz="2300" b="0" i="0" u="none" strike="noStrike" kern="1200" cap="none" spc="0" normalizeH="0" baseline="0" noProof="0" dirty="0" smtClean="0">
                <a:ln>
                  <a:noFill/>
                </a:ln>
                <a:solidFill>
                  <a:schemeClr val="tx1"/>
                </a:solidFill>
                <a:effectLst/>
                <a:uLnTx/>
                <a:uFillTx/>
                <a:latin typeface="+mn-lt"/>
                <a:ea typeface="+mn-ea"/>
                <a:cs typeface="+mn-cs"/>
              </a:rPr>
              <a:t> (CBIR), and is the core of MIR.</a:t>
            </a:r>
            <a:endParaRPr kumimoji="0" lang="en-US" sz="23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Char char=""/>
              <a:defRPr/>
            </a:pPr>
            <a:endParaRPr kumimoji="0" lang="en-US" sz="1800" b="0" i="0" u="none" strike="noStrike" kern="1200" cap="none" spc="0" normalizeH="0" baseline="0" noProof="0" dirty="0" smtClean="0">
              <a:ln>
                <a:noFill/>
              </a:ln>
              <a:solidFill>
                <a:schemeClr val="tx1"/>
              </a:solidFill>
              <a:effectLst/>
              <a:uLnTx/>
              <a:uFillTx/>
              <a:latin typeface="+mn-lt"/>
              <a:ea typeface="+mn-ea"/>
              <a:cs typeface="+mn-cs"/>
            </a:endParaRPr>
          </a:p>
          <a:p>
            <a:pPr marL="641350" marR="0" lvl="1" indent="-274320" algn="l" defTabSz="914400" rtl="0" eaLnBrk="1" fontAlgn="auto" latinLnBrk="0" hangingPunct="1">
              <a:lnSpc>
                <a:spcPct val="100000"/>
              </a:lnSpc>
              <a:spcBef>
                <a:spcPct val="20000"/>
              </a:spcBef>
              <a:spcAft>
                <a:spcPts val="0"/>
              </a:spcAft>
              <a:buClr>
                <a:schemeClr val="accent3"/>
              </a:buClr>
              <a:buSzPct val="85000"/>
              <a:buFont typeface="Wingdings 2"/>
              <a:buChar char=""/>
              <a:defRPr/>
            </a:pPr>
            <a:endParaRPr kumimoji="0" lang="en-US" sz="1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itchFamily="18" charset="2"/>
              <a:buNone/>
              <a:defRPr/>
            </a:pPr>
            <a:endParaRPr kumimoji="0" lang="en-US" sz="22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Title 1"/>
          <p:cNvSpPr>
            <a:spLocks noGrp="1"/>
          </p:cNvSpPr>
          <p:nvPr>
            <p:ph type="title"/>
          </p:nvPr>
        </p:nvSpPr>
        <p:spPr>
          <a:ln/>
        </p:spPr>
        <p:txBody>
          <a:bodyPr vert="horz" wrap="square" lIns="0" tIns="45720" rIns="0" bIns="0" anchor="b" anchorCtr="0"/>
          <a:p>
            <a:r>
              <a:rPr dirty="0"/>
              <a:t>Examples of IR systems</a:t>
            </a:r>
            <a:endParaRPr dirty="0"/>
          </a:p>
        </p:txBody>
      </p:sp>
      <p:sp>
        <p:nvSpPr>
          <p:cNvPr id="3" name="Content Placeholder 2"/>
          <p:cNvSpPr>
            <a:spLocks noGrp="1"/>
          </p:cNvSpPr>
          <p:nvPr>
            <p:ph idx="1"/>
          </p:nvPr>
        </p:nvSpPr>
        <p:spPr>
          <a:xfrm>
            <a:off x="457200" y="1935163"/>
            <a:ext cx="8229600" cy="4389438"/>
          </a:xfrm>
        </p:spPr>
        <p:txBody>
          <a:bodyPr vert="horz" wrap="square" lIns="91440" tIns="45720" rIns="91440" bIns="45720" numCol="1" anchor="t" anchorCtr="0" compatLnSpc="1"/>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Char char=""/>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Question answering systems (</a:t>
            </a:r>
            <a:r>
              <a:rPr kumimoji="0" lang="en-US" sz="2800" b="0" i="0" u="none" strike="noStrike" kern="1200" cap="none" spc="0" normalizeH="0" baseline="0" noProof="0" dirty="0" err="1" smtClean="0">
                <a:ln>
                  <a:noFill/>
                </a:ln>
                <a:solidFill>
                  <a:schemeClr val="tx1"/>
                </a:solidFill>
                <a:effectLst/>
                <a:uLnTx/>
                <a:uFillTx/>
                <a:latin typeface="+mn-lt"/>
                <a:ea typeface="+mn-ea"/>
                <a:cs typeface="+mn-cs"/>
              </a:rPr>
              <a:t>AskJeeves</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 </a:t>
            </a:r>
            <a:r>
              <a:rPr kumimoji="0" lang="en-US" sz="2800" b="0" i="0" u="none" strike="noStrike" kern="1200" cap="none" spc="0" normalizeH="0" baseline="0" noProof="0" dirty="0" err="1" smtClean="0">
                <a:ln>
                  <a:noFill/>
                </a:ln>
                <a:solidFill>
                  <a:schemeClr val="tx1"/>
                </a:solidFill>
                <a:effectLst/>
                <a:uLnTx/>
                <a:uFillTx/>
                <a:latin typeface="+mn-lt"/>
                <a:ea typeface="+mn-ea"/>
                <a:cs typeface="+mn-cs"/>
              </a:rPr>
              <a:t>Answerbus</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 </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Search in (restricted) natural language</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641350" marR="0" lvl="1" indent="-274320" algn="l" defTabSz="914400" rtl="0" eaLnBrk="1" fontAlgn="auto" latinLnBrk="0" hangingPunct="1">
              <a:lnSpc>
                <a:spcPct val="100000"/>
              </a:lnSpc>
              <a:spcBef>
                <a:spcPct val="20000"/>
              </a:spcBef>
              <a:spcAft>
                <a:spcPts val="0"/>
              </a:spcAft>
              <a:buClr>
                <a:schemeClr val="accent3"/>
              </a:buClr>
              <a:buSzPct val="85000"/>
              <a:buFont typeface="Wingdings 2"/>
              <a:buChar char=""/>
              <a:defRPr/>
            </a:pPr>
            <a:r>
              <a:rPr kumimoji="0" lang="en-US" sz="2500" b="1" i="0" u="none" strike="noStrike" kern="1200" cap="none" spc="0" normalizeH="0" baseline="0" noProof="0" dirty="0" smtClean="0">
                <a:ln>
                  <a:noFill/>
                </a:ln>
                <a:solidFill>
                  <a:schemeClr val="tx1"/>
                </a:solidFill>
                <a:effectLst/>
                <a:uLnTx/>
                <a:uFillTx/>
                <a:latin typeface="+mn-lt"/>
                <a:ea typeface="+mn-ea"/>
                <a:cs typeface="+mn-cs"/>
              </a:rPr>
              <a:t>Question answering</a:t>
            </a:r>
            <a:r>
              <a:rPr kumimoji="0" lang="en-US" sz="2500" b="0" i="0" u="none" strike="noStrike" kern="1200" cap="none" spc="0" normalizeH="0" baseline="0" noProof="0" dirty="0" smtClean="0">
                <a:ln>
                  <a:noFill/>
                </a:ln>
                <a:solidFill>
                  <a:schemeClr val="tx1"/>
                </a:solidFill>
                <a:effectLst/>
                <a:uLnTx/>
                <a:uFillTx/>
                <a:latin typeface="+mn-lt"/>
                <a:ea typeface="+mn-ea"/>
                <a:cs typeface="+mn-cs"/>
              </a:rPr>
              <a:t> (QA) is a computing discipline within the fields of information retrieval and natural language processing (NLP), which is concerned with building </a:t>
            </a:r>
            <a:r>
              <a:rPr kumimoji="0" lang="en-US" sz="2500" b="1" i="0" u="none" strike="noStrike" kern="1200" cap="none" spc="0" normalizeH="0" baseline="0" noProof="0" dirty="0" smtClean="0">
                <a:ln>
                  <a:noFill/>
                </a:ln>
                <a:solidFill>
                  <a:schemeClr val="tx1"/>
                </a:solidFill>
                <a:effectLst/>
                <a:uLnTx/>
                <a:uFillTx/>
                <a:latin typeface="+mn-lt"/>
                <a:ea typeface="+mn-ea"/>
                <a:cs typeface="+mn-cs"/>
              </a:rPr>
              <a:t>systems</a:t>
            </a:r>
            <a:r>
              <a:rPr kumimoji="0" lang="en-US" sz="2500" b="0" i="0" u="none" strike="noStrike" kern="1200" cap="none" spc="0" normalizeH="0" baseline="0" noProof="0" dirty="0" smtClean="0">
                <a:ln>
                  <a:noFill/>
                </a:ln>
                <a:solidFill>
                  <a:schemeClr val="tx1"/>
                </a:solidFill>
                <a:effectLst/>
                <a:uLnTx/>
                <a:uFillTx/>
                <a:latin typeface="+mn-lt"/>
                <a:ea typeface="+mn-ea"/>
                <a:cs typeface="+mn-cs"/>
              </a:rPr>
              <a:t> that automatically </a:t>
            </a:r>
            <a:r>
              <a:rPr kumimoji="0" lang="en-US" sz="2500" b="1" i="0" u="none" strike="noStrike" kern="1200" cap="none" spc="0" normalizeH="0" baseline="0" noProof="0" dirty="0" smtClean="0">
                <a:ln>
                  <a:noFill/>
                </a:ln>
                <a:solidFill>
                  <a:schemeClr val="tx1"/>
                </a:solidFill>
                <a:effectLst/>
                <a:uLnTx/>
                <a:uFillTx/>
                <a:latin typeface="+mn-lt"/>
                <a:ea typeface="+mn-ea"/>
                <a:cs typeface="+mn-cs"/>
              </a:rPr>
              <a:t>answer questions</a:t>
            </a:r>
            <a:r>
              <a:rPr kumimoji="0" lang="en-US" sz="2500" b="0" i="0" u="none" strike="noStrike" kern="1200" cap="none" spc="0" normalizeH="0" baseline="0" noProof="0" dirty="0" smtClean="0">
                <a:ln>
                  <a:noFill/>
                </a:ln>
                <a:solidFill>
                  <a:schemeClr val="tx1"/>
                </a:solidFill>
                <a:effectLst/>
                <a:uLnTx/>
                <a:uFillTx/>
                <a:latin typeface="+mn-lt"/>
                <a:ea typeface="+mn-ea"/>
                <a:cs typeface="+mn-cs"/>
              </a:rPr>
              <a:t> posed by humans in a natural language</a:t>
            </a:r>
            <a:endParaRPr kumimoji="0" lang="en-US" sz="25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Title 1"/>
          <p:cNvSpPr>
            <a:spLocks noGrp="1"/>
          </p:cNvSpPr>
          <p:nvPr>
            <p:ph type="title"/>
          </p:nvPr>
        </p:nvSpPr>
        <p:spPr>
          <a:ln/>
        </p:spPr>
        <p:txBody>
          <a:bodyPr vert="horz" wrap="square" lIns="0" tIns="45720" rIns="0" bIns="0" anchor="b" anchorCtr="0"/>
          <a:p>
            <a:r>
              <a:rPr dirty="0"/>
              <a:t>Examples of IR systems</a:t>
            </a:r>
            <a:endParaRPr dirty="0"/>
          </a:p>
        </p:txBody>
      </p:sp>
      <p:sp>
        <p:nvSpPr>
          <p:cNvPr id="3" name="Content Placeholder 2"/>
          <p:cNvSpPr>
            <a:spLocks noGrp="1"/>
          </p:cNvSpPr>
          <p:nvPr>
            <p:ph idx="1"/>
          </p:nvPr>
        </p:nvSpPr>
        <p:spPr>
          <a:xfrm>
            <a:off x="457200" y="1935163"/>
            <a:ext cx="8229600" cy="4389438"/>
          </a:xfrm>
        </p:spPr>
        <p:txBody>
          <a:bodyPr vert="horz" wrap="square" lIns="91440" tIns="45720" rIns="91440" bIns="45720" numCol="1" anchor="t" anchorCtr="0" compatLnSpc="1"/>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Other: </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47015" algn="l" defTabSz="914400" rtl="0" eaLnBrk="1" fontAlgn="auto" latinLnBrk="0" hangingPunct="1">
              <a:lnSpc>
                <a:spcPct val="100000"/>
              </a:lnSpc>
              <a:spcBef>
                <a:spcPct val="20000"/>
              </a:spcBef>
              <a:spcAft>
                <a:spcPts val="0"/>
              </a:spcAft>
              <a:buClr>
                <a:schemeClr val="accent1"/>
              </a:buClr>
              <a:buSzPct val="85000"/>
              <a:buFont typeface="Wingdings 2"/>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Cross language information retrieval, (is a subfield of </a:t>
            </a:r>
            <a:r>
              <a:rPr kumimoji="0" lang="en-US" sz="2400" b="0" i="0" u="none" strike="noStrike" kern="1200" cap="none" spc="0" normalizeH="0" baseline="0" noProof="0" dirty="0" smtClean="0">
                <a:ln>
                  <a:noFill/>
                </a:ln>
                <a:solidFill>
                  <a:schemeClr val="tx1"/>
                </a:solidFill>
                <a:effectLst/>
                <a:uLnTx/>
                <a:uFillTx/>
                <a:latin typeface="+mn-lt"/>
                <a:ea typeface="+mn-ea"/>
                <a:cs typeface="+mn-cs"/>
                <a:hlinkClick r:id="rId1" tooltip="Information retrieval"/>
              </a:rPr>
              <a:t>information retrieval</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dealing with retrieving information written in a language different from the language of the user's query)</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47015" algn="l" defTabSz="914400" rtl="0" eaLnBrk="1" fontAlgn="auto" latinLnBrk="0" hangingPunct="1">
              <a:lnSpc>
                <a:spcPct val="100000"/>
              </a:lnSpc>
              <a:spcBef>
                <a:spcPct val="20000"/>
              </a:spcBef>
              <a:spcAft>
                <a:spcPts val="0"/>
              </a:spcAft>
              <a:buClr>
                <a:schemeClr val="accent1"/>
              </a:buClr>
              <a:buSzPct val="85000"/>
              <a:buFont typeface="Wingdings 2"/>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Music retrieval(</a:t>
            </a:r>
            <a:r>
              <a:rPr kumimoji="0" lang="en-US" sz="2400" b="1" i="0" u="none" strike="noStrike" kern="1200" cap="none" spc="0" normalizeH="0" baseline="0" noProof="0" dirty="0" smtClean="0">
                <a:ln>
                  <a:noFill/>
                </a:ln>
                <a:solidFill>
                  <a:schemeClr val="tx1"/>
                </a:solidFill>
                <a:effectLst/>
                <a:uLnTx/>
                <a:uFillTx/>
                <a:latin typeface="+mn-lt"/>
                <a:ea typeface="+mn-ea"/>
                <a:cs typeface="+mn-cs"/>
              </a:rPr>
              <a:t>Music</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information </a:t>
            </a:r>
            <a:r>
              <a:rPr kumimoji="0" lang="en-US" sz="2400" b="1" i="0" u="none" strike="noStrike" kern="1200" cap="none" spc="0" normalizeH="0" baseline="0" noProof="0" dirty="0" smtClean="0">
                <a:ln>
                  <a:noFill/>
                </a:ln>
                <a:solidFill>
                  <a:schemeClr val="tx1"/>
                </a:solidFill>
                <a:effectLst/>
                <a:uLnTx/>
                <a:uFillTx/>
                <a:latin typeface="+mn-lt"/>
                <a:ea typeface="+mn-ea"/>
                <a:cs typeface="+mn-cs"/>
              </a:rPr>
              <a:t>retrieval</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(MIR) is the interdisciplinary science of </a:t>
            </a:r>
            <a:r>
              <a:rPr kumimoji="0" lang="en-US" sz="2400" b="1" i="0" u="none" strike="noStrike" kern="1200" cap="none" spc="0" normalizeH="0" baseline="0" noProof="0" dirty="0" smtClean="0">
                <a:ln>
                  <a:noFill/>
                </a:ln>
                <a:solidFill>
                  <a:schemeClr val="tx1"/>
                </a:solidFill>
                <a:effectLst/>
                <a:uLnTx/>
                <a:uFillTx/>
                <a:latin typeface="+mn-lt"/>
                <a:ea typeface="+mn-ea"/>
                <a:cs typeface="+mn-cs"/>
              </a:rPr>
              <a:t>retrieving </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information from </a:t>
            </a:r>
            <a:r>
              <a:rPr kumimoji="0" lang="en-US" sz="2400" b="1" i="0" u="none" strike="noStrike" kern="1200" cap="none" spc="0" normalizeH="0" baseline="0" noProof="0" dirty="0" smtClean="0">
                <a:ln>
                  <a:noFill/>
                </a:ln>
                <a:solidFill>
                  <a:schemeClr val="tx1"/>
                </a:solidFill>
                <a:effectLst/>
                <a:uLnTx/>
                <a:uFillTx/>
                <a:latin typeface="+mn-lt"/>
                <a:ea typeface="+mn-ea"/>
                <a:cs typeface="+mn-cs"/>
              </a:rPr>
              <a:t>music</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MIR is a small but growing field of research with many real-world applications.)</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l" defTabSz="914400" rtl="0" eaLnBrk="0" fontAlgn="base" latinLnBrk="0" hangingPunct="0">
              <a:lnSpc>
                <a:spcPct val="100000"/>
              </a:lnSpc>
              <a:spcBef>
                <a:spcPct val="20000"/>
              </a:spcBef>
              <a:spcAft>
                <a:spcPct val="0"/>
              </a:spcAft>
              <a:buClr>
                <a:srgbClr val="0BD0D9"/>
              </a:buClr>
              <a:buSzPct val="95000"/>
              <a:buFont typeface="Wingdings 2" pitchFamily="18" charset="2"/>
              <a:buChar char=""/>
              <a:defRPr/>
            </a:pPr>
            <a:endParaRPr kumimoji="0" lang="en-US" sz="26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2"/>
          <p:cNvSpPr>
            <a:spLocks noGrp="1" noChangeArrowheads="1"/>
          </p:cNvSpPr>
          <p:nvPr>
            <p:ph type="title"/>
          </p:nvPr>
        </p:nvSpPr>
        <p:spPr>
          <a:xfrm>
            <a:off x="304800" y="304800"/>
            <a:ext cx="8610600" cy="457200"/>
          </a:xfrm>
        </p:spPr>
        <p:txBody>
          <a:bodyPr vert="horz" wrap="square" lIns="0" tIns="45720" rIns="0" bIns="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000" b="0" i="0" u="none" strike="noStrike" kern="1200" cap="none" spc="0" normalizeH="0" baseline="0" noProof="0" smtClean="0">
                <a:ln>
                  <a:noFill/>
                </a:ln>
                <a:solidFill>
                  <a:schemeClr val="tx2"/>
                </a:solidFill>
                <a:effectLst/>
                <a:uLnTx/>
                <a:uFillTx/>
                <a:latin typeface="+mj-lt"/>
                <a:ea typeface="+mj-ea"/>
                <a:cs typeface="+mj-cs"/>
              </a:rPr>
              <a:t>General Goal of Information Retrieval</a:t>
            </a:r>
            <a:endParaRPr kumimoji="0" lang="en-US" sz="4000" b="0" i="0" u="none" strike="noStrike" kern="1200" cap="none" spc="0" normalizeH="0" baseline="0" noProof="0" smtClean="0">
              <a:ln>
                <a:noFill/>
              </a:ln>
              <a:solidFill>
                <a:schemeClr val="tx2"/>
              </a:solidFill>
              <a:effectLst/>
              <a:uLnTx/>
              <a:uFillTx/>
              <a:latin typeface="+mj-lt"/>
              <a:ea typeface="+mj-ea"/>
              <a:cs typeface="+mj-cs"/>
            </a:endParaRPr>
          </a:p>
        </p:txBody>
      </p:sp>
      <p:sp>
        <p:nvSpPr>
          <p:cNvPr id="23555" name="Rectangle 3"/>
          <p:cNvSpPr>
            <a:spLocks noGrp="1"/>
          </p:cNvSpPr>
          <p:nvPr>
            <p:ph idx="1"/>
          </p:nvPr>
        </p:nvSpPr>
        <p:spPr>
          <a:xfrm>
            <a:off x="381000" y="990600"/>
            <a:ext cx="8229600" cy="5715000"/>
          </a:xfrm>
          <a:ln/>
        </p:spPr>
        <p:txBody>
          <a:bodyPr vert="horz" wrap="square" lIns="91440" tIns="45720" rIns="91440" bIns="45720" anchor="t" anchorCtr="0"/>
          <a:p>
            <a:pPr marL="225425" indent="-225425" eaLnBrk="1" hangingPunct="1"/>
            <a:r>
              <a:rPr sz="2800" dirty="0"/>
              <a:t>To help users find useful information based on their information needs (with a minimum effort) despite</a:t>
            </a:r>
            <a:endParaRPr sz="2800" dirty="0"/>
          </a:p>
          <a:p>
            <a:pPr marL="516255" lvl="1" indent="-176530" eaLnBrk="1" hangingPunct="1"/>
            <a:r>
              <a:rPr dirty="0"/>
              <a:t>Increasing complexity of Information</a:t>
            </a:r>
            <a:endParaRPr dirty="0"/>
          </a:p>
          <a:p>
            <a:pPr marL="516255" lvl="1" indent="-176530" eaLnBrk="1" hangingPunct="1"/>
            <a:r>
              <a:rPr dirty="0"/>
              <a:t>Changing needs of user</a:t>
            </a:r>
            <a:endParaRPr dirty="0"/>
          </a:p>
          <a:p>
            <a:pPr marL="516255" lvl="1" indent="-176530" eaLnBrk="1" hangingPunct="1">
              <a:buFontTx/>
              <a:buNone/>
            </a:pPr>
            <a:endParaRPr sz="800" dirty="0"/>
          </a:p>
          <a:p>
            <a:pPr marL="225425" indent="-225425" eaLnBrk="1" hangingPunct="1"/>
            <a:r>
              <a:rPr sz="2800" dirty="0"/>
              <a:t>Provide immediate random access to the document collection.</a:t>
            </a:r>
            <a:endParaRPr sz="2800" dirty="0"/>
          </a:p>
          <a:p>
            <a:pPr marL="225425" indent="-225425" eaLnBrk="1" hangingPunct="1"/>
            <a:endParaRPr sz="900" dirty="0"/>
          </a:p>
          <a:p>
            <a:pPr marL="225425" indent="-225425" eaLnBrk="1" hangingPunct="1"/>
            <a:r>
              <a:rPr sz="2800" dirty="0"/>
              <a:t>Retrieval systems, such as Google, Yahoo, are developed with this aim.</a:t>
            </a:r>
            <a:endParaRPr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2"/>
          <p:cNvSpPr>
            <a:spLocks noGrp="1"/>
          </p:cNvSpPr>
          <p:nvPr>
            <p:ph type="title"/>
          </p:nvPr>
        </p:nvSpPr>
        <p:spPr>
          <a:xfrm>
            <a:off x="152400" y="228600"/>
            <a:ext cx="8839200" cy="609600"/>
          </a:xfrm>
          <a:ln/>
        </p:spPr>
        <p:txBody>
          <a:bodyPr vert="horz" wrap="square" lIns="0" tIns="45720" rIns="0" bIns="0" anchor="b" anchorCtr="0"/>
          <a:p>
            <a:pPr eaLnBrk="1" hangingPunct="1"/>
            <a:r>
              <a:rPr sz="3600" dirty="0"/>
              <a:t>Information Retrieval vs. Data Retrieval</a:t>
            </a:r>
            <a:endParaRPr sz="3600" dirty="0"/>
          </a:p>
        </p:txBody>
      </p:sp>
      <p:sp>
        <p:nvSpPr>
          <p:cNvPr id="21507" name="Rectangle 3"/>
          <p:cNvSpPr>
            <a:spLocks noGrp="1" noChangeArrowheads="1"/>
          </p:cNvSpPr>
          <p:nvPr>
            <p:ph idx="1"/>
          </p:nvPr>
        </p:nvSpPr>
        <p:spPr>
          <a:xfrm>
            <a:off x="133350" y="838200"/>
            <a:ext cx="8915400" cy="5715000"/>
          </a:xfrm>
        </p:spPr>
        <p:txBody>
          <a:bodyPr vert="horz" wrap="square" lIns="91440" tIns="45720" rIns="91440" bIns="45720" numCol="1" anchor="t" anchorCtr="0" compatLnSpc="1">
            <a:normAutofit lnSpcReduction="10000"/>
          </a:bodyPr>
          <a:lstStyle/>
          <a:p>
            <a:pPr marL="274320" marR="0" lvl="0" indent="-274320" algn="l" defTabSz="914400" rtl="0" eaLnBrk="1" fontAlgn="auto" latinLnBrk="0" hangingPunct="1">
              <a:lnSpc>
                <a:spcPct val="80000"/>
              </a:lnSpc>
              <a:spcBef>
                <a:spcPct val="20000"/>
              </a:spcBef>
              <a:spcAft>
                <a:spcPts val="0"/>
              </a:spcAft>
              <a:buClr>
                <a:schemeClr val="accent3"/>
              </a:buClr>
              <a:buSzPct val="95000"/>
              <a:buFont typeface="Wingdings 2"/>
              <a:buChar char=""/>
              <a:defRPr/>
            </a:pPr>
            <a:r>
              <a:rPr kumimoji="0" lang="en-GB" sz="2400" b="0" i="0" u="none" strike="noStrike" kern="1200" cap="none" spc="0" normalizeH="0" baseline="0" noProof="0" dirty="0" smtClean="0">
                <a:ln>
                  <a:noFill/>
                </a:ln>
                <a:solidFill>
                  <a:schemeClr val="tx1"/>
                </a:solidFill>
                <a:effectLst/>
                <a:uLnTx/>
                <a:uFillTx/>
                <a:latin typeface="+mn-lt"/>
                <a:ea typeface="+mn-ea"/>
                <a:cs typeface="+mn-cs"/>
              </a:rPr>
              <a:t>Emphasis of IR is on the retrieval of information, rather than on the retrieval of data</a:t>
            </a: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1630" marR="0" lvl="0" indent="-341630" algn="l" defTabSz="914400" rtl="0" eaLnBrk="1" fontAlgn="auto" latinLnBrk="0" hangingPunct="1">
              <a:lnSpc>
                <a:spcPct val="93000"/>
              </a:lnSpc>
              <a:spcBef>
                <a:spcPts val="700"/>
              </a:spcBef>
              <a:spcAft>
                <a:spcPts val="0"/>
              </a:spcAft>
              <a:buClr>
                <a:srgbClr val="FF9966"/>
              </a:buClr>
              <a:buSzPct val="50000"/>
              <a:buFont typeface="Monotype Sort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kumimoji="0" lang="en-GB" sz="2400" b="1" i="0" u="none" strike="noStrike" kern="1200" cap="none" spc="0" normalizeH="0" baseline="0" noProof="0" dirty="0" smtClean="0">
                <a:ln>
                  <a:noFill/>
                </a:ln>
                <a:solidFill>
                  <a:schemeClr val="tx1"/>
                </a:solidFill>
                <a:effectLst/>
                <a:uLnTx/>
                <a:uFillTx/>
                <a:latin typeface="Tahoma" panose="020B0604030504040204" pitchFamily="34" charset="0"/>
                <a:ea typeface="+mn-ea"/>
                <a:cs typeface="Tahoma" panose="020B0604030504040204" pitchFamily="34" charset="0"/>
              </a:rPr>
              <a:t>Data retrieval</a:t>
            </a:r>
            <a:endParaRPr kumimoji="0" lang="en-GB" sz="2400" b="1" i="0" u="none" strike="noStrike" kern="1200" cap="none" spc="0" normalizeH="0" baseline="0" noProof="0" dirty="0" smtClean="0">
              <a:ln>
                <a:noFill/>
              </a:ln>
              <a:solidFill>
                <a:schemeClr val="tx1"/>
              </a:solidFill>
              <a:effectLst/>
              <a:uLnTx/>
              <a:uFillTx/>
              <a:latin typeface="Tahoma" panose="020B0604030504040204" pitchFamily="34" charset="0"/>
              <a:ea typeface="+mn-ea"/>
              <a:cs typeface="Tahoma" panose="020B0604030504040204" pitchFamily="34" charset="0"/>
            </a:endParaRPr>
          </a:p>
          <a:p>
            <a:pPr marL="741680" marR="0" lvl="1" indent="-284480" algn="l" defTabSz="914400" rtl="0" eaLnBrk="1" fontAlgn="auto" latinLnBrk="0" hangingPunct="1">
              <a:lnSpc>
                <a:spcPct val="100000"/>
              </a:lnSpc>
              <a:spcBef>
                <a:spcPts val="650"/>
              </a:spcBef>
              <a:spcAft>
                <a:spcPts val="0"/>
              </a:spcAft>
              <a:buClr>
                <a:srgbClr val="336699"/>
              </a:buClr>
              <a:buSzPct val="75000"/>
              <a:buFont typeface="Monotype Sort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kumimoji="0" lang="en-GB" sz="2200" b="0" i="0" u="none" strike="noStrike" kern="1200" cap="none" spc="0" normalizeH="0" baseline="0" noProof="0" dirty="0" smtClean="0">
                <a:ln>
                  <a:noFill/>
                </a:ln>
                <a:solidFill>
                  <a:schemeClr val="tx1"/>
                </a:solidFill>
                <a:effectLst/>
                <a:uLnTx/>
                <a:uFillTx/>
                <a:latin typeface="Tahoma" panose="020B0604030504040204" pitchFamily="34" charset="0"/>
                <a:ea typeface="MS Gothic" panose="020B0609070205080204" pitchFamily="49" charset="-128"/>
                <a:cs typeface="Tahoma" panose="020B0604030504040204" pitchFamily="34" charset="0"/>
              </a:rPr>
              <a:t>Consists mainly of determining which documents contain a set of keywords in the user query (which is not enough to satisfy the user information need)</a:t>
            </a:r>
            <a:endParaRPr kumimoji="0" lang="en-GB" sz="2200" b="0" i="0" u="none" strike="noStrike" kern="1200" cap="none" spc="0" normalizeH="0" baseline="0" noProof="0" dirty="0" smtClean="0">
              <a:ln>
                <a:noFill/>
              </a:ln>
              <a:solidFill>
                <a:schemeClr val="tx1"/>
              </a:solidFill>
              <a:effectLst/>
              <a:uLnTx/>
              <a:uFillTx/>
              <a:latin typeface="Tahoma" panose="020B0604030504040204" pitchFamily="34" charset="0"/>
              <a:ea typeface="MS Gothic" panose="020B0609070205080204" pitchFamily="49" charset="-128"/>
              <a:cs typeface="Tahoma" panose="020B0604030504040204" pitchFamily="34" charset="0"/>
            </a:endParaRPr>
          </a:p>
          <a:p>
            <a:pPr marL="741680" marR="0" lvl="1" indent="-284480" algn="l" defTabSz="914400" rtl="0" eaLnBrk="1" fontAlgn="auto" latinLnBrk="0" hangingPunct="1">
              <a:lnSpc>
                <a:spcPct val="100000"/>
              </a:lnSpc>
              <a:spcBef>
                <a:spcPts val="650"/>
              </a:spcBef>
              <a:spcAft>
                <a:spcPts val="0"/>
              </a:spcAft>
              <a:buClr>
                <a:srgbClr val="336699"/>
              </a:buClr>
              <a:buSzPct val="75000"/>
              <a:buFont typeface="Monotype Sort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kumimoji="0" lang="en-GB" sz="2200" b="0" i="0" u="none" strike="noStrike" kern="1200" cap="none" spc="0" normalizeH="0" baseline="0" noProof="0" dirty="0" smtClean="0">
                <a:ln>
                  <a:noFill/>
                </a:ln>
                <a:solidFill>
                  <a:schemeClr val="tx1"/>
                </a:solidFill>
                <a:effectLst/>
                <a:uLnTx/>
                <a:uFillTx/>
                <a:latin typeface="Tahoma" panose="020B0604030504040204" pitchFamily="34" charset="0"/>
                <a:ea typeface="MS Gothic" panose="020B0609070205080204" pitchFamily="49" charset="-128"/>
                <a:cs typeface="Tahoma" panose="020B0604030504040204" pitchFamily="34" charset="0"/>
              </a:rPr>
              <a:t>Aims at retrieving all objects that satisfy well defined semantics </a:t>
            </a:r>
            <a:endParaRPr kumimoji="0" lang="en-GB" sz="2200" b="0" i="0" u="none" strike="noStrike" kern="1200" cap="none" spc="0" normalizeH="0" baseline="0" noProof="0" dirty="0" smtClean="0">
              <a:ln>
                <a:noFill/>
              </a:ln>
              <a:solidFill>
                <a:schemeClr val="tx1"/>
              </a:solidFill>
              <a:effectLst/>
              <a:uLnTx/>
              <a:uFillTx/>
              <a:latin typeface="Tahoma" panose="020B0604030504040204" pitchFamily="34" charset="0"/>
              <a:ea typeface="MS Gothic" panose="020B0609070205080204" pitchFamily="49" charset="-128"/>
              <a:cs typeface="Tahoma" panose="020B0604030504040204" pitchFamily="34" charset="0"/>
            </a:endParaRPr>
          </a:p>
          <a:p>
            <a:pPr marL="741680" marR="0" lvl="1" indent="-284480" algn="l" defTabSz="914400" rtl="0" eaLnBrk="1" fontAlgn="auto" latinLnBrk="0" hangingPunct="1">
              <a:lnSpc>
                <a:spcPct val="100000"/>
              </a:lnSpc>
              <a:spcBef>
                <a:spcPts val="650"/>
              </a:spcBef>
              <a:spcAft>
                <a:spcPts val="0"/>
              </a:spcAft>
              <a:buClr>
                <a:srgbClr val="336699"/>
              </a:buClr>
              <a:buSzPct val="75000"/>
              <a:buFont typeface="Monotype Sort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kumimoji="0" lang="en-GB" sz="2200" b="0" i="0" u="none" strike="noStrike" kern="1200" cap="none" spc="0" normalizeH="0" baseline="0" noProof="0" dirty="0" smtClean="0">
                <a:ln>
                  <a:noFill/>
                </a:ln>
                <a:solidFill>
                  <a:schemeClr val="tx1"/>
                </a:solidFill>
                <a:effectLst/>
                <a:uLnTx/>
                <a:uFillTx/>
                <a:latin typeface="Tahoma" panose="020B0604030504040204" pitchFamily="34" charset="0"/>
                <a:ea typeface="MS Gothic" panose="020B0609070205080204" pitchFamily="49" charset="-128"/>
                <a:cs typeface="Tahoma" panose="020B0604030504040204" pitchFamily="34" charset="0"/>
              </a:rPr>
              <a:t>a single erroneous object among a thousand retrieved objects implies failure</a:t>
            </a:r>
            <a:endParaRPr kumimoji="0" lang="en-GB" sz="2200" b="0" i="0" u="none" strike="noStrike" kern="1200" cap="none" spc="0" normalizeH="0" baseline="0" noProof="0" dirty="0" smtClean="0">
              <a:ln>
                <a:noFill/>
              </a:ln>
              <a:solidFill>
                <a:schemeClr val="tx1"/>
              </a:solidFill>
              <a:effectLst/>
              <a:uLnTx/>
              <a:uFillTx/>
              <a:latin typeface="Tahoma" panose="020B0604030504040204" pitchFamily="34" charset="0"/>
              <a:ea typeface="MS Gothic" panose="020B0609070205080204" pitchFamily="49" charset="-128"/>
              <a:cs typeface="Tahoma" panose="020B0604030504040204" pitchFamily="34" charset="0"/>
            </a:endParaRPr>
          </a:p>
          <a:p>
            <a:pPr marL="341630" marR="0" lvl="0" indent="-341630" algn="l" defTabSz="914400" rtl="0" eaLnBrk="1" fontAlgn="auto" latinLnBrk="0" hangingPunct="1">
              <a:lnSpc>
                <a:spcPct val="100000"/>
              </a:lnSpc>
              <a:spcBef>
                <a:spcPts val="700"/>
              </a:spcBef>
              <a:spcAft>
                <a:spcPts val="0"/>
              </a:spcAft>
              <a:buClr>
                <a:srgbClr val="FF9966"/>
              </a:buClr>
              <a:buSzPct val="50000"/>
              <a:buFont typeface="Monotype Sort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kumimoji="0" lang="en-GB" sz="2400" b="1" i="0" u="none" strike="noStrike" kern="1200" cap="none" spc="0" normalizeH="0" baseline="0" noProof="0" dirty="0" smtClean="0">
                <a:ln>
                  <a:noFill/>
                </a:ln>
                <a:solidFill>
                  <a:schemeClr val="tx1"/>
                </a:solidFill>
                <a:effectLst/>
                <a:uLnTx/>
                <a:uFillTx/>
                <a:latin typeface="Tahoma" panose="020B0604030504040204" pitchFamily="34" charset="0"/>
                <a:ea typeface="+mn-ea"/>
                <a:cs typeface="Tahoma" panose="020B0604030504040204" pitchFamily="34" charset="0"/>
              </a:rPr>
              <a:t>Information retrieval</a:t>
            </a:r>
            <a:endParaRPr kumimoji="0" lang="en-GB" sz="2400" b="1" i="0" u="none" strike="noStrike" kern="1200" cap="none" spc="0" normalizeH="0" baseline="0" noProof="0" dirty="0" smtClean="0">
              <a:ln>
                <a:noFill/>
              </a:ln>
              <a:solidFill>
                <a:schemeClr val="tx1"/>
              </a:solidFill>
              <a:effectLst/>
              <a:uLnTx/>
              <a:uFillTx/>
              <a:latin typeface="Tahoma" panose="020B0604030504040204" pitchFamily="34" charset="0"/>
              <a:ea typeface="+mn-ea"/>
              <a:cs typeface="Tahoma" panose="020B0604030504040204" pitchFamily="34" charset="0"/>
            </a:endParaRPr>
          </a:p>
          <a:p>
            <a:pPr marL="741680" marR="0" lvl="1" indent="-284480" algn="l" defTabSz="914400" rtl="0" eaLnBrk="1" fontAlgn="auto" latinLnBrk="0" hangingPunct="1">
              <a:lnSpc>
                <a:spcPct val="100000"/>
              </a:lnSpc>
              <a:spcBef>
                <a:spcPts val="650"/>
              </a:spcBef>
              <a:spcAft>
                <a:spcPts val="0"/>
              </a:spcAft>
              <a:buClr>
                <a:srgbClr val="336699"/>
              </a:buClr>
              <a:buSzPct val="75000"/>
              <a:buFont typeface="Monotype Sort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kumimoji="0" lang="en-GB" sz="2200" b="0" i="0" u="none" strike="noStrike" kern="1200" cap="none" spc="0" normalizeH="0" baseline="0" noProof="0" dirty="0" smtClean="0">
                <a:ln>
                  <a:noFill/>
                </a:ln>
                <a:solidFill>
                  <a:schemeClr val="tx1"/>
                </a:solidFill>
                <a:effectLst/>
                <a:uLnTx/>
                <a:uFillTx/>
                <a:latin typeface="Tahoma" panose="020B0604030504040204" pitchFamily="34" charset="0"/>
                <a:ea typeface="MS Gothic" panose="020B0609070205080204" pitchFamily="49" charset="-128"/>
                <a:cs typeface="+mn-cs"/>
              </a:rPr>
              <a:t>Is concerned with retrieving information about a subject or topic than retrieving data which satisfies a given query</a:t>
            </a:r>
            <a:endParaRPr kumimoji="0" lang="en-GB" sz="2200" b="0" i="0" u="none" strike="noStrike" kern="1200" cap="none" spc="0" normalizeH="0" baseline="0" noProof="0" dirty="0" smtClean="0">
              <a:ln>
                <a:noFill/>
              </a:ln>
              <a:solidFill>
                <a:schemeClr val="tx1"/>
              </a:solidFill>
              <a:effectLst/>
              <a:uLnTx/>
              <a:uFillTx/>
              <a:latin typeface="Tahoma" panose="020B0604030504040204" pitchFamily="34" charset="0"/>
              <a:ea typeface="MS Gothic" panose="020B0609070205080204" pitchFamily="49" charset="-128"/>
              <a:cs typeface="+mn-cs"/>
            </a:endParaRPr>
          </a:p>
          <a:p>
            <a:pPr marL="741680" marR="0" lvl="1" indent="-284480" algn="l" defTabSz="914400" rtl="0" eaLnBrk="1" fontAlgn="auto" latinLnBrk="0" hangingPunct="1">
              <a:lnSpc>
                <a:spcPct val="100000"/>
              </a:lnSpc>
              <a:spcBef>
                <a:spcPts val="650"/>
              </a:spcBef>
              <a:spcAft>
                <a:spcPts val="0"/>
              </a:spcAft>
              <a:buClr>
                <a:srgbClr val="336699"/>
              </a:buClr>
              <a:buSzPct val="75000"/>
              <a:buFont typeface="Monotype Sort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kumimoji="0" lang="en-GB" sz="2200" b="0" i="0" u="none" strike="noStrike" kern="1200" cap="none" spc="0" normalizeH="0" baseline="0" noProof="0" dirty="0" smtClean="0">
                <a:ln>
                  <a:noFill/>
                </a:ln>
                <a:solidFill>
                  <a:schemeClr val="tx1"/>
                </a:solidFill>
                <a:effectLst/>
                <a:uLnTx/>
                <a:uFillTx/>
                <a:latin typeface="Tahoma" panose="020B0604030504040204" pitchFamily="34" charset="0"/>
                <a:ea typeface="MS Gothic" panose="020B0609070205080204" pitchFamily="49" charset="-128"/>
                <a:cs typeface="+mn-cs"/>
              </a:rPr>
              <a:t>semantics is frequently loose: the retrieved objects might be inaccurate </a:t>
            </a:r>
            <a:endParaRPr kumimoji="0" lang="en-GB" sz="2200" b="0" i="0" u="none" strike="noStrike" kern="1200" cap="none" spc="0" normalizeH="0" baseline="0" noProof="0" dirty="0" smtClean="0">
              <a:ln>
                <a:noFill/>
              </a:ln>
              <a:solidFill>
                <a:schemeClr val="tx1"/>
              </a:solidFill>
              <a:effectLst/>
              <a:uLnTx/>
              <a:uFillTx/>
              <a:latin typeface="Tahoma" panose="020B0604030504040204" pitchFamily="34" charset="0"/>
              <a:ea typeface="MS Gothic" panose="020B0609070205080204" pitchFamily="49" charset="-128"/>
              <a:cs typeface="+mn-cs"/>
            </a:endParaRPr>
          </a:p>
          <a:p>
            <a:pPr marL="741680" marR="0" lvl="1" indent="-284480" algn="l" defTabSz="914400" rtl="0" eaLnBrk="1" fontAlgn="auto" latinLnBrk="0" hangingPunct="1">
              <a:lnSpc>
                <a:spcPct val="100000"/>
              </a:lnSpc>
              <a:spcBef>
                <a:spcPts val="650"/>
              </a:spcBef>
              <a:spcAft>
                <a:spcPts val="0"/>
              </a:spcAft>
              <a:buClr>
                <a:srgbClr val="336699"/>
              </a:buClr>
              <a:buSzPct val="75000"/>
              <a:buFont typeface="Monotype Sort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kumimoji="0" lang="en-GB" sz="2200" b="0" i="0" u="none" strike="noStrike" kern="1200" cap="none" spc="0" normalizeH="0" baseline="0" noProof="0" dirty="0" smtClean="0">
                <a:ln>
                  <a:noFill/>
                </a:ln>
                <a:solidFill>
                  <a:schemeClr val="tx1"/>
                </a:solidFill>
                <a:effectLst/>
                <a:uLnTx/>
                <a:uFillTx/>
                <a:latin typeface="Tahoma" panose="020B0604030504040204" pitchFamily="34" charset="0"/>
                <a:ea typeface="MS Gothic" panose="020B0609070205080204" pitchFamily="49" charset="-128"/>
                <a:cs typeface="+mn-cs"/>
              </a:rPr>
              <a:t>small errors are tolerated</a:t>
            </a:r>
            <a:endParaRPr kumimoji="0" lang="en-GB" sz="2200" b="0" i="0" u="none" strike="noStrike" kern="1200" cap="none" spc="0" normalizeH="0" baseline="0" noProof="0" dirty="0" smtClean="0">
              <a:ln>
                <a:noFill/>
              </a:ln>
              <a:solidFill>
                <a:schemeClr val="tx1"/>
              </a:solidFill>
              <a:effectLst/>
              <a:uLnTx/>
              <a:uFillTx/>
              <a:latin typeface="Tahoma" panose="020B0604030504040204" pitchFamily="34" charset="0"/>
              <a:ea typeface="MS Gothic" panose="020B0609070205080204" pitchFamily="49" charset="-128"/>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2"/>
          <p:cNvSpPr>
            <a:spLocks noGrp="1" noChangeArrowheads="1"/>
          </p:cNvSpPr>
          <p:nvPr>
            <p:ph type="title"/>
          </p:nvPr>
        </p:nvSpPr>
        <p:spPr>
          <a:xfrm>
            <a:off x="228600" y="274638"/>
            <a:ext cx="8915400" cy="563563"/>
          </a:xfrm>
        </p:spPr>
        <p:txBody>
          <a:bodyPr vert="horz" wrap="square" lIns="0" tIns="45720" rIns="0" bIns="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800" b="0" i="0" u="none" strike="noStrike" kern="1200" cap="none" spc="0" normalizeH="0" baseline="0" noProof="0" dirty="0" smtClean="0">
                <a:ln>
                  <a:noFill/>
                </a:ln>
                <a:solidFill>
                  <a:schemeClr val="tx2"/>
                </a:solidFill>
                <a:effectLst/>
                <a:uLnTx/>
                <a:uFillTx/>
                <a:latin typeface="+mj-lt"/>
                <a:ea typeface="+mj-ea"/>
                <a:cs typeface="+mj-cs"/>
              </a:rPr>
              <a:t>Information Retrieval vs. Data Retrieval</a:t>
            </a:r>
            <a:endParaRPr kumimoji="0" lang="en-US" sz="3800" b="0" i="0" u="none" strike="noStrike" kern="1200" cap="none" spc="0" normalizeH="0" baseline="0" noProof="0" dirty="0" smtClean="0">
              <a:ln>
                <a:noFill/>
              </a:ln>
              <a:solidFill>
                <a:schemeClr val="tx2"/>
              </a:solidFill>
              <a:effectLst/>
              <a:uLnTx/>
              <a:uFillTx/>
              <a:latin typeface="+mj-lt"/>
              <a:ea typeface="+mj-ea"/>
              <a:cs typeface="+mj-cs"/>
            </a:endParaRPr>
          </a:p>
        </p:txBody>
      </p:sp>
      <p:sp>
        <p:nvSpPr>
          <p:cNvPr id="25603" name="Rectangle 3"/>
          <p:cNvSpPr>
            <a:spLocks noGrp="1"/>
          </p:cNvSpPr>
          <p:nvPr>
            <p:ph type="body" sz="half" idx="1"/>
          </p:nvPr>
        </p:nvSpPr>
        <p:spPr>
          <a:xfrm>
            <a:off x="77788" y="819150"/>
            <a:ext cx="9066212" cy="533400"/>
          </a:xfrm>
          <a:ln/>
        </p:spPr>
        <p:txBody>
          <a:bodyPr vert="horz" wrap="square" lIns="91440" tIns="45720" rIns="91440" bIns="45720" anchor="t" anchorCtr="0"/>
          <a:p>
            <a:pPr eaLnBrk="1" hangingPunct="1">
              <a:lnSpc>
                <a:spcPct val="90000"/>
              </a:lnSpc>
              <a:buClr>
                <a:srgbClr val="0BD0D9"/>
              </a:buClr>
              <a:buSzPct val="95000"/>
              <a:buFont typeface="Wingdings 2" pitchFamily="18" charset="2"/>
            </a:pPr>
            <a:r>
              <a:rPr sz="2400" dirty="0"/>
              <a:t>Example of data retrieval system is a relational database</a:t>
            </a:r>
            <a:endParaRPr sz="2400" dirty="0"/>
          </a:p>
        </p:txBody>
      </p:sp>
      <p:graphicFrame>
        <p:nvGraphicFramePr>
          <p:cNvPr id="14432" name="Group 96"/>
          <p:cNvGraphicFramePr>
            <a:graphicFrameLocks noGrp="1"/>
          </p:cNvGraphicFramePr>
          <p:nvPr>
            <p:ph sz="half" idx="1"/>
          </p:nvPr>
        </p:nvGraphicFramePr>
        <p:xfrm>
          <a:off x="76200" y="1223963"/>
          <a:ext cx="8915400" cy="5389563"/>
        </p:xfrm>
        <a:graphic>
          <a:graphicData uri="http://schemas.openxmlformats.org/drawingml/2006/table">
            <a:tbl>
              <a:tblPr/>
              <a:tblGrid>
                <a:gridCol w="2438400"/>
                <a:gridCol w="3276600"/>
                <a:gridCol w="3200400"/>
              </a:tblGrid>
              <a:tr h="518221">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endParaRPr kumimoji="0" lang="en-US" sz="2800" b="0" i="0" u="none" strike="noStrike" cap="none" normalizeH="0" baseline="0" dirty="0" smtClean="0">
                        <a:ln>
                          <a:noFill/>
                        </a:ln>
                        <a:solidFill>
                          <a:schemeClr val="tx1"/>
                        </a:solidFill>
                        <a:effectLst/>
                        <a:latin typeface="Arial" panose="020B0604020202020204" pitchFamily="34" charset="0"/>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1" i="0" u="none" strike="noStrike" cap="none" normalizeH="0" baseline="0" dirty="0" smtClean="0">
                          <a:ln>
                            <a:noFill/>
                          </a:ln>
                          <a:solidFill>
                            <a:schemeClr val="tx1"/>
                          </a:solidFill>
                          <a:effectLst/>
                          <a:latin typeface="Arial" panose="020B0604020202020204" pitchFamily="34" charset="0"/>
                        </a:rPr>
                        <a:t>Data Retrieval</a:t>
                      </a:r>
                      <a:endParaRPr kumimoji="0" lang="en-US" sz="2000" b="1" i="0" u="none" strike="noStrike" cap="none" normalizeH="0" baseline="0" dirty="0" smtClean="0">
                        <a:ln>
                          <a:noFill/>
                        </a:ln>
                        <a:solidFill>
                          <a:schemeClr val="tx1"/>
                        </a:solidFill>
                        <a:effectLst/>
                        <a:latin typeface="Arial" panose="020B0604020202020204" pitchFamily="34" charset="0"/>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1" i="0" u="none" strike="noStrike" cap="none" normalizeH="0" baseline="0" smtClean="0">
                          <a:ln>
                            <a:noFill/>
                          </a:ln>
                          <a:solidFill>
                            <a:schemeClr val="tx1"/>
                          </a:solidFill>
                          <a:effectLst/>
                          <a:latin typeface="Arial" panose="020B0604020202020204" pitchFamily="34" charset="0"/>
                        </a:rPr>
                        <a:t>Info Retrieval</a:t>
                      </a:r>
                      <a:endParaRPr kumimoji="0" lang="en-US" sz="2000" b="1" i="0" u="none" strike="noStrike" cap="none" normalizeH="0" baseline="0" smtClean="0">
                        <a:ln>
                          <a:noFill/>
                        </a:ln>
                        <a:solidFill>
                          <a:schemeClr val="tx1"/>
                        </a:solidFill>
                        <a:effectLst/>
                        <a:latin typeface="Arial" panose="020B0604020202020204" pitchFamily="34" charset="0"/>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287">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sz="2000" b="0" i="0" u="none" strike="noStrike" cap="none" normalizeH="0" baseline="0" dirty="0" smtClean="0">
                          <a:ln>
                            <a:noFill/>
                          </a:ln>
                          <a:solidFill>
                            <a:schemeClr val="tx1"/>
                          </a:solidFill>
                          <a:effectLst/>
                          <a:latin typeface="Arial" panose="020B0604020202020204" pitchFamily="34" charset="0"/>
                        </a:rPr>
                        <a:t>Data organization</a:t>
                      </a:r>
                      <a:endParaRPr kumimoji="0" lang="en-US" sz="2000" b="0" i="0" u="none" strike="noStrike" cap="none" normalizeH="0" baseline="0" dirty="0" smtClean="0">
                        <a:ln>
                          <a:noFill/>
                        </a:ln>
                        <a:solidFill>
                          <a:schemeClr val="tx1"/>
                        </a:solidFill>
                        <a:effectLst/>
                        <a:latin typeface="Arial" panose="020B0604020202020204" pitchFamily="34" charset="0"/>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sz="2000" b="0" i="0" u="none" strike="noStrike" cap="none" normalizeH="0" baseline="0" dirty="0" smtClean="0">
                          <a:ln>
                            <a:noFill/>
                          </a:ln>
                          <a:solidFill>
                            <a:schemeClr val="tx1"/>
                          </a:solidFill>
                          <a:effectLst/>
                          <a:latin typeface="Arial" panose="020B0604020202020204" pitchFamily="34" charset="0"/>
                        </a:rPr>
                        <a:t>Structured</a:t>
                      </a:r>
                      <a:endParaRPr kumimoji="0" lang="en-US" sz="2000" b="0" i="0" u="none" strike="noStrike" cap="none" normalizeH="0" baseline="0" dirty="0" smtClean="0">
                        <a:ln>
                          <a:noFill/>
                        </a:ln>
                        <a:solidFill>
                          <a:schemeClr val="tx1"/>
                        </a:solidFill>
                        <a:effectLst/>
                        <a:latin typeface="Arial" panose="020B0604020202020204" pitchFamily="34" charset="0"/>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sz="2000" b="0" i="0" u="none" strike="noStrike" cap="none" normalizeH="0" baseline="0" dirty="0" smtClean="0">
                          <a:ln>
                            <a:noFill/>
                          </a:ln>
                          <a:solidFill>
                            <a:schemeClr val="tx1"/>
                          </a:solidFill>
                          <a:effectLst/>
                          <a:latin typeface="Arial" panose="020B0604020202020204" pitchFamily="34" charset="0"/>
                        </a:rPr>
                        <a:t>Unstructured</a:t>
                      </a:r>
                      <a:endParaRPr kumimoji="0" lang="en-US" sz="2000" b="0" i="0" u="none" strike="noStrike" cap="none" normalizeH="0" baseline="0" dirty="0" smtClean="0">
                        <a:ln>
                          <a:noFill/>
                        </a:ln>
                        <a:solidFill>
                          <a:schemeClr val="tx1"/>
                        </a:solidFill>
                        <a:effectLst/>
                        <a:latin typeface="Arial" panose="020B0604020202020204" pitchFamily="34" charset="0"/>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33536">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sz="2000" b="0" i="0" u="none" strike="noStrike" cap="none" normalizeH="0" baseline="0" dirty="0" smtClean="0">
                          <a:ln>
                            <a:noFill/>
                          </a:ln>
                          <a:solidFill>
                            <a:schemeClr val="tx1"/>
                          </a:solidFill>
                          <a:effectLst/>
                          <a:latin typeface="Arial" panose="020B0604020202020204" pitchFamily="34" charset="0"/>
                        </a:rPr>
                        <a:t>Fields</a:t>
                      </a:r>
                      <a:endParaRPr kumimoji="0" lang="en-US" sz="2000" b="0" i="0" u="none" strike="noStrike" cap="none" normalizeH="0" baseline="0" dirty="0" smtClean="0">
                        <a:ln>
                          <a:noFill/>
                        </a:ln>
                        <a:solidFill>
                          <a:schemeClr val="tx1"/>
                        </a:solidFill>
                        <a:effectLst/>
                        <a:latin typeface="Arial" panose="020B0604020202020204" pitchFamily="34" charset="0"/>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sz="2000" b="0" i="0" u="none" strike="noStrike" cap="none" normalizeH="0" baseline="0" dirty="0" smtClean="0">
                          <a:ln>
                            <a:noFill/>
                          </a:ln>
                          <a:solidFill>
                            <a:schemeClr val="tx1"/>
                          </a:solidFill>
                          <a:effectLst/>
                          <a:latin typeface="Arial" panose="020B0604020202020204" pitchFamily="34" charset="0"/>
                        </a:rPr>
                        <a:t>Clear Semantics</a:t>
                      </a:r>
                      <a:endParaRPr kumimoji="0" lang="en-US" sz="20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Tx/>
                        <a:buSzTx/>
                        <a:buFontTx/>
                        <a:buNone/>
                      </a:pPr>
                      <a:r>
                        <a:rPr kumimoji="0" lang="en-US" sz="2000" b="0" i="0" u="none" strike="noStrike" cap="none" normalizeH="0" baseline="0" dirty="0" smtClean="0">
                          <a:ln>
                            <a:noFill/>
                          </a:ln>
                          <a:solidFill>
                            <a:schemeClr val="tx1"/>
                          </a:solidFill>
                          <a:effectLst/>
                          <a:latin typeface="Arial" panose="020B0604020202020204" pitchFamily="34" charset="0"/>
                        </a:rPr>
                        <a:t>(ID, Name, age,…)</a:t>
                      </a:r>
                      <a:endParaRPr kumimoji="0" lang="en-US" sz="2000" b="0" i="0" u="none" strike="noStrike" cap="none" normalizeH="0" baseline="0" dirty="0" smtClean="0">
                        <a:ln>
                          <a:noFill/>
                        </a:ln>
                        <a:solidFill>
                          <a:schemeClr val="tx1"/>
                        </a:solidFill>
                        <a:effectLst/>
                        <a:latin typeface="Arial" panose="020B0604020202020204" pitchFamily="34" charset="0"/>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sz="2000" b="0" i="0" u="none" strike="noStrike" cap="none" normalizeH="0" baseline="0" dirty="0" smtClean="0">
                          <a:ln>
                            <a:noFill/>
                          </a:ln>
                          <a:solidFill>
                            <a:schemeClr val="tx1"/>
                          </a:solidFill>
                          <a:effectLst/>
                          <a:latin typeface="Arial" panose="020B0604020202020204" pitchFamily="34" charset="0"/>
                        </a:rPr>
                        <a:t>No fields (other than text)</a:t>
                      </a:r>
                      <a:endParaRPr kumimoji="0" lang="en-US" sz="2000" b="0" i="0" u="none" strike="noStrike" cap="none" normalizeH="0" baseline="0" dirty="0" smtClean="0">
                        <a:ln>
                          <a:noFill/>
                        </a:ln>
                        <a:solidFill>
                          <a:schemeClr val="tx1"/>
                        </a:solidFill>
                        <a:effectLst/>
                        <a:latin typeface="Arial" panose="020B0604020202020204" pitchFamily="34" charset="0"/>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52588">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sz="2000" b="0" i="0" u="none" strike="noStrike" cap="none" normalizeH="0" baseline="0" smtClean="0">
                          <a:ln>
                            <a:noFill/>
                          </a:ln>
                          <a:solidFill>
                            <a:schemeClr val="tx1"/>
                          </a:solidFill>
                          <a:effectLst/>
                          <a:latin typeface="Arial" panose="020B0604020202020204" pitchFamily="34" charset="0"/>
                        </a:rPr>
                        <a:t>Query Language</a:t>
                      </a:r>
                      <a:endParaRPr kumimoji="0" lang="en-US" sz="2000" b="0" i="0" u="none" strike="noStrike" cap="none" normalizeH="0" baseline="0" smtClean="0">
                        <a:ln>
                          <a:noFill/>
                        </a:ln>
                        <a:solidFill>
                          <a:schemeClr val="tx1"/>
                        </a:solidFill>
                        <a:effectLst/>
                        <a:latin typeface="Arial" panose="020B0604020202020204" pitchFamily="34" charset="0"/>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sz="2000" b="0" i="0" u="none" strike="noStrike" cap="none" normalizeH="0" baseline="0" dirty="0" smtClean="0">
                          <a:ln>
                            <a:noFill/>
                          </a:ln>
                          <a:solidFill>
                            <a:schemeClr val="tx1"/>
                          </a:solidFill>
                          <a:effectLst/>
                          <a:latin typeface="Arial" panose="020B0604020202020204" pitchFamily="34" charset="0"/>
                        </a:rPr>
                        <a:t>Artificial (defined, SQL)</a:t>
                      </a:r>
                      <a:endParaRPr kumimoji="0" lang="en-US" sz="2000" b="0" i="0" u="none" strike="noStrike" cap="none" normalizeH="0" baseline="0" dirty="0" smtClean="0">
                        <a:ln>
                          <a:noFill/>
                        </a:ln>
                        <a:solidFill>
                          <a:schemeClr val="tx1"/>
                        </a:solidFill>
                        <a:effectLst/>
                        <a:latin typeface="Arial" panose="020B0604020202020204" pitchFamily="34" charset="0"/>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sz="2000" b="0" i="0" u="none" strike="noStrike" cap="none" normalizeH="0" baseline="0" smtClean="0">
                          <a:ln>
                            <a:noFill/>
                          </a:ln>
                          <a:solidFill>
                            <a:schemeClr val="tx1"/>
                          </a:solidFill>
                          <a:effectLst/>
                          <a:latin typeface="Arial" panose="020B0604020202020204" pitchFamily="34" charset="0"/>
                        </a:rPr>
                        <a:t>Free text (“natural</a:t>
                      </a:r>
                      <a:endParaRPr kumimoji="0" lang="en-US" sz="20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Tx/>
                        <a:buSzTx/>
                        <a:buFontTx/>
                        <a:buNone/>
                      </a:pPr>
                      <a:r>
                        <a:rPr kumimoji="0" lang="en-US" sz="2000" b="0" i="0" u="none" strike="noStrike" cap="none" normalizeH="0" baseline="0" smtClean="0">
                          <a:ln>
                            <a:noFill/>
                          </a:ln>
                          <a:solidFill>
                            <a:schemeClr val="tx1"/>
                          </a:solidFill>
                          <a:effectLst/>
                          <a:latin typeface="Arial" panose="020B0604020202020204" pitchFamily="34" charset="0"/>
                        </a:rPr>
                        <a:t>language”), Boolean</a:t>
                      </a:r>
                      <a:endParaRPr kumimoji="0" lang="en-US" sz="2000" b="0" i="0" u="none" strike="noStrike" cap="none" normalizeH="0" baseline="0" smtClean="0">
                        <a:ln>
                          <a:noFill/>
                        </a:ln>
                        <a:solidFill>
                          <a:schemeClr val="tx1"/>
                        </a:solidFill>
                        <a:effectLst/>
                        <a:latin typeface="Arial" panose="020B0604020202020204" pitchFamily="34" charset="0"/>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95431">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sz="2000" b="0" i="0" u="none" strike="noStrike" cap="none" normalizeH="0" baseline="0" smtClean="0">
                          <a:ln>
                            <a:noFill/>
                          </a:ln>
                          <a:solidFill>
                            <a:schemeClr val="tx1"/>
                          </a:solidFill>
                          <a:effectLst/>
                          <a:latin typeface="Arial" panose="020B0604020202020204" pitchFamily="34" charset="0"/>
                        </a:rPr>
                        <a:t>Matching</a:t>
                      </a:r>
                      <a:endParaRPr kumimoji="0" lang="en-US" sz="2000" b="0" i="0" u="none" strike="noStrike" cap="none" normalizeH="0" baseline="0" smtClean="0">
                        <a:ln>
                          <a:noFill/>
                        </a:ln>
                        <a:solidFill>
                          <a:schemeClr val="tx1"/>
                        </a:solidFill>
                        <a:effectLst/>
                        <a:latin typeface="Arial" panose="020B0604020202020204" pitchFamily="34" charset="0"/>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sz="2000" b="0" i="0" u="none" strike="noStrike" cap="none" normalizeH="0" baseline="0" dirty="0" smtClean="0">
                          <a:ln>
                            <a:noFill/>
                          </a:ln>
                          <a:solidFill>
                            <a:schemeClr val="tx1"/>
                          </a:solidFill>
                          <a:effectLst/>
                          <a:latin typeface="Arial" panose="020B0604020202020204" pitchFamily="34" charset="0"/>
                        </a:rPr>
                        <a:t>Exact (results are</a:t>
                      </a:r>
                      <a:endParaRPr kumimoji="0" lang="en-US" sz="20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Tx/>
                        <a:buSzTx/>
                        <a:buFontTx/>
                        <a:buNone/>
                      </a:pPr>
                      <a:r>
                        <a:rPr kumimoji="0" lang="en-US" sz="2000" b="0" i="1" u="none" strike="noStrike" cap="none" normalizeH="0" baseline="0" dirty="0" smtClean="0">
                          <a:ln>
                            <a:noFill/>
                          </a:ln>
                          <a:solidFill>
                            <a:schemeClr val="tx1"/>
                          </a:solidFill>
                          <a:effectLst/>
                          <a:latin typeface="Arial" panose="020B0604020202020204" pitchFamily="34" charset="0"/>
                        </a:rPr>
                        <a:t>always </a:t>
                      </a:r>
                      <a:r>
                        <a:rPr kumimoji="0" lang="en-US" sz="2000" b="0" i="0" u="none" strike="noStrike" cap="none" normalizeH="0" baseline="0" dirty="0" smtClean="0">
                          <a:ln>
                            <a:noFill/>
                          </a:ln>
                          <a:solidFill>
                            <a:schemeClr val="tx1"/>
                          </a:solidFill>
                          <a:effectLst/>
                          <a:latin typeface="Arial" panose="020B0604020202020204" pitchFamily="34" charset="0"/>
                        </a:rPr>
                        <a:t>“correct”)</a:t>
                      </a:r>
                      <a:endParaRPr kumimoji="0" lang="en-US" sz="2000" b="0" i="0" u="none" strike="noStrike" cap="none" normalizeH="0" baseline="0" dirty="0" smtClean="0">
                        <a:ln>
                          <a:noFill/>
                        </a:ln>
                        <a:solidFill>
                          <a:schemeClr val="tx1"/>
                        </a:solidFill>
                        <a:effectLst/>
                        <a:latin typeface="Arial" panose="020B0604020202020204" pitchFamily="34" charset="0"/>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sz="2000" b="0" i="0" u="none" strike="noStrike" cap="none" normalizeH="0" baseline="0" smtClean="0">
                          <a:ln>
                            <a:noFill/>
                          </a:ln>
                          <a:solidFill>
                            <a:schemeClr val="tx1"/>
                          </a:solidFill>
                          <a:effectLst/>
                          <a:latin typeface="Arial" panose="020B0604020202020204" pitchFamily="34" charset="0"/>
                        </a:rPr>
                        <a:t>Partial match, best match</a:t>
                      </a:r>
                      <a:endParaRPr kumimoji="0" lang="en-US" sz="2000" b="0" i="0" u="none" strike="noStrike" cap="none" normalizeH="0" baseline="0" smtClean="0">
                        <a:ln>
                          <a:noFill/>
                        </a:ln>
                        <a:solidFill>
                          <a:schemeClr val="tx1"/>
                        </a:solidFill>
                        <a:effectLst/>
                        <a:latin typeface="Arial" panose="020B0604020202020204" pitchFamily="34" charset="0"/>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1851">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smtClean="0">
                          <a:ln>
                            <a:noFill/>
                          </a:ln>
                          <a:solidFill>
                            <a:schemeClr val="tx1"/>
                          </a:solidFill>
                          <a:effectLst/>
                          <a:latin typeface="Arial" panose="020B0604020202020204" pitchFamily="34" charset="0"/>
                        </a:rPr>
                        <a:t>Query specification</a:t>
                      </a:r>
                      <a:endParaRPr kumimoji="0" lang="en-US" sz="2000" b="0" i="0" u="none" strike="noStrike" cap="none" normalizeH="0" baseline="0" smtClean="0">
                        <a:ln>
                          <a:noFill/>
                        </a:ln>
                        <a:solidFill>
                          <a:schemeClr val="tx1"/>
                        </a:solidFill>
                        <a:effectLst/>
                        <a:latin typeface="Arial" panose="020B0604020202020204" pitchFamily="34" charset="0"/>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smtClean="0">
                          <a:ln>
                            <a:noFill/>
                          </a:ln>
                          <a:solidFill>
                            <a:schemeClr val="tx1"/>
                          </a:solidFill>
                          <a:effectLst/>
                          <a:latin typeface="Arial" panose="020B0604020202020204" pitchFamily="34" charset="0"/>
                        </a:rPr>
                        <a:t>Complete</a:t>
                      </a:r>
                      <a:endParaRPr kumimoji="0" lang="en-US" sz="2000" b="0" i="0" u="none" strike="noStrike" cap="none" normalizeH="0" baseline="0" dirty="0" smtClean="0">
                        <a:ln>
                          <a:noFill/>
                        </a:ln>
                        <a:solidFill>
                          <a:schemeClr val="tx1"/>
                        </a:solidFill>
                        <a:effectLst/>
                        <a:latin typeface="Arial" panose="020B0604020202020204" pitchFamily="34" charset="0"/>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smtClean="0">
                          <a:ln>
                            <a:noFill/>
                          </a:ln>
                          <a:solidFill>
                            <a:schemeClr val="tx1"/>
                          </a:solidFill>
                          <a:effectLst/>
                          <a:latin typeface="Arial" panose="020B0604020202020204" pitchFamily="34" charset="0"/>
                        </a:rPr>
                        <a:t>Incomplete</a:t>
                      </a:r>
                      <a:endParaRPr kumimoji="0" lang="en-US" sz="2000" b="0" i="0" u="none" strike="noStrike" cap="none" normalizeH="0" baseline="0" dirty="0" smtClean="0">
                        <a:ln>
                          <a:noFill/>
                        </a:ln>
                        <a:solidFill>
                          <a:schemeClr val="tx1"/>
                        </a:solidFill>
                        <a:effectLst/>
                        <a:latin typeface="Arial" panose="020B0604020202020204" pitchFamily="34" charset="0"/>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3272">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smtClean="0">
                          <a:ln>
                            <a:noFill/>
                          </a:ln>
                          <a:solidFill>
                            <a:schemeClr val="tx1"/>
                          </a:solidFill>
                          <a:effectLst/>
                          <a:latin typeface="Arial" panose="020B0604020202020204" pitchFamily="34" charset="0"/>
                        </a:rPr>
                        <a:t>Items wanted</a:t>
                      </a:r>
                      <a:endParaRPr kumimoji="0" lang="en-US" sz="2000" b="0" i="0" u="none" strike="noStrike" cap="none" normalizeH="0" baseline="0" smtClean="0">
                        <a:ln>
                          <a:noFill/>
                        </a:ln>
                        <a:solidFill>
                          <a:schemeClr val="tx1"/>
                        </a:solidFill>
                        <a:effectLst/>
                        <a:latin typeface="Arial" panose="020B0604020202020204" pitchFamily="34" charset="0"/>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smtClean="0">
                          <a:ln>
                            <a:noFill/>
                          </a:ln>
                          <a:solidFill>
                            <a:schemeClr val="tx1"/>
                          </a:solidFill>
                          <a:effectLst/>
                          <a:latin typeface="Arial" panose="020B0604020202020204" pitchFamily="34" charset="0"/>
                        </a:rPr>
                        <a:t>Matching</a:t>
                      </a:r>
                      <a:endParaRPr kumimoji="0" lang="en-US" sz="2000" b="0" i="0" u="none" strike="noStrike" cap="none" normalizeH="0" baseline="0" dirty="0" smtClean="0">
                        <a:ln>
                          <a:noFill/>
                        </a:ln>
                        <a:solidFill>
                          <a:schemeClr val="tx1"/>
                        </a:solidFill>
                        <a:effectLst/>
                        <a:latin typeface="Arial" panose="020B0604020202020204" pitchFamily="34" charset="0"/>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smtClean="0">
                          <a:ln>
                            <a:noFill/>
                          </a:ln>
                          <a:solidFill>
                            <a:schemeClr val="tx1"/>
                          </a:solidFill>
                          <a:effectLst/>
                          <a:latin typeface="Arial" panose="020B0604020202020204" pitchFamily="34" charset="0"/>
                        </a:rPr>
                        <a:t>Relevant</a:t>
                      </a:r>
                      <a:endParaRPr kumimoji="0" lang="en-US" sz="2000" b="0" i="0" u="none" strike="noStrike" cap="none" normalizeH="0" baseline="0" dirty="0" smtClean="0">
                        <a:ln>
                          <a:noFill/>
                        </a:ln>
                        <a:solidFill>
                          <a:schemeClr val="tx1"/>
                        </a:solidFill>
                        <a:effectLst/>
                        <a:latin typeface="Arial" panose="020B0604020202020204" pitchFamily="34" charset="0"/>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287">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sz="2000" b="0" i="0" u="none" strike="noStrike" cap="none" normalizeH="0" baseline="0" dirty="0" smtClean="0">
                          <a:ln>
                            <a:noFill/>
                          </a:ln>
                          <a:solidFill>
                            <a:schemeClr val="tx1"/>
                          </a:solidFill>
                          <a:effectLst/>
                          <a:latin typeface="Arial" panose="020B0604020202020204" pitchFamily="34" charset="0"/>
                        </a:rPr>
                        <a:t>Accuracy</a:t>
                      </a:r>
                      <a:endParaRPr kumimoji="0" lang="en-US" sz="2000" b="0" i="0" u="none" strike="noStrike" cap="none" normalizeH="0" baseline="0" dirty="0" smtClean="0">
                        <a:ln>
                          <a:noFill/>
                        </a:ln>
                        <a:solidFill>
                          <a:schemeClr val="tx1"/>
                        </a:solidFill>
                        <a:effectLst/>
                        <a:latin typeface="Arial" panose="020B0604020202020204" pitchFamily="34" charset="0"/>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sz="2000" b="0" i="0" u="none" strike="noStrike" cap="none" normalizeH="0" baseline="0" smtClean="0">
                          <a:ln>
                            <a:noFill/>
                          </a:ln>
                          <a:solidFill>
                            <a:schemeClr val="tx1"/>
                          </a:solidFill>
                          <a:effectLst/>
                          <a:latin typeface="Arial" panose="020B0604020202020204" pitchFamily="34" charset="0"/>
                        </a:rPr>
                        <a:t>100%</a:t>
                      </a:r>
                      <a:endParaRPr kumimoji="0" lang="en-US" sz="2000" b="0" i="0" u="none" strike="noStrike" cap="none" normalizeH="0" baseline="0" smtClean="0">
                        <a:ln>
                          <a:noFill/>
                        </a:ln>
                        <a:solidFill>
                          <a:schemeClr val="tx1"/>
                        </a:solidFill>
                        <a:effectLst/>
                        <a:latin typeface="Arial" panose="020B0604020202020204" pitchFamily="34" charset="0"/>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sz="2000" b="0" i="0" u="none" strike="noStrike" cap="none" normalizeH="0" baseline="0" dirty="0" smtClean="0">
                          <a:ln>
                            <a:noFill/>
                          </a:ln>
                          <a:solidFill>
                            <a:schemeClr val="tx1"/>
                          </a:solidFill>
                          <a:effectLst/>
                          <a:latin typeface="Arial" panose="020B0604020202020204" pitchFamily="34" charset="0"/>
                        </a:rPr>
                        <a:t>&lt; 50%</a:t>
                      </a:r>
                      <a:endParaRPr kumimoji="0" lang="en-US" sz="2000" b="0" i="0" u="none" strike="noStrike" cap="none" normalizeH="0" baseline="0" dirty="0" smtClean="0">
                        <a:ln>
                          <a:noFill/>
                        </a:ln>
                        <a:solidFill>
                          <a:schemeClr val="tx1"/>
                        </a:solidFill>
                        <a:effectLst/>
                        <a:latin typeface="Arial" panose="020B0604020202020204" pitchFamily="34" charset="0"/>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62090">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smtClean="0">
                          <a:ln>
                            <a:noFill/>
                          </a:ln>
                          <a:solidFill>
                            <a:schemeClr val="tx1"/>
                          </a:solidFill>
                          <a:effectLst/>
                          <a:latin typeface="Arial" panose="020B0604020202020204" pitchFamily="34" charset="0"/>
                        </a:rPr>
                        <a:t>Error response</a:t>
                      </a:r>
                      <a:endParaRPr kumimoji="0" lang="en-US" sz="2000" b="0" i="0" u="none" strike="noStrike" cap="none" normalizeH="0" baseline="0" smtClean="0">
                        <a:ln>
                          <a:noFill/>
                        </a:ln>
                        <a:solidFill>
                          <a:schemeClr val="tx1"/>
                        </a:solidFill>
                        <a:effectLst/>
                        <a:latin typeface="Arial" panose="020B0604020202020204" pitchFamily="34" charset="0"/>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smtClean="0">
                          <a:ln>
                            <a:noFill/>
                          </a:ln>
                          <a:solidFill>
                            <a:schemeClr val="tx1"/>
                          </a:solidFill>
                          <a:effectLst/>
                          <a:latin typeface="Arial" panose="020B0604020202020204" pitchFamily="34" charset="0"/>
                        </a:rPr>
                        <a:t>Sensitive</a:t>
                      </a:r>
                      <a:endParaRPr kumimoji="0" lang="en-US" sz="2000" b="0" i="0" u="none" strike="noStrike" cap="none" normalizeH="0" baseline="0" smtClean="0">
                        <a:ln>
                          <a:noFill/>
                        </a:ln>
                        <a:solidFill>
                          <a:schemeClr val="tx1"/>
                        </a:solidFill>
                        <a:effectLst/>
                        <a:latin typeface="Arial" panose="020B0604020202020204" pitchFamily="34" charset="0"/>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smtClean="0">
                          <a:ln>
                            <a:noFill/>
                          </a:ln>
                          <a:solidFill>
                            <a:schemeClr val="tx1"/>
                          </a:solidFill>
                          <a:effectLst/>
                          <a:latin typeface="Arial" panose="020B0604020202020204" pitchFamily="34" charset="0"/>
                        </a:rPr>
                        <a:t>Insensitive</a:t>
                      </a:r>
                      <a:endParaRPr kumimoji="0" lang="en-US" sz="20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endParaRPr kumimoji="0" lang="en-US" sz="2000" b="0" i="0" u="none" strike="noStrike" cap="none" normalizeH="0" baseline="0" dirty="0" smtClean="0">
                        <a:ln>
                          <a:noFill/>
                        </a:ln>
                        <a:solidFill>
                          <a:schemeClr val="tx1"/>
                        </a:solidFill>
                        <a:effectLst/>
                        <a:latin typeface="Arial" panose="020B0604020202020204" pitchFamily="34" charset="0"/>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5" name="Table 4"/>
          <p:cNvGraphicFramePr>
            <a:graphicFrameLocks noGrp="1"/>
          </p:cNvGraphicFramePr>
          <p:nvPr/>
        </p:nvGraphicFramePr>
        <p:xfrm>
          <a:off x="0" y="6248400"/>
          <a:ext cx="8964613" cy="365125"/>
        </p:xfrm>
        <a:graphic>
          <a:graphicData uri="http://schemas.openxmlformats.org/drawingml/2006/table">
            <a:tbl>
              <a:tblPr/>
              <a:tblGrid>
                <a:gridCol w="8964613"/>
              </a:tblGrid>
              <a:tr h="365125">
                <a:tc>
                  <a:txBody>
                    <a:bodyPr/>
                    <a:lstStyle/>
                    <a:p>
                      <a:r>
                        <a:rPr lang="en-US" sz="1800" dirty="0" smtClean="0"/>
                        <a:t>    </a:t>
                      </a:r>
                      <a:r>
                        <a:rPr lang="en-US" sz="1800" dirty="0" smtClean="0">
                          <a:latin typeface="Arial" panose="020B0604020202020204" pitchFamily="34" charset="0"/>
                          <a:cs typeface="Arial" panose="020B0604020202020204" pitchFamily="34" charset="0"/>
                        </a:rPr>
                        <a:t>Ranking                        None</a:t>
                      </a:r>
                      <a:r>
                        <a:rPr lang="en-US" sz="1800" baseline="0" dirty="0" smtClean="0">
                          <a:latin typeface="Arial" panose="020B0604020202020204" pitchFamily="34" charset="0"/>
                          <a:cs typeface="Arial" panose="020B0604020202020204" pitchFamily="34" charset="0"/>
                        </a:rPr>
                        <a:t>                                          Important</a:t>
                      </a:r>
                      <a:endParaRPr lang="en-US" sz="1800" dirty="0">
                        <a:latin typeface="Arial" panose="020B0604020202020204" pitchFamily="34" charset="0"/>
                        <a:cs typeface="Arial" panose="020B0604020202020204" pitchFamily="34" charset="0"/>
                      </a:endParaRPr>
                    </a:p>
                  </a:txBody>
                  <a:tcPr marL="91447" marR="91447" marT="45536" marB="45536">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14432"/>
                                        </p:tgtEl>
                                        <p:attrNameLst>
                                          <p:attrName>style.visibility</p:attrName>
                                        </p:attrNameLst>
                                      </p:cBhvr>
                                      <p:to>
                                        <p:strVal val="visible"/>
                                      </p:to>
                                    </p:set>
                                    <p:animEffect transition="in" filter="diamond(in)">
                                      <p:cBhvr>
                                        <p:cTn id="7" dur="2000"/>
                                        <p:tgtEl>
                                          <p:spTgt spid="144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6626" name="Picture 2" descr="Image result for information retrieval and applications ppt"/>
          <p:cNvPicPr>
            <a:picLocks noChangeAspect="1"/>
          </p:cNvPicPr>
          <p:nvPr/>
        </p:nvPicPr>
        <p:blipFill>
          <a:blip r:embed="rId1"/>
          <a:stretch>
            <a:fillRect/>
          </a:stretch>
        </p:blipFill>
        <p:spPr>
          <a:xfrm>
            <a:off x="304800" y="838200"/>
            <a:ext cx="8305800" cy="5791200"/>
          </a:xfrm>
          <a:prstGeom prst="rect">
            <a:avLst/>
          </a:prstGeom>
          <a:noFill/>
          <a:ln w="9525">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7650" name="Picture 4"/>
          <p:cNvPicPr>
            <a:picLocks noChangeAspect="1"/>
          </p:cNvPicPr>
          <p:nvPr/>
        </p:nvPicPr>
        <p:blipFill>
          <a:blip r:embed="rId1"/>
          <a:stretch>
            <a:fillRect/>
          </a:stretch>
        </p:blipFill>
        <p:spPr>
          <a:xfrm>
            <a:off x="401638" y="936625"/>
            <a:ext cx="8340725" cy="4984750"/>
          </a:xfrm>
          <a:prstGeom prst="rect">
            <a:avLst/>
          </a:prstGeom>
          <a:noFill/>
          <a:ln w="9525">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8674" name="Picture 4"/>
          <p:cNvPicPr>
            <a:picLocks noChangeAspect="1"/>
          </p:cNvPicPr>
          <p:nvPr/>
        </p:nvPicPr>
        <p:blipFill>
          <a:blip r:embed="rId1"/>
          <a:stretch>
            <a:fillRect/>
          </a:stretch>
        </p:blipFill>
        <p:spPr>
          <a:xfrm>
            <a:off x="533400" y="838200"/>
            <a:ext cx="8229600" cy="5562600"/>
          </a:xfrm>
          <a:prstGeom prst="rect">
            <a:avLst/>
          </a:prstGeom>
          <a:noFill/>
          <a:ln w="9525">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9698" name="Picture 4"/>
          <p:cNvPicPr>
            <a:picLocks noChangeAspect="1"/>
          </p:cNvPicPr>
          <p:nvPr/>
        </p:nvPicPr>
        <p:blipFill>
          <a:blip r:embed="rId1"/>
          <a:stretch>
            <a:fillRect/>
          </a:stretch>
        </p:blipFill>
        <p:spPr>
          <a:xfrm>
            <a:off x="763588" y="914400"/>
            <a:ext cx="7923212" cy="5486400"/>
          </a:xfrm>
          <a:prstGeom prst="rect">
            <a:avLst/>
          </a:prstGeom>
          <a:noFill/>
          <a:ln w="9525">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0722" name="Picture 4"/>
          <p:cNvPicPr>
            <a:picLocks noChangeAspect="1"/>
          </p:cNvPicPr>
          <p:nvPr/>
        </p:nvPicPr>
        <p:blipFill>
          <a:blip r:embed="rId1"/>
          <a:stretch>
            <a:fillRect/>
          </a:stretch>
        </p:blipFill>
        <p:spPr>
          <a:xfrm>
            <a:off x="1871663" y="381000"/>
            <a:ext cx="5900737" cy="6324600"/>
          </a:xfrm>
          <a:prstGeom prst="rect">
            <a:avLst/>
          </a:prstGeom>
          <a:noFill/>
          <a:ln w="9525">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Title 1"/>
          <p:cNvSpPr>
            <a:spLocks noGrp="1"/>
          </p:cNvSpPr>
          <p:nvPr>
            <p:ph type="title"/>
          </p:nvPr>
        </p:nvSpPr>
        <p:spPr>
          <a:xfrm>
            <a:off x="457200" y="274638"/>
            <a:ext cx="8229600" cy="792163"/>
          </a:xfrm>
        </p:spPr>
        <p:txBody>
          <a:bodyPr vert="horz" wrap="square" lIns="0" tIns="45720" rIns="0" bIns="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5000" b="0" i="0" u="none" strike="noStrike" kern="1200" cap="none" spc="0" normalizeH="0" baseline="0" noProof="0" dirty="0" smtClean="0">
                <a:ln>
                  <a:noFill/>
                </a:ln>
                <a:solidFill>
                  <a:schemeClr val="tx1"/>
                </a:solidFill>
                <a:effectLst/>
                <a:uLnTx/>
                <a:uFillTx/>
                <a:latin typeface="+mj-lt"/>
                <a:ea typeface="+mj-ea"/>
                <a:cs typeface="+mj-cs"/>
              </a:rPr>
              <a:t>Why is IR so hard?</a:t>
            </a:r>
            <a:endParaRPr kumimoji="0" lang="en-US" sz="5000" b="0" i="0" u="none" strike="noStrike" kern="1200" cap="none" spc="0" normalizeH="0" baseline="0" noProof="0" dirty="0" smtClean="0">
              <a:ln>
                <a:noFill/>
              </a:ln>
              <a:solidFill>
                <a:schemeClr val="tx1"/>
              </a:solidFill>
              <a:effectLst/>
              <a:uLnTx/>
              <a:uFillTx/>
              <a:latin typeface="+mj-lt"/>
              <a:ea typeface="+mj-ea"/>
              <a:cs typeface="+mj-cs"/>
            </a:endParaRPr>
          </a:p>
        </p:txBody>
      </p:sp>
      <p:sp>
        <p:nvSpPr>
          <p:cNvPr id="31747" name="Content Placeholder 2"/>
          <p:cNvSpPr>
            <a:spLocks noGrp="1"/>
          </p:cNvSpPr>
          <p:nvPr>
            <p:ph idx="1"/>
          </p:nvPr>
        </p:nvSpPr>
        <p:spPr>
          <a:xfrm>
            <a:off x="304800" y="1219200"/>
            <a:ext cx="8534400" cy="5334000"/>
          </a:xfrm>
          <a:ln/>
        </p:spPr>
        <p:txBody>
          <a:bodyPr vert="horz" wrap="square" lIns="91440" tIns="45720" rIns="91440" bIns="45720" anchor="t" anchorCtr="0"/>
          <a:p>
            <a:pPr eaLnBrk="1" hangingPunct="1">
              <a:lnSpc>
                <a:spcPct val="90000"/>
              </a:lnSpc>
            </a:pPr>
            <a:r>
              <a:rPr lang="fr-FR" altLang="x-none" sz="2800" dirty="0">
                <a:latin typeface="Tahoma" panose="020B0604030504040204" pitchFamily="34" charset="0"/>
                <a:cs typeface="Tahoma" panose="020B0604030504040204" pitchFamily="34" charset="0"/>
              </a:rPr>
              <a:t>Traditionnel </a:t>
            </a:r>
            <a:r>
              <a:rPr lang="en-GB" altLang="x-none" sz="2800" dirty="0">
                <a:latin typeface="Tahoma" panose="020B0604030504040204" pitchFamily="34" charset="0"/>
                <a:cs typeface="Tahoma" panose="020B0604030504040204" pitchFamily="34" charset="0"/>
              </a:rPr>
              <a:t>Information retrieval</a:t>
            </a:r>
            <a:r>
              <a:rPr lang="fr-FR" altLang="x-none" sz="2800" i="1" dirty="0"/>
              <a:t> (IR) Systems </a:t>
            </a:r>
            <a:r>
              <a:rPr sz="2800" dirty="0"/>
              <a:t>attempt to find relevant documents to respond to a user’s request.</a:t>
            </a:r>
            <a:endParaRPr sz="800" dirty="0"/>
          </a:p>
          <a:p>
            <a:pPr eaLnBrk="1" hangingPunct="1">
              <a:lnSpc>
                <a:spcPct val="80000"/>
              </a:lnSpc>
            </a:pPr>
            <a:r>
              <a:rPr sz="2800" b="1" dirty="0"/>
              <a:t>Information retrieval problem</a:t>
            </a:r>
            <a:r>
              <a:rPr sz="2800" dirty="0"/>
              <a:t>: locating relevant documents based on user input, such as keywords or example documents</a:t>
            </a:r>
            <a:endParaRPr sz="2800" dirty="0"/>
          </a:p>
          <a:p>
            <a:pPr lvl="1" eaLnBrk="1" hangingPunct="1">
              <a:lnSpc>
                <a:spcPct val="90000"/>
              </a:lnSpc>
            </a:pPr>
            <a:r>
              <a:rPr dirty="0"/>
              <a:t>The real problem boils down to matching the language of the query to the language of the document.</a:t>
            </a:r>
            <a:endParaRPr dirty="0"/>
          </a:p>
          <a:p>
            <a:pPr lvl="1" eaLnBrk="1" hangingPunct="1">
              <a:lnSpc>
                <a:spcPct val="90000"/>
              </a:lnSpc>
            </a:pPr>
            <a:r>
              <a:rPr dirty="0"/>
              <a:t>Simply matching on words is a very brittle (no elasticity) approach. One word can have different semantic meanings. Consider: Take</a:t>
            </a:r>
            <a:endParaRPr dirty="0"/>
          </a:p>
          <a:p>
            <a:pPr lvl="1" eaLnBrk="1" hangingPunct="1">
              <a:lnSpc>
                <a:spcPct val="90000"/>
              </a:lnSpc>
            </a:pPr>
            <a:r>
              <a:rPr dirty="0"/>
              <a:t>“take a place at the table”</a:t>
            </a:r>
            <a:endParaRPr dirty="0"/>
          </a:p>
          <a:p>
            <a:pPr lvl="1" eaLnBrk="1" hangingPunct="1">
              <a:lnSpc>
                <a:spcPct val="90000"/>
              </a:lnSpc>
            </a:pPr>
            <a:r>
              <a:rPr dirty="0"/>
              <a:t>“take money to the bank”</a:t>
            </a:r>
            <a:endParaRPr dirty="0"/>
          </a:p>
          <a:p>
            <a:pPr lvl="1" eaLnBrk="1" hangingPunct="1">
              <a:lnSpc>
                <a:spcPct val="90000"/>
              </a:lnSpc>
            </a:pPr>
            <a:r>
              <a:rPr dirty="0"/>
              <a:t>“take a picture”</a:t>
            </a:r>
            <a:endParaRP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Title 1"/>
          <p:cNvSpPr>
            <a:spLocks noGrp="1"/>
          </p:cNvSpPr>
          <p:nvPr>
            <p:ph type="title"/>
          </p:nvPr>
        </p:nvSpPr>
        <p:spPr>
          <a:xfrm>
            <a:off x="457200" y="381000"/>
            <a:ext cx="8229600" cy="762000"/>
          </a:xfrm>
          <a:ln/>
        </p:spPr>
        <p:txBody>
          <a:bodyPr vert="horz" wrap="square" lIns="0" tIns="45720" rIns="0" bIns="0" anchor="b" anchorCtr="0"/>
          <a:p>
            <a:pPr eaLnBrk="1" hangingPunct="1"/>
            <a:r>
              <a:rPr sz="4500" dirty="0">
                <a:solidFill>
                  <a:schemeClr val="tx1"/>
                </a:solidFill>
                <a:latin typeface="Constantia" panose="02030602050306030303" pitchFamily="18" charset="0"/>
              </a:rPr>
              <a:t>More Problems with IR</a:t>
            </a:r>
            <a:endParaRPr sz="4500" dirty="0"/>
          </a:p>
        </p:txBody>
      </p:sp>
      <p:sp>
        <p:nvSpPr>
          <p:cNvPr id="32771" name="Content Placeholder 2"/>
          <p:cNvSpPr>
            <a:spLocks noGrp="1"/>
          </p:cNvSpPr>
          <p:nvPr>
            <p:ph idx="1"/>
          </p:nvPr>
        </p:nvSpPr>
        <p:spPr>
          <a:xfrm>
            <a:off x="152400" y="1676400"/>
            <a:ext cx="8915400" cy="4068763"/>
          </a:xfrm>
          <a:ln/>
        </p:spPr>
        <p:txBody>
          <a:bodyPr vert="horz" wrap="square" lIns="91440" tIns="45720" rIns="91440" bIns="45720" anchor="t" anchorCtr="0"/>
          <a:p>
            <a:pPr eaLnBrk="1" hangingPunct="1">
              <a:lnSpc>
                <a:spcPct val="90000"/>
              </a:lnSpc>
            </a:pPr>
            <a:r>
              <a:rPr dirty="0"/>
              <a:t>You can’t even tell what part of speech a word has:</a:t>
            </a:r>
            <a:endParaRPr dirty="0"/>
          </a:p>
          <a:p>
            <a:pPr lvl="1" eaLnBrk="1" hangingPunct="1">
              <a:lnSpc>
                <a:spcPct val="90000"/>
              </a:lnSpc>
            </a:pPr>
            <a:r>
              <a:rPr sz="2200" dirty="0"/>
              <a:t>“I saw her duck”</a:t>
            </a:r>
            <a:endParaRPr sz="2200" dirty="0"/>
          </a:p>
          <a:p>
            <a:pPr lvl="3" eaLnBrk="1" hangingPunct="1">
              <a:lnSpc>
                <a:spcPct val="90000"/>
              </a:lnSpc>
            </a:pPr>
            <a:endParaRPr sz="700" dirty="0"/>
          </a:p>
          <a:p>
            <a:pPr lvl="1" eaLnBrk="1" hangingPunct="1">
              <a:lnSpc>
                <a:spcPct val="90000"/>
              </a:lnSpc>
            </a:pPr>
            <a:r>
              <a:rPr sz="2200" dirty="0"/>
              <a:t>A query that searches for “pictures of a duck” will find documents that contains:</a:t>
            </a:r>
            <a:endParaRPr sz="2200" dirty="0"/>
          </a:p>
          <a:p>
            <a:pPr lvl="2" eaLnBrk="1" hangingPunct="1">
              <a:lnSpc>
                <a:spcPct val="90000"/>
              </a:lnSpc>
            </a:pPr>
            <a:r>
              <a:rPr sz="1900" dirty="0"/>
              <a:t>“I saw her duck away from the ball falling from the sky”</a:t>
            </a:r>
            <a:endParaRPr sz="1900" dirty="0"/>
          </a:p>
          <a:p>
            <a:pPr lvl="3" eaLnBrk="1" hangingPunct="1">
              <a:lnSpc>
                <a:spcPct val="90000"/>
              </a:lnSpc>
            </a:pPr>
            <a:endParaRPr sz="900" dirty="0"/>
          </a:p>
          <a:p>
            <a:pPr eaLnBrk="1" hangingPunct="1">
              <a:lnSpc>
                <a:spcPct val="90000"/>
              </a:lnSpc>
            </a:pPr>
            <a:r>
              <a:rPr dirty="0"/>
              <a:t>Proper Nouns often use regular old nouns</a:t>
            </a:r>
            <a:endParaRPr dirty="0"/>
          </a:p>
          <a:p>
            <a:pPr lvl="1" eaLnBrk="1" hangingPunct="1">
              <a:lnSpc>
                <a:spcPct val="90000"/>
              </a:lnSpc>
            </a:pPr>
            <a:r>
              <a:rPr sz="2200" dirty="0"/>
              <a:t>Consider a document with “a man named Abraham owned a Lincoln”</a:t>
            </a:r>
            <a:endParaRPr sz="2200" dirty="0"/>
          </a:p>
          <a:p>
            <a:pPr lvl="1" eaLnBrk="1" hangingPunct="1">
              <a:lnSpc>
                <a:spcPct val="90000"/>
              </a:lnSpc>
            </a:pPr>
            <a:r>
              <a:rPr sz="2200" dirty="0"/>
              <a:t>A word matching query for “Abraham Lincoln” may well find the above document.</a:t>
            </a:r>
            <a:endParaRPr sz="2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3794" name="Group 1"/>
          <p:cNvGrpSpPr/>
          <p:nvPr/>
        </p:nvGrpSpPr>
        <p:grpSpPr>
          <a:xfrm>
            <a:off x="231775" y="228600"/>
            <a:ext cx="8683625" cy="647700"/>
            <a:chOff x="192" y="-72"/>
            <a:chExt cx="5136" cy="740"/>
          </a:xfrm>
        </p:grpSpPr>
        <p:sp>
          <p:nvSpPr>
            <p:cNvPr id="33815" name="AutoShape 2"/>
            <p:cNvSpPr/>
            <p:nvPr/>
          </p:nvSpPr>
          <p:spPr>
            <a:xfrm>
              <a:off x="576" y="0"/>
              <a:ext cx="3840" cy="432"/>
            </a:xfrm>
            <a:prstGeom prst="roundRect">
              <a:avLst>
                <a:gd name="adj" fmla="val 231"/>
              </a:avLst>
            </a:prstGeom>
            <a:noFill/>
            <a:ln w="9525">
              <a:noFill/>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sz="1800" dirty="0">
                <a:latin typeface="Arial" panose="020B0604020202020204" pitchFamily="34" charset="0"/>
              </a:endParaRPr>
            </a:p>
          </p:txBody>
        </p:sp>
        <p:sp>
          <p:nvSpPr>
            <p:cNvPr id="33816" name="Text Box 3"/>
            <p:cNvSpPr txBox="1"/>
            <p:nvPr/>
          </p:nvSpPr>
          <p:spPr>
            <a:xfrm>
              <a:off x="192" y="-72"/>
              <a:ext cx="5136" cy="740"/>
            </a:xfrm>
            <a:prstGeom prst="rect">
              <a:avLst/>
            </a:prstGeom>
            <a:noFill/>
            <a:ln w="9525">
              <a:noFill/>
            </a:ln>
          </p:spPr>
          <p:txBody>
            <a:bodyPr lIns="92160" tIns="46080" rIns="92160" bIns="46080" anchor="ctr" anchorCtr="0">
              <a:spAutoFit/>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sz="3600" dirty="0">
                  <a:latin typeface="Arial" panose="020B0604020202020204" pitchFamily="34" charset="0"/>
                </a:rPr>
                <a:t>Basic Concepts in Information Retrieval:</a:t>
              </a:r>
              <a:endParaRPr sz="2800" dirty="0">
                <a:latin typeface="Arial" panose="020B0604020202020204" pitchFamily="34" charset="0"/>
              </a:endParaRPr>
            </a:p>
          </p:txBody>
        </p:sp>
      </p:grpSp>
      <p:sp>
        <p:nvSpPr>
          <p:cNvPr id="33795" name="Text Box 6"/>
          <p:cNvSpPr txBox="1"/>
          <p:nvPr/>
        </p:nvSpPr>
        <p:spPr>
          <a:xfrm>
            <a:off x="207963" y="608013"/>
            <a:ext cx="8686800" cy="2940050"/>
          </a:xfrm>
          <a:prstGeom prst="rect">
            <a:avLst/>
          </a:prstGeom>
          <a:noFill/>
          <a:ln w="9525">
            <a:noFill/>
          </a:ln>
        </p:spPr>
        <p:txBody>
          <a:bodyPr lIns="92160" tIns="46080" rIns="92160" bIns="46080">
            <a:spAutoFit/>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341630" lvl="0" indent="-341630" defTabSz="914400" eaLnBrk="1" hangingPunct="1">
              <a:spcBef>
                <a:spcPts val="700"/>
              </a:spcBef>
              <a:buClr>
                <a:srgbClr val="FF9966"/>
              </a:buClr>
              <a:buSzPct val="50000"/>
              <a:buFont typeface="Monotype Sorts"/>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x-none" sz="1800" dirty="0">
              <a:latin typeface="Arial" panose="020B0604020202020204" pitchFamily="34" charset="0"/>
            </a:endParaRPr>
          </a:p>
          <a:p>
            <a:pPr marL="341630" lvl="0" indent="-341630" defTabSz="914400" eaLnBrk="1" hangingPunct="1">
              <a:spcBef>
                <a:spcPts val="700"/>
              </a:spcBef>
              <a:buClr>
                <a:srgbClr val="FF9966"/>
              </a:buClr>
              <a:buSzPct val="50000"/>
              <a:buFont typeface="Monotype Sorts"/>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x-none" sz="1800" dirty="0">
              <a:latin typeface="Arial" panose="020B0604020202020204" pitchFamily="34" charset="0"/>
            </a:endParaRPr>
          </a:p>
          <a:p>
            <a:pPr marL="341630" lvl="0" indent="-341630" defTabSz="914400" eaLnBrk="1" hangingPunct="1">
              <a:spcBef>
                <a:spcPts val="700"/>
              </a:spcBef>
              <a:buClr>
                <a:srgbClr val="FF9966"/>
              </a:buClr>
              <a:buSzPct val="50000"/>
              <a:buFont typeface="Monotype Sorts"/>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x-none" sz="1800" dirty="0">
              <a:latin typeface="Arial" panose="020B0604020202020204" pitchFamily="34" charset="0"/>
            </a:endParaRPr>
          </a:p>
          <a:p>
            <a:pPr marL="341630" lvl="0" indent="-341630" defTabSz="914400" eaLnBrk="1" hangingPunct="1">
              <a:spcBef>
                <a:spcPts val="700"/>
              </a:spcBef>
              <a:buClr>
                <a:srgbClr val="FF9966"/>
              </a:buClr>
              <a:buSzPct val="50000"/>
              <a:buFont typeface="Monotype Sorts"/>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x-none" sz="1800" dirty="0">
              <a:latin typeface="Arial" panose="020B0604020202020204" pitchFamily="34" charset="0"/>
            </a:endParaRPr>
          </a:p>
          <a:p>
            <a:pPr marL="741680" lvl="1" indent="-284480" defTabSz="914400" eaLnBrk="1" hangingPunct="1">
              <a:spcBef>
                <a:spcPts val="650"/>
              </a:spcBef>
              <a:buClr>
                <a:srgbClr val="336699"/>
              </a:buClr>
              <a:buSzPct val="75000"/>
              <a:buFont typeface="Monotype Sorts"/>
              <a:buChar cha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x-none" sz="2600" dirty="0">
              <a:latin typeface="Arial" panose="020B0604020202020204" pitchFamily="34" charset="0"/>
              <a:ea typeface="MS Gothic" panose="020B0609070205080204" pitchFamily="49" charset="-128"/>
            </a:endParaRPr>
          </a:p>
          <a:p>
            <a:pPr marL="741680" lvl="1" indent="-284480" defTabSz="914400" eaLnBrk="1" hangingPunct="1">
              <a:spcBef>
                <a:spcPts val="650"/>
              </a:spcBef>
              <a:buClr>
                <a:srgbClr val="336699"/>
              </a:buClr>
              <a:buSzPct val="75000"/>
              <a:buFont typeface="Monotype Sorts"/>
              <a:buChar cha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x-none" sz="2600" dirty="0">
              <a:latin typeface="Arial" panose="020B0604020202020204" pitchFamily="34" charset="0"/>
              <a:ea typeface="MS Gothic" panose="020B0609070205080204" pitchFamily="49" charset="-128"/>
            </a:endParaRPr>
          </a:p>
          <a:p>
            <a:pPr marL="741680" lvl="1" indent="-284480" defTabSz="914400" eaLnBrk="1" hangingPunct="1">
              <a:spcBef>
                <a:spcPts val="650"/>
              </a:spcBef>
              <a:buClr>
                <a:srgbClr val="336699"/>
              </a:buClr>
              <a:buSzPct val="75000"/>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x-none" sz="2600" dirty="0">
              <a:latin typeface="Arial" panose="020B0604020202020204" pitchFamily="34" charset="0"/>
              <a:ea typeface="MS Gothic" panose="020B0609070205080204" pitchFamily="49" charset="-128"/>
            </a:endParaRPr>
          </a:p>
        </p:txBody>
      </p:sp>
      <p:sp>
        <p:nvSpPr>
          <p:cNvPr id="33796" name="Rectangle 40"/>
          <p:cNvSpPr/>
          <p:nvPr/>
        </p:nvSpPr>
        <p:spPr>
          <a:xfrm>
            <a:off x="76200" y="1752600"/>
            <a:ext cx="8534400" cy="1127125"/>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defTabSz="914400" eaLnBrk="1" hangingPunct="1">
              <a:lnSpc>
                <a:spcPct val="70000"/>
              </a:lnSpc>
              <a:spcBef>
                <a:spcPct val="0"/>
              </a:spcBef>
              <a:buClr>
                <a:srgbClr val="336699"/>
              </a:buClr>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x-none" sz="3200" b="1" dirty="0">
                <a:solidFill>
                  <a:srgbClr val="000000"/>
                </a:solidFill>
                <a:latin typeface="Arial" panose="020B0604020202020204" pitchFamily="34" charset="0"/>
              </a:rPr>
              <a:t>The User Task: </a:t>
            </a:r>
            <a:endParaRPr lang="en-GB" altLang="x-none" sz="3200" b="1" dirty="0">
              <a:solidFill>
                <a:srgbClr val="000000"/>
              </a:solidFill>
              <a:latin typeface="Arial" panose="020B0604020202020204" pitchFamily="34" charset="0"/>
            </a:endParaRPr>
          </a:p>
          <a:p>
            <a:pPr marL="0" lvl="0" indent="0" defTabSz="914400" eaLnBrk="1" hangingPunct="1">
              <a:lnSpc>
                <a:spcPct val="70000"/>
              </a:lnSpc>
              <a:spcBef>
                <a:spcPct val="0"/>
              </a:spcBef>
              <a:buClr>
                <a:srgbClr val="336699"/>
              </a:buClr>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x-none" sz="3200" b="1" dirty="0">
                <a:solidFill>
                  <a:srgbClr val="000000"/>
                </a:solidFill>
                <a:latin typeface="Arial" panose="020B0604020202020204" pitchFamily="34" charset="0"/>
              </a:rPr>
              <a:t>   </a:t>
            </a:r>
            <a:r>
              <a:rPr sz="2400" dirty="0">
                <a:latin typeface="Arial" panose="020B0604020202020204" pitchFamily="34" charset="0"/>
              </a:rPr>
              <a:t>two user task – retrieval and browsing</a:t>
            </a:r>
            <a:endParaRPr sz="2400" dirty="0">
              <a:latin typeface="Arial" panose="020B0604020202020204" pitchFamily="34" charset="0"/>
            </a:endParaRPr>
          </a:p>
          <a:p>
            <a:pPr marL="0" lvl="0" indent="0" defTabSz="914400" eaLnBrk="1" hangingPunct="1">
              <a:lnSpc>
                <a:spcPct val="70000"/>
              </a:lnSpc>
              <a:spcBef>
                <a:spcPct val="0"/>
              </a:spcBef>
              <a:buClr>
                <a:srgbClr val="336699"/>
              </a:buClr>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x-none" sz="3200" b="1" dirty="0">
                <a:solidFill>
                  <a:srgbClr val="000000"/>
                </a:solidFill>
                <a:latin typeface="Arial" panose="020B0604020202020204" pitchFamily="34" charset="0"/>
              </a:rPr>
              <a:t> </a:t>
            </a:r>
            <a:endParaRPr lang="en-GB" altLang="x-none" sz="3200" b="1" dirty="0">
              <a:solidFill>
                <a:srgbClr val="000000"/>
              </a:solidFill>
              <a:latin typeface="Arial" panose="020B0604020202020204" pitchFamily="34" charset="0"/>
            </a:endParaRPr>
          </a:p>
        </p:txBody>
      </p:sp>
      <p:sp>
        <p:nvSpPr>
          <p:cNvPr id="33797" name="Rectangle 41"/>
          <p:cNvSpPr/>
          <p:nvPr/>
        </p:nvSpPr>
        <p:spPr>
          <a:xfrm>
            <a:off x="381000" y="838200"/>
            <a:ext cx="8153400" cy="46196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sz="2400" dirty="0">
                <a:latin typeface="Arial" panose="020B0604020202020204" pitchFamily="34" charset="0"/>
              </a:rPr>
              <a:t>(i) User Task and  (ii) Logical View of documents</a:t>
            </a:r>
            <a:endParaRPr sz="2400" dirty="0">
              <a:latin typeface="Arial" panose="020B0604020202020204" pitchFamily="34" charset="0"/>
            </a:endParaRPr>
          </a:p>
        </p:txBody>
      </p:sp>
      <p:sp>
        <p:nvSpPr>
          <p:cNvPr id="33798" name="AutoShape 3"/>
          <p:cNvSpPr/>
          <p:nvPr/>
        </p:nvSpPr>
        <p:spPr>
          <a:xfrm>
            <a:off x="3429000" y="3122613"/>
            <a:ext cx="2514600" cy="838200"/>
          </a:xfrm>
          <a:prstGeom prst="roundRect">
            <a:avLst>
              <a:gd name="adj" fmla="val 16667"/>
            </a:avLst>
          </a:prstGeom>
          <a:solidFill>
            <a:schemeClr val="tx2"/>
          </a:solidFill>
          <a:ln w="9525" cap="flat" cmpd="sng">
            <a:solidFill>
              <a:schemeClr val="bg2"/>
            </a:solidFill>
            <a:prstDash val="solid"/>
            <a:headEnd type="none" w="med" len="med"/>
            <a:tailEnd type="none" w="med" len="med"/>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sz="2400" dirty="0">
                <a:solidFill>
                  <a:schemeClr val="bg1"/>
                </a:solidFill>
                <a:latin typeface="Times New Roman" panose="02020603050405020304" pitchFamily="18" charset="0"/>
              </a:rPr>
              <a:t>Retrieval</a:t>
            </a:r>
            <a:endParaRPr sz="2400" dirty="0">
              <a:solidFill>
                <a:schemeClr val="bg1"/>
              </a:solidFill>
              <a:latin typeface="Times New Roman" panose="02020603050405020304" pitchFamily="18" charset="0"/>
            </a:endParaRPr>
          </a:p>
        </p:txBody>
      </p:sp>
      <p:sp>
        <p:nvSpPr>
          <p:cNvPr id="33799" name="AutoShape 4"/>
          <p:cNvSpPr/>
          <p:nvPr/>
        </p:nvSpPr>
        <p:spPr>
          <a:xfrm>
            <a:off x="3581400" y="4953000"/>
            <a:ext cx="2514600" cy="838200"/>
          </a:xfrm>
          <a:prstGeom prst="roundRect">
            <a:avLst>
              <a:gd name="adj" fmla="val 16667"/>
            </a:avLst>
          </a:prstGeom>
          <a:solidFill>
            <a:schemeClr val="tx2"/>
          </a:solidFill>
          <a:ln w="9525" cap="flat" cmpd="sng">
            <a:solidFill>
              <a:schemeClr val="bg2"/>
            </a:solidFill>
            <a:prstDash val="solid"/>
            <a:headEnd type="none" w="med" len="med"/>
            <a:tailEnd type="none" w="med" len="med"/>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sz="2400" dirty="0">
                <a:solidFill>
                  <a:schemeClr val="bg1"/>
                </a:solidFill>
                <a:latin typeface="Times New Roman" panose="02020603050405020304" pitchFamily="18" charset="0"/>
              </a:rPr>
              <a:t>Browsing</a:t>
            </a:r>
            <a:endParaRPr sz="2400" dirty="0">
              <a:solidFill>
                <a:schemeClr val="bg1"/>
              </a:solidFill>
              <a:latin typeface="Times New Roman" panose="02020603050405020304" pitchFamily="18" charset="0"/>
            </a:endParaRPr>
          </a:p>
        </p:txBody>
      </p:sp>
      <p:sp>
        <p:nvSpPr>
          <p:cNvPr id="33800" name="AutoShape 5"/>
          <p:cNvSpPr/>
          <p:nvPr/>
        </p:nvSpPr>
        <p:spPr>
          <a:xfrm>
            <a:off x="6934200" y="3808413"/>
            <a:ext cx="1371600" cy="1752600"/>
          </a:xfrm>
          <a:prstGeom prst="can">
            <a:avLst>
              <a:gd name="adj" fmla="val 41069"/>
            </a:avLst>
          </a:prstGeom>
          <a:solidFill>
            <a:schemeClr val="tx2"/>
          </a:solidFill>
          <a:ln w="9525" cap="flat" cmpd="sng">
            <a:solidFill>
              <a:schemeClr val="bg2"/>
            </a:solidFill>
            <a:prstDash val="solid"/>
            <a:headEnd type="none" w="med" len="med"/>
            <a:tailEnd type="none" w="med" len="med"/>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sz="2400" dirty="0">
                <a:solidFill>
                  <a:schemeClr val="bg1"/>
                </a:solidFill>
                <a:latin typeface="Times New Roman" panose="02020603050405020304" pitchFamily="18" charset="0"/>
              </a:rPr>
              <a:t>DB</a:t>
            </a:r>
            <a:endParaRPr sz="2400" dirty="0">
              <a:solidFill>
                <a:schemeClr val="bg1"/>
              </a:solidFill>
              <a:latin typeface="Times New Roman" panose="02020603050405020304" pitchFamily="18" charset="0"/>
            </a:endParaRPr>
          </a:p>
        </p:txBody>
      </p:sp>
      <p:pic>
        <p:nvPicPr>
          <p:cNvPr id="33801" name="Picture 6" descr="BD06990_"/>
          <p:cNvPicPr>
            <a:picLocks noChangeAspect="1"/>
          </p:cNvPicPr>
          <p:nvPr/>
        </p:nvPicPr>
        <p:blipFill>
          <a:blip r:embed="rId1"/>
          <a:stretch>
            <a:fillRect/>
          </a:stretch>
        </p:blipFill>
        <p:spPr>
          <a:xfrm>
            <a:off x="914400" y="3656013"/>
            <a:ext cx="1808163" cy="2057400"/>
          </a:xfrm>
          <a:prstGeom prst="rect">
            <a:avLst/>
          </a:prstGeom>
          <a:noFill/>
          <a:ln w="9525">
            <a:noFill/>
          </a:ln>
        </p:spPr>
      </p:pic>
      <p:sp>
        <p:nvSpPr>
          <p:cNvPr id="33802" name="Line 7"/>
          <p:cNvSpPr/>
          <p:nvPr/>
        </p:nvSpPr>
        <p:spPr>
          <a:xfrm flipV="1">
            <a:off x="2895600" y="3657600"/>
            <a:ext cx="533400" cy="531813"/>
          </a:xfrm>
          <a:prstGeom prst="line">
            <a:avLst/>
          </a:prstGeom>
          <a:ln w="76200" cap="flat" cmpd="sng">
            <a:solidFill>
              <a:schemeClr val="tx1"/>
            </a:solidFill>
            <a:prstDash val="solid"/>
            <a:headEnd type="none" w="med" len="med"/>
            <a:tailEnd type="triangle" w="med" len="med"/>
          </a:ln>
        </p:spPr>
      </p:sp>
      <p:sp>
        <p:nvSpPr>
          <p:cNvPr id="33803" name="Line 8"/>
          <p:cNvSpPr/>
          <p:nvPr/>
        </p:nvSpPr>
        <p:spPr>
          <a:xfrm>
            <a:off x="2971800" y="4876800"/>
            <a:ext cx="609600" cy="533400"/>
          </a:xfrm>
          <a:prstGeom prst="line">
            <a:avLst/>
          </a:prstGeom>
          <a:ln w="57150" cap="flat" cmpd="sng">
            <a:solidFill>
              <a:schemeClr val="tx1"/>
            </a:solidFill>
            <a:prstDash val="solid"/>
            <a:headEnd type="none" w="med" len="med"/>
            <a:tailEnd type="triangle" w="med" len="med"/>
          </a:ln>
        </p:spPr>
      </p:sp>
      <p:sp>
        <p:nvSpPr>
          <p:cNvPr id="33804" name="Line 9"/>
          <p:cNvSpPr/>
          <p:nvPr/>
        </p:nvSpPr>
        <p:spPr>
          <a:xfrm flipV="1">
            <a:off x="4419600" y="4000500"/>
            <a:ext cx="0" cy="914400"/>
          </a:xfrm>
          <a:prstGeom prst="line">
            <a:avLst/>
          </a:prstGeom>
          <a:ln w="57150" cap="flat" cmpd="sng">
            <a:solidFill>
              <a:schemeClr val="tx1"/>
            </a:solidFill>
            <a:prstDash val="solid"/>
            <a:headEnd type="none" w="med" len="med"/>
            <a:tailEnd type="triangle" w="med" len="med"/>
          </a:ln>
        </p:spPr>
      </p:sp>
      <p:sp>
        <p:nvSpPr>
          <p:cNvPr id="33805" name="Line 10"/>
          <p:cNvSpPr/>
          <p:nvPr/>
        </p:nvSpPr>
        <p:spPr>
          <a:xfrm>
            <a:off x="5029200" y="4000500"/>
            <a:ext cx="0" cy="990600"/>
          </a:xfrm>
          <a:prstGeom prst="line">
            <a:avLst/>
          </a:prstGeom>
          <a:ln w="57150" cap="flat" cmpd="sng">
            <a:solidFill>
              <a:schemeClr val="tx1"/>
            </a:solidFill>
            <a:prstDash val="solid"/>
            <a:headEnd type="none" w="med" len="med"/>
            <a:tailEnd type="triangle" w="med" len="med"/>
          </a:ln>
        </p:spPr>
      </p:sp>
      <p:sp>
        <p:nvSpPr>
          <p:cNvPr id="33806" name="Line 11"/>
          <p:cNvSpPr/>
          <p:nvPr/>
        </p:nvSpPr>
        <p:spPr>
          <a:xfrm flipH="1">
            <a:off x="6096000" y="4648200"/>
            <a:ext cx="838200" cy="687388"/>
          </a:xfrm>
          <a:prstGeom prst="line">
            <a:avLst/>
          </a:prstGeom>
          <a:ln w="57150" cap="flat" cmpd="sng">
            <a:solidFill>
              <a:schemeClr val="tx1"/>
            </a:solidFill>
            <a:prstDash val="solid"/>
            <a:headEnd type="none" w="med" len="med"/>
            <a:tailEnd type="triangle" w="med" len="med"/>
          </a:ln>
        </p:spPr>
      </p:sp>
      <p:sp>
        <p:nvSpPr>
          <p:cNvPr id="33807" name="Line 12"/>
          <p:cNvSpPr/>
          <p:nvPr/>
        </p:nvSpPr>
        <p:spPr>
          <a:xfrm flipH="1" flipV="1">
            <a:off x="6019800" y="3581400"/>
            <a:ext cx="914400" cy="685800"/>
          </a:xfrm>
          <a:prstGeom prst="line">
            <a:avLst/>
          </a:prstGeom>
          <a:ln w="57150" cap="flat" cmpd="sng">
            <a:solidFill>
              <a:schemeClr val="tx1"/>
            </a:solidFill>
            <a:prstDash val="solid"/>
            <a:headEnd type="none" w="med" len="med"/>
            <a:tailEnd type="triangle" w="med" len="med"/>
          </a:ln>
        </p:spPr>
      </p:sp>
      <p:sp>
        <p:nvSpPr>
          <p:cNvPr id="33808" name="Line 13"/>
          <p:cNvSpPr/>
          <p:nvPr/>
        </p:nvSpPr>
        <p:spPr>
          <a:xfrm flipV="1">
            <a:off x="4038600" y="2667000"/>
            <a:ext cx="457200" cy="457200"/>
          </a:xfrm>
          <a:prstGeom prst="line">
            <a:avLst/>
          </a:prstGeom>
          <a:ln w="57150" cap="sq" cmpd="sng">
            <a:solidFill>
              <a:schemeClr val="tx1"/>
            </a:solidFill>
            <a:prstDash val="solid"/>
            <a:headEnd type="none" w="sm" len="sm"/>
            <a:tailEnd type="none" w="sm" len="sm"/>
          </a:ln>
        </p:spPr>
      </p:sp>
      <p:sp>
        <p:nvSpPr>
          <p:cNvPr id="33809" name="Line 14"/>
          <p:cNvSpPr/>
          <p:nvPr/>
        </p:nvSpPr>
        <p:spPr>
          <a:xfrm>
            <a:off x="4495800" y="2667000"/>
            <a:ext cx="609600" cy="0"/>
          </a:xfrm>
          <a:prstGeom prst="line">
            <a:avLst/>
          </a:prstGeom>
          <a:ln w="57150" cap="sq" cmpd="sng">
            <a:solidFill>
              <a:schemeClr val="tx1"/>
            </a:solidFill>
            <a:prstDash val="solid"/>
            <a:headEnd type="none" w="sm" len="sm"/>
            <a:tailEnd type="none" w="sm" len="sm"/>
          </a:ln>
        </p:spPr>
      </p:sp>
      <p:sp>
        <p:nvSpPr>
          <p:cNvPr id="33810" name="Line 15"/>
          <p:cNvSpPr/>
          <p:nvPr/>
        </p:nvSpPr>
        <p:spPr>
          <a:xfrm>
            <a:off x="5105400" y="2667000"/>
            <a:ext cx="381000" cy="457200"/>
          </a:xfrm>
          <a:prstGeom prst="line">
            <a:avLst/>
          </a:prstGeom>
          <a:ln w="57150" cap="sq" cmpd="sng">
            <a:solidFill>
              <a:schemeClr val="tx1"/>
            </a:solidFill>
            <a:prstDash val="solid"/>
            <a:headEnd type="none" w="sm" len="sm"/>
            <a:tailEnd type="triangle" w="med" len="med"/>
          </a:ln>
        </p:spPr>
      </p:sp>
      <p:sp>
        <p:nvSpPr>
          <p:cNvPr id="33811" name="Line 16"/>
          <p:cNvSpPr/>
          <p:nvPr/>
        </p:nvSpPr>
        <p:spPr>
          <a:xfrm>
            <a:off x="4114800" y="5792788"/>
            <a:ext cx="228600" cy="533400"/>
          </a:xfrm>
          <a:prstGeom prst="line">
            <a:avLst/>
          </a:prstGeom>
          <a:ln w="57150" cap="sq" cmpd="sng">
            <a:solidFill>
              <a:schemeClr val="tx1"/>
            </a:solidFill>
            <a:prstDash val="solid"/>
            <a:headEnd type="none" w="sm" len="sm"/>
            <a:tailEnd type="none" w="sm" len="sm"/>
          </a:ln>
        </p:spPr>
      </p:sp>
      <p:sp>
        <p:nvSpPr>
          <p:cNvPr id="33812" name="Line 17"/>
          <p:cNvSpPr/>
          <p:nvPr/>
        </p:nvSpPr>
        <p:spPr>
          <a:xfrm>
            <a:off x="4343400" y="6326188"/>
            <a:ext cx="838200" cy="0"/>
          </a:xfrm>
          <a:prstGeom prst="line">
            <a:avLst/>
          </a:prstGeom>
          <a:ln w="57150" cap="sq" cmpd="sng">
            <a:solidFill>
              <a:schemeClr val="tx1"/>
            </a:solidFill>
            <a:prstDash val="solid"/>
            <a:headEnd type="none" w="sm" len="sm"/>
            <a:tailEnd type="none" w="sm" len="sm"/>
          </a:ln>
        </p:spPr>
      </p:sp>
      <p:sp>
        <p:nvSpPr>
          <p:cNvPr id="33813" name="Line 18"/>
          <p:cNvSpPr/>
          <p:nvPr/>
        </p:nvSpPr>
        <p:spPr>
          <a:xfrm flipV="1">
            <a:off x="5181600" y="5792788"/>
            <a:ext cx="533400" cy="533400"/>
          </a:xfrm>
          <a:prstGeom prst="line">
            <a:avLst/>
          </a:prstGeom>
          <a:ln w="57150" cap="sq" cmpd="sng">
            <a:solidFill>
              <a:schemeClr val="tx1"/>
            </a:solidFill>
            <a:prstDash val="solid"/>
            <a:headEnd type="none" w="sm" len="sm"/>
            <a:tailEnd type="triangle" w="med" len="med"/>
          </a:ln>
        </p:spPr>
      </p:sp>
      <p:sp>
        <p:nvSpPr>
          <p:cNvPr id="33814" name="Text Box 19"/>
          <p:cNvSpPr txBox="1"/>
          <p:nvPr/>
        </p:nvSpPr>
        <p:spPr>
          <a:xfrm>
            <a:off x="1219200" y="5789613"/>
            <a:ext cx="1905000" cy="457200"/>
          </a:xfrm>
          <a:prstGeom prst="rect">
            <a:avLst/>
          </a:prstGeom>
          <a:noFill/>
          <a:ln w="12700">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sz="2400" dirty="0">
                <a:latin typeface="Times New Roman" panose="02020603050405020304" pitchFamily="18" charset="0"/>
              </a:rPr>
              <a:t>USER</a:t>
            </a:r>
            <a:endParaRPr sz="2400" dirty="0">
              <a:latin typeface="Times New Roman" panose="02020603050405020304" pitchFamily="18" charset="0"/>
            </a:endParaRPr>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5842" name="Group 1"/>
          <p:cNvGrpSpPr/>
          <p:nvPr/>
        </p:nvGrpSpPr>
        <p:grpSpPr>
          <a:xfrm>
            <a:off x="152400" y="609600"/>
            <a:ext cx="8683625" cy="1201738"/>
            <a:chOff x="192" y="-72"/>
            <a:chExt cx="5136" cy="2359"/>
          </a:xfrm>
        </p:grpSpPr>
        <p:sp>
          <p:nvSpPr>
            <p:cNvPr id="35844" name="AutoShape 2"/>
            <p:cNvSpPr/>
            <p:nvPr/>
          </p:nvSpPr>
          <p:spPr>
            <a:xfrm>
              <a:off x="576" y="0"/>
              <a:ext cx="3840" cy="432"/>
            </a:xfrm>
            <a:prstGeom prst="roundRect">
              <a:avLst>
                <a:gd name="adj" fmla="val 231"/>
              </a:avLst>
            </a:prstGeom>
            <a:noFill/>
            <a:ln w="9525">
              <a:noFill/>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sz="1800" dirty="0">
                <a:latin typeface="Arial" panose="020B0604020202020204" pitchFamily="34" charset="0"/>
              </a:endParaRPr>
            </a:p>
          </p:txBody>
        </p:sp>
        <p:sp>
          <p:nvSpPr>
            <p:cNvPr id="35845" name="Text Box 3"/>
            <p:cNvSpPr txBox="1"/>
            <p:nvPr/>
          </p:nvSpPr>
          <p:spPr>
            <a:xfrm>
              <a:off x="192" y="-72"/>
              <a:ext cx="5136" cy="2359"/>
            </a:xfrm>
            <a:prstGeom prst="rect">
              <a:avLst/>
            </a:prstGeom>
            <a:noFill/>
            <a:ln w="9525">
              <a:noFill/>
            </a:ln>
          </p:spPr>
          <p:txBody>
            <a:bodyPr lIns="92160" tIns="46080" rIns="92160" bIns="46080" anchor="ctr" anchorCtr="0">
              <a:spAutoFit/>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sz="3600" dirty="0">
                  <a:latin typeface="Arial" panose="020B0604020202020204" pitchFamily="34" charset="0"/>
                </a:rPr>
                <a:t>The User Task</a:t>
              </a:r>
              <a:endParaRPr sz="3600" dirty="0">
                <a:latin typeface="Arial" panose="020B0604020202020204" pitchFamily="34" charset="0"/>
              </a:endParaRPr>
            </a:p>
            <a:p>
              <a:pPr marL="0" lvl="0" indent="0" eaLnBrk="1" hangingPunct="1">
                <a:spcBef>
                  <a:spcPct val="0"/>
                </a:spcBef>
                <a:buClrTx/>
                <a:buSzTx/>
                <a:buFontTx/>
                <a:buNone/>
              </a:pPr>
              <a:r>
                <a:rPr sz="3600" dirty="0">
                  <a:latin typeface="Arial" panose="020B0604020202020204" pitchFamily="34" charset="0"/>
                </a:rPr>
                <a:t>Retrieval</a:t>
              </a:r>
              <a:endParaRPr sz="2800" dirty="0">
                <a:latin typeface="Arial" panose="020B0604020202020204" pitchFamily="34" charset="0"/>
              </a:endParaRPr>
            </a:p>
          </p:txBody>
        </p:sp>
      </p:grpSp>
      <p:sp>
        <p:nvSpPr>
          <p:cNvPr id="35843" name="Text Box 6"/>
          <p:cNvSpPr txBox="1"/>
          <p:nvPr/>
        </p:nvSpPr>
        <p:spPr>
          <a:xfrm>
            <a:off x="228600" y="1981200"/>
            <a:ext cx="8610600" cy="4017963"/>
          </a:xfrm>
          <a:prstGeom prst="rect">
            <a:avLst/>
          </a:prstGeom>
          <a:noFill/>
          <a:ln w="9525">
            <a:noFill/>
          </a:ln>
        </p:spPr>
        <p:txBody>
          <a:bodyPr lIns="92160" tIns="46080" rIns="92160" bIns="46080">
            <a:spAutoFit/>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228600" lvl="0" indent="-228600" defTabSz="914400" eaLnBrk="1" hangingPunct="1">
              <a:spcBef>
                <a:spcPts val="600"/>
              </a:spcBef>
              <a:buClr>
                <a:srgbClr val="FF9966"/>
              </a:buClr>
              <a:buSzPct val="65000"/>
              <a:buFont typeface="Arial" panose="020B060402020202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sz="2400" b="1" dirty="0">
                <a:latin typeface="Arial" panose="020B0604020202020204" pitchFamily="34" charset="0"/>
              </a:rPr>
              <a:t>It </a:t>
            </a:r>
            <a:r>
              <a:rPr sz="2400" dirty="0">
                <a:latin typeface="Arial" panose="020B0604020202020204" pitchFamily="34" charset="0"/>
              </a:rPr>
              <a:t>is the process of retrieving information whereby the main objective is clearly defined from the onset of searching process.</a:t>
            </a:r>
            <a:endParaRPr sz="2400" dirty="0">
              <a:latin typeface="Arial" panose="020B0604020202020204" pitchFamily="34" charset="0"/>
            </a:endParaRPr>
          </a:p>
          <a:p>
            <a:pPr marL="228600" lvl="0" indent="-228600" defTabSz="914400" eaLnBrk="1" hangingPunct="1">
              <a:spcBef>
                <a:spcPts val="600"/>
              </a:spcBef>
              <a:buClr>
                <a:srgbClr val="FF9966"/>
              </a:buClr>
              <a:buSzPct val="65000"/>
              <a:buFont typeface="Arial" panose="020B060402020202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x-none" sz="2400" dirty="0">
                <a:latin typeface="Arial" panose="020B0604020202020204" pitchFamily="34" charset="0"/>
                <a:ea typeface="MS Gothic" panose="020B0609070205080204" pitchFamily="49" charset="-128"/>
              </a:rPr>
              <a:t>The user of a retrieval system has to translate his information need  into a query in the language provided by the system. </a:t>
            </a:r>
            <a:endParaRPr sz="2400" dirty="0">
              <a:latin typeface="Arial" panose="020B0604020202020204" pitchFamily="34" charset="0"/>
            </a:endParaRPr>
          </a:p>
          <a:p>
            <a:pPr marL="228600" lvl="0" indent="-228600" defTabSz="914400" eaLnBrk="1" hangingPunct="1">
              <a:spcBef>
                <a:spcPts val="600"/>
              </a:spcBef>
              <a:buClr>
                <a:srgbClr val="FF9966"/>
              </a:buClr>
              <a:buSzPct val="65000"/>
              <a:buFont typeface="Arial" panose="020B060402020202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x-none" sz="2400" dirty="0">
                <a:latin typeface="Arial" panose="020B0604020202020204" pitchFamily="34" charset="0"/>
                <a:ea typeface="MS Gothic" panose="020B0609070205080204" pitchFamily="49" charset="-128"/>
              </a:rPr>
              <a:t>In this context (i.e. by </a:t>
            </a:r>
            <a:r>
              <a:rPr sz="2400" dirty="0">
                <a:latin typeface="Arial" panose="020B0604020202020204" pitchFamily="34" charset="0"/>
                <a:ea typeface="MS Gothic" panose="020B0609070205080204" pitchFamily="49" charset="-128"/>
              </a:rPr>
              <a:t>s</a:t>
            </a:r>
            <a:r>
              <a:rPr sz="2400" dirty="0">
                <a:latin typeface="Arial" panose="020B0604020202020204" pitchFamily="34" charset="0"/>
              </a:rPr>
              <a:t>pecifying a set of words)</a:t>
            </a:r>
            <a:r>
              <a:rPr lang="en-GB" altLang="x-none" sz="2400" dirty="0">
                <a:latin typeface="Arial" panose="020B0604020202020204" pitchFamily="34" charset="0"/>
                <a:ea typeface="MS Gothic" panose="020B0609070205080204" pitchFamily="49" charset="-128"/>
              </a:rPr>
              <a:t>, the user searches for useful information executing a retrieval task</a:t>
            </a:r>
            <a:endParaRPr lang="en-GB" altLang="x-none" sz="2400" dirty="0">
              <a:latin typeface="Arial" panose="020B0604020202020204" pitchFamily="34" charset="0"/>
              <a:ea typeface="MS Gothic" panose="020B0609070205080204" pitchFamily="49" charset="-128"/>
            </a:endParaRPr>
          </a:p>
          <a:p>
            <a:pPr marL="228600" lvl="0" indent="-228600" defTabSz="914400" eaLnBrk="1" hangingPunct="1">
              <a:spcBef>
                <a:spcPts val="600"/>
              </a:spcBef>
              <a:buClr>
                <a:srgbClr val="FF9966"/>
              </a:buClr>
              <a:buSzPct val="65000"/>
              <a:buFont typeface="Arial" panose="020B060402020202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sz="2400" dirty="0">
                <a:latin typeface="Arial" panose="020B0604020202020204" pitchFamily="34" charset="0"/>
              </a:rPr>
              <a:t>English Language Statement : </a:t>
            </a:r>
            <a:endParaRPr sz="2400" dirty="0">
              <a:latin typeface="Arial" panose="020B0604020202020204" pitchFamily="34" charset="0"/>
            </a:endParaRPr>
          </a:p>
          <a:p>
            <a:pPr marL="228600" lvl="0" indent="-228600" defTabSz="914400" eaLnBrk="1" hangingPunct="1">
              <a:spcBef>
                <a:spcPct val="0"/>
              </a:spcBef>
              <a:buClrTx/>
              <a:buSzTx/>
              <a:buFont typeface="Wingdings" panose="05000000000000000000"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sz="2400" dirty="0">
                <a:latin typeface="Arial" panose="020B0604020202020204" pitchFamily="34" charset="0"/>
              </a:rPr>
              <a:t>	I want a book by J. K Rowling titled The Chamber of Secrets</a:t>
            </a:r>
            <a:endParaRPr lang="en-GB" altLang="x-none" sz="2400" dirty="0">
              <a:latin typeface="Arial" panose="020B0604020202020204" pitchFamily="34" charset="0"/>
              <a:ea typeface="MS Gothic" panose="020B0609070205080204" pitchFamily="49" charset="-128"/>
            </a:endParaRPr>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Title 1"/>
          <p:cNvSpPr>
            <a:spLocks noGrp="1"/>
          </p:cNvSpPr>
          <p:nvPr>
            <p:ph type="title"/>
          </p:nvPr>
        </p:nvSpPr>
        <p:spPr>
          <a:xfrm>
            <a:off x="457200" y="457200"/>
            <a:ext cx="8229600" cy="742950"/>
          </a:xfrm>
          <a:ln/>
        </p:spPr>
        <p:txBody>
          <a:bodyPr vert="horz" wrap="square" lIns="0" tIns="45720" rIns="0" bIns="0" anchor="b" anchorCtr="0"/>
          <a:p>
            <a:r>
              <a:rPr dirty="0"/>
              <a:t>Browsing</a:t>
            </a:r>
            <a:endParaRPr dirty="0"/>
          </a:p>
        </p:txBody>
      </p:sp>
      <p:sp>
        <p:nvSpPr>
          <p:cNvPr id="37891" name="Content Placeholder 2"/>
          <p:cNvSpPr>
            <a:spLocks noGrp="1"/>
          </p:cNvSpPr>
          <p:nvPr>
            <p:ph idx="1"/>
          </p:nvPr>
        </p:nvSpPr>
        <p:spPr>
          <a:xfrm>
            <a:off x="457200" y="1295400"/>
            <a:ext cx="8229600" cy="4389438"/>
          </a:xfrm>
          <a:ln/>
        </p:spPr>
        <p:txBody>
          <a:bodyPr vert="horz" wrap="square" lIns="91440" tIns="45720" rIns="91440" bIns="45720" anchor="t" anchorCtr="0"/>
          <a:p>
            <a:pPr marL="317500" indent="-228600" defTabSz="914400">
              <a:spcBef>
                <a:spcPts val="600"/>
              </a:spcBef>
              <a:buClr>
                <a:srgbClr val="FF9966"/>
              </a:buClr>
              <a:buSzPct val="65000"/>
              <a:buFont typeface="Arial" panose="020B060402020202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sz="2400" b="1" dirty="0"/>
              <a:t>It </a:t>
            </a:r>
            <a:r>
              <a:rPr sz="2400" dirty="0"/>
              <a:t>is the process of retrieving information,  whereby the main objective is not clearly defined from the beginning and whose purpose might change during the interaction with the system.</a:t>
            </a:r>
            <a:r>
              <a:rPr sz="2400" dirty="0">
                <a:sym typeface="Wingdings" panose="05000000000000000000" pitchFamily="2" charset="2"/>
              </a:rPr>
              <a:t> </a:t>
            </a:r>
            <a:endParaRPr sz="2400" dirty="0">
              <a:sym typeface="Wingdings" panose="05000000000000000000" pitchFamily="2" charset="2"/>
            </a:endParaRPr>
          </a:p>
          <a:p>
            <a:pPr marL="317500" indent="-228600" defTabSz="914400">
              <a:spcBef>
                <a:spcPts val="600"/>
              </a:spcBef>
              <a:buClr>
                <a:srgbClr val="FF9966"/>
              </a:buClr>
              <a:buSzPct val="65000"/>
              <a:buFont typeface="Arial" panose="020B060402020202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sz="2400" dirty="0"/>
              <a:t>E.g. User might search for documents about ‘car racing’ . Meanwhile he might find interesting documents about ‘car manufacturers’. While reading about car manufacturers in Addis, he might turn his attention to a document providing ‘direction to Addis’, and from this to documents which cover ‘Tourism in Ethiopia’. </a:t>
            </a:r>
            <a:endParaRPr sz="2400" dirty="0"/>
          </a:p>
          <a:p>
            <a:pPr marL="317500" indent="-228600" defTabSz="914400">
              <a:spcBef>
                <a:spcPts val="600"/>
              </a:spcBef>
              <a:buClr>
                <a:srgbClr val="FF9966"/>
              </a:buClr>
              <a:buSzPct val="65000"/>
              <a:buFont typeface="Arial" panose="020B060402020202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sz="2400" dirty="0">
                <a:sym typeface="Wingdings" panose="05000000000000000000" pitchFamily="2" charset="2"/>
              </a:rPr>
              <a:t>In this context, user is said to be browsing in the collection and not searching, since a</a:t>
            </a:r>
            <a:r>
              <a:rPr lang="en-GB" altLang="x-none" sz="2400" dirty="0"/>
              <a:t> user may has an interest glancing around</a:t>
            </a:r>
            <a:endParaRPr lang="en-GB" altLang="x-none"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8914" name="Group 1"/>
          <p:cNvGrpSpPr/>
          <p:nvPr/>
        </p:nvGrpSpPr>
        <p:grpSpPr>
          <a:xfrm>
            <a:off x="457200" y="381000"/>
            <a:ext cx="7848600" cy="381000"/>
            <a:chOff x="288" y="240"/>
            <a:chExt cx="4944" cy="432"/>
          </a:xfrm>
        </p:grpSpPr>
        <p:sp>
          <p:nvSpPr>
            <p:cNvPr id="38944" name="AutoShape 2"/>
            <p:cNvSpPr/>
            <p:nvPr/>
          </p:nvSpPr>
          <p:spPr>
            <a:xfrm>
              <a:off x="576" y="240"/>
              <a:ext cx="3840" cy="432"/>
            </a:xfrm>
            <a:prstGeom prst="roundRect">
              <a:avLst>
                <a:gd name="adj" fmla="val 231"/>
              </a:avLst>
            </a:prstGeom>
            <a:noFill/>
            <a:ln w="9525">
              <a:noFill/>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sz="1800" dirty="0">
                <a:latin typeface="Arial" panose="020B0604020202020204" pitchFamily="34" charset="0"/>
              </a:endParaRPr>
            </a:p>
          </p:txBody>
        </p:sp>
        <p:sp>
          <p:nvSpPr>
            <p:cNvPr id="38945" name="Text Box 3"/>
            <p:cNvSpPr txBox="1"/>
            <p:nvPr/>
          </p:nvSpPr>
          <p:spPr>
            <a:xfrm>
              <a:off x="288" y="288"/>
              <a:ext cx="4944" cy="306"/>
            </a:xfrm>
            <a:prstGeom prst="rect">
              <a:avLst/>
            </a:prstGeom>
            <a:noFill/>
            <a:ln w="9525">
              <a:noFill/>
            </a:ln>
          </p:spPr>
          <p:txBody>
            <a:bodyPr lIns="92160" tIns="46080" rIns="92160" bIns="46080" anchor="ctr" anchorCtr="0">
              <a:spAutoFit/>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lgn="ctr" defTabSz="914400" eaLnBrk="1" hangingPunct="1">
                <a:lnSpc>
                  <a:spcPct val="70000"/>
                </a:lnSpc>
                <a:spcBef>
                  <a:spcPct val="0"/>
                </a:spcBef>
                <a:buClr>
                  <a:srgbClr val="336699"/>
                </a:buClr>
                <a:buSzPct val="100000"/>
                <a:buFont typeface="Arial Narrow"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3600" dirty="0">
                  <a:latin typeface="Arial" panose="020B0604020202020204" pitchFamily="34" charset="0"/>
                </a:rPr>
                <a:t>Logical View of Documents </a:t>
              </a:r>
              <a:endParaRPr lang="en-GB" altLang="x-none" sz="3600" b="1" dirty="0">
                <a:latin typeface="Arial Narrow" pitchFamily="34" charset="0"/>
              </a:endParaRPr>
            </a:p>
          </p:txBody>
        </p:sp>
      </p:grpSp>
      <p:sp>
        <p:nvSpPr>
          <p:cNvPr id="38915" name="Text Box 6"/>
          <p:cNvSpPr txBox="1"/>
          <p:nvPr/>
        </p:nvSpPr>
        <p:spPr>
          <a:xfrm>
            <a:off x="95250" y="823913"/>
            <a:ext cx="8915400" cy="5957887"/>
          </a:xfrm>
          <a:prstGeom prst="rect">
            <a:avLst/>
          </a:prstGeom>
          <a:noFill/>
          <a:ln w="9525">
            <a:noFill/>
          </a:ln>
        </p:spPr>
        <p:txBody>
          <a:bodyPr lIns="92160" tIns="46080" rIns="92160" bIns="46080">
            <a:spAutoFit/>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341630" lvl="0" indent="-341630" defTabSz="914400" eaLnBrk="1" hangingPunct="1">
              <a:spcBef>
                <a:spcPct val="0"/>
              </a:spcBef>
              <a:buClr>
                <a:srgbClr val="FF9966"/>
              </a:buClr>
              <a:buSzPct val="50000"/>
              <a:buFont typeface="Monotype Sorts"/>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sz="2400" dirty="0">
                <a:latin typeface="Arial" panose="020B0604020202020204" pitchFamily="34" charset="0"/>
              </a:rPr>
              <a:t>Documents in a collection are frequently represented by a   set of index terms or keywords</a:t>
            </a:r>
            <a:endParaRPr sz="2400" dirty="0">
              <a:latin typeface="Arial" panose="020B0604020202020204" pitchFamily="34" charset="0"/>
            </a:endParaRPr>
          </a:p>
          <a:p>
            <a:pPr marL="341630" lvl="0" indent="-341630" defTabSz="914400" eaLnBrk="1" hangingPunct="1">
              <a:spcBef>
                <a:spcPct val="0"/>
              </a:spcBef>
              <a:buClr>
                <a:srgbClr val="FF9966"/>
              </a:buClr>
              <a:buSzPct val="50000"/>
              <a:buFont typeface="Monotype Sorts"/>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sz="2400" dirty="0">
                <a:latin typeface="Arial" panose="020B0604020202020204" pitchFamily="34" charset="0"/>
              </a:rPr>
              <a:t>Such keywords are mostly extracted directly from the text of the document</a:t>
            </a:r>
            <a:endParaRPr sz="2400" dirty="0">
              <a:latin typeface="Arial" panose="020B0604020202020204" pitchFamily="34" charset="0"/>
            </a:endParaRPr>
          </a:p>
          <a:p>
            <a:pPr marL="341630" lvl="0" indent="-341630" defTabSz="914400" eaLnBrk="1" hangingPunct="1">
              <a:spcBef>
                <a:spcPct val="0"/>
              </a:spcBef>
              <a:buClr>
                <a:srgbClr val="FF9966"/>
              </a:buClr>
              <a:buSzPct val="50000"/>
              <a:buFont typeface="Monotype Sorts"/>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sz="2400" dirty="0">
                <a:latin typeface="Arial" panose="020B0604020202020204" pitchFamily="34" charset="0"/>
              </a:rPr>
              <a:t>These representative keywords provide a logical view of the document</a:t>
            </a:r>
            <a:endParaRPr sz="2400" dirty="0">
              <a:latin typeface="Arial" panose="020B0604020202020204" pitchFamily="34" charset="0"/>
            </a:endParaRPr>
          </a:p>
          <a:p>
            <a:pPr marL="341630" lvl="0" indent="-341630" defTabSz="914400" eaLnBrk="1" hangingPunct="1">
              <a:spcBef>
                <a:spcPct val="0"/>
              </a:spcBef>
              <a:buClrTx/>
              <a:buSzTx/>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sz="2800" dirty="0">
              <a:latin typeface="Arial" panose="020B0604020202020204" pitchFamily="34" charset="0"/>
            </a:endParaRPr>
          </a:p>
          <a:p>
            <a:pPr marL="341630" lvl="0" indent="-341630" defTabSz="914400" eaLnBrk="1" hangingPunct="1">
              <a:spcBef>
                <a:spcPts val="700"/>
              </a:spcBef>
              <a:buClr>
                <a:srgbClr val="FF9966"/>
              </a:buClr>
              <a:buSzPct val="50000"/>
              <a:buFont typeface="Monotype Sorts"/>
              <a:buChar cha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x-none" sz="2800" dirty="0">
              <a:latin typeface="Arial" panose="020B0604020202020204" pitchFamily="34" charset="0"/>
            </a:endParaRPr>
          </a:p>
          <a:p>
            <a:pPr marL="341630" lvl="0" indent="-341630" defTabSz="914400" eaLnBrk="1" hangingPunct="1">
              <a:spcBef>
                <a:spcPts val="700"/>
              </a:spcBef>
              <a:buClr>
                <a:srgbClr val="FF9966"/>
              </a:buClr>
              <a:buSzPct val="50000"/>
              <a:buFont typeface="Monotype Sorts"/>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x-none" sz="2800" dirty="0">
              <a:latin typeface="Arial" panose="020B0604020202020204" pitchFamily="34" charset="0"/>
            </a:endParaRPr>
          </a:p>
          <a:p>
            <a:pPr marL="341630" lvl="0" indent="-341630" defTabSz="914400" eaLnBrk="1" hangingPunct="1">
              <a:spcBef>
                <a:spcPts val="700"/>
              </a:spcBef>
              <a:buClr>
                <a:srgbClr val="FF9966"/>
              </a:buClr>
              <a:buSzPct val="50000"/>
              <a:buFont typeface="Monotype Sorts"/>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x-none" sz="2800" dirty="0">
              <a:latin typeface="Arial" panose="020B0604020202020204" pitchFamily="34" charset="0"/>
            </a:endParaRPr>
          </a:p>
          <a:p>
            <a:pPr marL="341630" lvl="0" indent="-341630" defTabSz="914400" eaLnBrk="1" hangingPunct="1">
              <a:spcBef>
                <a:spcPts val="700"/>
              </a:spcBef>
              <a:buClr>
                <a:srgbClr val="FF9966"/>
              </a:buClr>
              <a:buSzPct val="50000"/>
              <a:buFont typeface="Monotype Sorts"/>
              <a:buChar cha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x-none" sz="2400" dirty="0">
              <a:latin typeface="Arial" panose="020B0604020202020204" pitchFamily="34" charset="0"/>
            </a:endParaRPr>
          </a:p>
          <a:p>
            <a:pPr marL="341630" lvl="0" indent="-341630" defTabSz="914400" eaLnBrk="1" hangingPunct="1">
              <a:spcBef>
                <a:spcPts val="700"/>
              </a:spcBef>
              <a:buClr>
                <a:srgbClr val="FF9966"/>
              </a:buClr>
              <a:buSzPct val="50000"/>
              <a:buFont typeface="Monotype Sorts"/>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x-none" sz="2400" dirty="0">
                <a:latin typeface="Arial" panose="020B0604020202020204" pitchFamily="34" charset="0"/>
              </a:rPr>
              <a:t>Document representation viewed as a continuum, in which logical view of documents might shift from full text to index terms</a:t>
            </a:r>
            <a:endParaRPr lang="en-GB" altLang="x-none" sz="2400" dirty="0">
              <a:latin typeface="Arial" panose="020B0604020202020204" pitchFamily="34" charset="0"/>
            </a:endParaRPr>
          </a:p>
        </p:txBody>
      </p:sp>
      <p:grpSp>
        <p:nvGrpSpPr>
          <p:cNvPr id="38916" name="Group 10"/>
          <p:cNvGrpSpPr/>
          <p:nvPr/>
        </p:nvGrpSpPr>
        <p:grpSpPr>
          <a:xfrm>
            <a:off x="1371600" y="3359150"/>
            <a:ext cx="2514600" cy="438150"/>
            <a:chOff x="1488" y="1200"/>
            <a:chExt cx="951" cy="228"/>
          </a:xfrm>
        </p:grpSpPr>
        <p:sp>
          <p:nvSpPr>
            <p:cNvPr id="38942" name="AutoShape 11"/>
            <p:cNvSpPr/>
            <p:nvPr/>
          </p:nvSpPr>
          <p:spPr>
            <a:xfrm>
              <a:off x="1488" y="1200"/>
              <a:ext cx="535" cy="228"/>
            </a:xfrm>
            <a:prstGeom prst="roundRect">
              <a:avLst>
                <a:gd name="adj" fmla="val 269"/>
              </a:avLst>
            </a:prstGeom>
            <a:noFill/>
            <a:ln w="9360" cap="flat" cmpd="sng">
              <a:solidFill>
                <a:srgbClr val="000000"/>
              </a:solidFill>
              <a:prstDash val="solid"/>
              <a:headEnd type="none" w="med" len="med"/>
              <a:tailEnd type="none" w="med" len="med"/>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sz="1800" dirty="0">
                <a:latin typeface="Arial" panose="020B0604020202020204" pitchFamily="34" charset="0"/>
              </a:endParaRPr>
            </a:p>
          </p:txBody>
        </p:sp>
        <p:sp>
          <p:nvSpPr>
            <p:cNvPr id="38943" name="AutoShape 12"/>
            <p:cNvSpPr/>
            <p:nvPr/>
          </p:nvSpPr>
          <p:spPr>
            <a:xfrm>
              <a:off x="1488" y="1200"/>
              <a:ext cx="951" cy="207"/>
            </a:xfrm>
            <a:prstGeom prst="roundRect">
              <a:avLst>
                <a:gd name="adj" fmla="val 269"/>
              </a:avLst>
            </a:prstGeom>
            <a:noFill/>
            <a:ln w="9525">
              <a:noFill/>
            </a:ln>
          </p:spPr>
          <p:txBody>
            <a:bodyPr wrap="none" lIns="90000" tIns="46800" rIns="90000" bIns="46800">
              <a:spAutoFit/>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defTabSz="914400" eaLnBrk="1" hangingPunct="1">
                <a:lnSpc>
                  <a:spcPct val="95000"/>
                </a:lnSpc>
                <a:spcBef>
                  <a:spcPct val="0"/>
                </a:spcBef>
                <a:buClr>
                  <a:srgbClr val="009999"/>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x-none" sz="1600" b="1" dirty="0">
                  <a:latin typeface="Tahoma" panose="020B0604030504040204" pitchFamily="34" charset="0"/>
                  <a:cs typeface="Tahoma" panose="020B0604030504040204" pitchFamily="34" charset="0"/>
                </a:rPr>
                <a:t>Tokenization</a:t>
              </a:r>
              <a:endParaRPr lang="en-GB" altLang="x-none" sz="1600" b="1" dirty="0">
                <a:latin typeface="Tahoma" panose="020B0604030504040204" pitchFamily="34" charset="0"/>
                <a:ea typeface="Tahoma" panose="020B0604030504040204" pitchFamily="34" charset="0"/>
              </a:endParaRPr>
            </a:p>
          </p:txBody>
        </p:sp>
      </p:grpSp>
      <p:grpSp>
        <p:nvGrpSpPr>
          <p:cNvPr id="38917" name="Group 13"/>
          <p:cNvGrpSpPr/>
          <p:nvPr/>
        </p:nvGrpSpPr>
        <p:grpSpPr>
          <a:xfrm>
            <a:off x="3124200" y="3416300"/>
            <a:ext cx="1676400" cy="287338"/>
            <a:chOff x="2256" y="1282"/>
            <a:chExt cx="864" cy="232"/>
          </a:xfrm>
        </p:grpSpPr>
        <p:sp>
          <p:nvSpPr>
            <p:cNvPr id="38940" name="AutoShape 14"/>
            <p:cNvSpPr/>
            <p:nvPr/>
          </p:nvSpPr>
          <p:spPr>
            <a:xfrm>
              <a:off x="2256" y="1296"/>
              <a:ext cx="649" cy="218"/>
            </a:xfrm>
            <a:prstGeom prst="roundRect">
              <a:avLst>
                <a:gd name="adj" fmla="val 458"/>
              </a:avLst>
            </a:prstGeom>
            <a:noFill/>
            <a:ln w="9360" cap="flat" cmpd="sng">
              <a:solidFill>
                <a:srgbClr val="000000"/>
              </a:solidFill>
              <a:prstDash val="solid"/>
              <a:headEnd type="none" w="med" len="med"/>
              <a:tailEnd type="none" w="med" len="med"/>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sz="1800" dirty="0">
                <a:latin typeface="Arial" panose="020B0604020202020204" pitchFamily="34" charset="0"/>
              </a:endParaRPr>
            </a:p>
          </p:txBody>
        </p:sp>
        <p:sp>
          <p:nvSpPr>
            <p:cNvPr id="38941" name="AutoShape 15"/>
            <p:cNvSpPr/>
            <p:nvPr/>
          </p:nvSpPr>
          <p:spPr>
            <a:xfrm>
              <a:off x="2256" y="1282"/>
              <a:ext cx="864" cy="170"/>
            </a:xfrm>
            <a:prstGeom prst="roundRect">
              <a:avLst>
                <a:gd name="adj" fmla="val 458"/>
              </a:avLst>
            </a:prstGeom>
            <a:noFill/>
            <a:ln w="9525">
              <a:noFill/>
            </a:ln>
          </p:spPr>
          <p:txBody>
            <a:bodyPr lIns="90000" tIns="46800" rIns="90000" bIns="46800">
              <a:spAutoFit/>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defTabSz="914400" eaLnBrk="1" hangingPunct="1">
                <a:lnSpc>
                  <a:spcPct val="95000"/>
                </a:lnSpc>
                <a:spcBef>
                  <a:spcPct val="0"/>
                </a:spcBef>
                <a:buClr>
                  <a:srgbClr val="009999"/>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x-none" sz="1600" b="1" dirty="0">
                  <a:latin typeface="Tahoma" panose="020B0604030504040204" pitchFamily="34" charset="0"/>
                  <a:cs typeface="Tahoma" panose="020B0604030504040204" pitchFamily="34" charset="0"/>
                </a:rPr>
                <a:t>stop words</a:t>
              </a:r>
              <a:endParaRPr lang="en-GB" altLang="x-none" sz="1600" b="1" dirty="0">
                <a:latin typeface="Tahoma" panose="020B0604030504040204" pitchFamily="34" charset="0"/>
                <a:ea typeface="Tahoma" panose="020B0604030504040204" pitchFamily="34" charset="0"/>
              </a:endParaRPr>
            </a:p>
          </p:txBody>
        </p:sp>
      </p:grpSp>
      <p:grpSp>
        <p:nvGrpSpPr>
          <p:cNvPr id="38918" name="Group 19"/>
          <p:cNvGrpSpPr/>
          <p:nvPr/>
        </p:nvGrpSpPr>
        <p:grpSpPr>
          <a:xfrm>
            <a:off x="4724400" y="3340100"/>
            <a:ext cx="1582738" cy="533400"/>
            <a:chOff x="3840" y="1296"/>
            <a:chExt cx="757" cy="218"/>
          </a:xfrm>
        </p:grpSpPr>
        <p:sp>
          <p:nvSpPr>
            <p:cNvPr id="38938" name="AutoShape 20"/>
            <p:cNvSpPr/>
            <p:nvPr/>
          </p:nvSpPr>
          <p:spPr>
            <a:xfrm>
              <a:off x="3840" y="1296"/>
              <a:ext cx="629" cy="218"/>
            </a:xfrm>
            <a:prstGeom prst="roundRect">
              <a:avLst>
                <a:gd name="adj" fmla="val 458"/>
              </a:avLst>
            </a:prstGeom>
            <a:noFill/>
            <a:ln w="9360" cap="flat" cmpd="sng">
              <a:solidFill>
                <a:srgbClr val="000000"/>
              </a:solidFill>
              <a:prstDash val="solid"/>
              <a:headEnd type="none" w="med" len="med"/>
              <a:tailEnd type="none" w="med" len="med"/>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sz="1800" dirty="0">
                <a:latin typeface="Arial" panose="020B0604020202020204" pitchFamily="34" charset="0"/>
              </a:endParaRPr>
            </a:p>
          </p:txBody>
        </p:sp>
        <p:sp>
          <p:nvSpPr>
            <p:cNvPr id="38939" name="AutoShape 21"/>
            <p:cNvSpPr/>
            <p:nvPr/>
          </p:nvSpPr>
          <p:spPr>
            <a:xfrm>
              <a:off x="3840" y="1296"/>
              <a:ext cx="757" cy="206"/>
            </a:xfrm>
            <a:prstGeom prst="roundRect">
              <a:avLst>
                <a:gd name="adj" fmla="val 458"/>
              </a:avLst>
            </a:prstGeom>
            <a:noFill/>
            <a:ln w="9525">
              <a:noFill/>
            </a:ln>
          </p:spPr>
          <p:txBody>
            <a:bodyPr wrap="none" lIns="90000" tIns="46800" rIns="90000" bIns="46800">
              <a:spAutoFit/>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defTabSz="914400" eaLnBrk="1" hangingPunct="1">
                <a:lnSpc>
                  <a:spcPct val="95000"/>
                </a:lnSpc>
                <a:spcBef>
                  <a:spcPct val="0"/>
                </a:spcBef>
                <a:buClr>
                  <a:srgbClr val="009999"/>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x-none" sz="1600" b="1" dirty="0">
                  <a:latin typeface="Tahoma" panose="020B0604030504040204" pitchFamily="34" charset="0"/>
                  <a:cs typeface="Tahoma" panose="020B0604030504040204" pitchFamily="34" charset="0"/>
                </a:rPr>
                <a:t>stemming</a:t>
              </a:r>
              <a:endParaRPr lang="en-GB" altLang="x-none" sz="1600" b="1" dirty="0">
                <a:latin typeface="Tahoma" panose="020B0604030504040204" pitchFamily="34" charset="0"/>
                <a:ea typeface="Tahoma" panose="020B0604030504040204" pitchFamily="34" charset="0"/>
              </a:endParaRPr>
            </a:p>
          </p:txBody>
        </p:sp>
      </p:grpSp>
      <p:grpSp>
        <p:nvGrpSpPr>
          <p:cNvPr id="38919" name="Group 22"/>
          <p:cNvGrpSpPr/>
          <p:nvPr/>
        </p:nvGrpSpPr>
        <p:grpSpPr>
          <a:xfrm>
            <a:off x="6477000" y="3263900"/>
            <a:ext cx="1371600" cy="590550"/>
            <a:chOff x="4704" y="1200"/>
            <a:chExt cx="700" cy="372"/>
          </a:xfrm>
        </p:grpSpPr>
        <p:sp>
          <p:nvSpPr>
            <p:cNvPr id="38936" name="AutoShape 23"/>
            <p:cNvSpPr/>
            <p:nvPr/>
          </p:nvSpPr>
          <p:spPr>
            <a:xfrm>
              <a:off x="4704" y="1200"/>
              <a:ext cx="571" cy="372"/>
            </a:xfrm>
            <a:prstGeom prst="roundRect">
              <a:avLst>
                <a:gd name="adj" fmla="val 269"/>
              </a:avLst>
            </a:prstGeom>
            <a:noFill/>
            <a:ln w="9360" cap="flat" cmpd="sng">
              <a:solidFill>
                <a:srgbClr val="000000"/>
              </a:solidFill>
              <a:prstDash val="solid"/>
              <a:headEnd type="none" w="med" len="med"/>
              <a:tailEnd type="none" w="med" len="med"/>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sz="1800" dirty="0">
                <a:latin typeface="Arial" panose="020B0604020202020204" pitchFamily="34" charset="0"/>
              </a:endParaRPr>
            </a:p>
          </p:txBody>
        </p:sp>
        <p:sp>
          <p:nvSpPr>
            <p:cNvPr id="38937" name="AutoShape 24"/>
            <p:cNvSpPr/>
            <p:nvPr/>
          </p:nvSpPr>
          <p:spPr>
            <a:xfrm>
              <a:off x="4704" y="1294"/>
              <a:ext cx="700" cy="215"/>
            </a:xfrm>
            <a:prstGeom prst="roundRect">
              <a:avLst>
                <a:gd name="adj" fmla="val 269"/>
              </a:avLst>
            </a:prstGeom>
            <a:noFill/>
            <a:ln w="9525">
              <a:noFill/>
            </a:ln>
          </p:spPr>
          <p:txBody>
            <a:bodyPr wrap="none" lIns="90000" tIns="46800" rIns="90000" bIns="46800">
              <a:spAutoFit/>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defTabSz="914400" eaLnBrk="1" hangingPunct="1">
                <a:spcBef>
                  <a:spcPct val="0"/>
                </a:spcBef>
                <a:buClr>
                  <a:srgbClr val="009999"/>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x-none" sz="1600" b="1" dirty="0">
                  <a:latin typeface="Tahoma" panose="020B0604030504040204" pitchFamily="34" charset="0"/>
                  <a:cs typeface="Tahoma" panose="020B0604030504040204" pitchFamily="34" charset="0"/>
                </a:rPr>
                <a:t>Indexing</a:t>
              </a:r>
              <a:endParaRPr lang="en-GB" altLang="x-none" sz="1600" b="1" dirty="0">
                <a:latin typeface="Tahoma" panose="020B0604030504040204" pitchFamily="34" charset="0"/>
                <a:ea typeface="Tahoma" panose="020B0604030504040204" pitchFamily="34" charset="0"/>
              </a:endParaRPr>
            </a:p>
          </p:txBody>
        </p:sp>
      </p:grpSp>
      <p:grpSp>
        <p:nvGrpSpPr>
          <p:cNvPr id="38920" name="Group 25"/>
          <p:cNvGrpSpPr/>
          <p:nvPr/>
        </p:nvGrpSpPr>
        <p:grpSpPr>
          <a:xfrm>
            <a:off x="381000" y="3416300"/>
            <a:ext cx="676275" cy="346075"/>
            <a:chOff x="240" y="1296"/>
            <a:chExt cx="426" cy="218"/>
          </a:xfrm>
        </p:grpSpPr>
        <p:sp>
          <p:nvSpPr>
            <p:cNvPr id="38934" name="AutoShape 26"/>
            <p:cNvSpPr/>
            <p:nvPr/>
          </p:nvSpPr>
          <p:spPr>
            <a:xfrm>
              <a:off x="240" y="1296"/>
              <a:ext cx="385" cy="218"/>
            </a:xfrm>
            <a:prstGeom prst="roundRect">
              <a:avLst>
                <a:gd name="adj" fmla="val 458"/>
              </a:avLst>
            </a:prstGeom>
            <a:noFill/>
            <a:ln w="9360" cap="flat" cmpd="sng">
              <a:solidFill>
                <a:srgbClr val="000000"/>
              </a:solidFill>
              <a:prstDash val="solid"/>
              <a:headEnd type="none" w="med" len="med"/>
              <a:tailEnd type="none" w="med" len="med"/>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sz="1800" dirty="0">
                <a:latin typeface="Arial" panose="020B0604020202020204" pitchFamily="34" charset="0"/>
              </a:endParaRPr>
            </a:p>
          </p:txBody>
        </p:sp>
        <p:sp>
          <p:nvSpPr>
            <p:cNvPr id="38935" name="AutoShape 27"/>
            <p:cNvSpPr/>
            <p:nvPr/>
          </p:nvSpPr>
          <p:spPr>
            <a:xfrm>
              <a:off x="240" y="1296"/>
              <a:ext cx="426" cy="206"/>
            </a:xfrm>
            <a:prstGeom prst="roundRect">
              <a:avLst>
                <a:gd name="adj" fmla="val 458"/>
              </a:avLst>
            </a:prstGeom>
            <a:noFill/>
            <a:ln w="9525">
              <a:noFill/>
            </a:ln>
          </p:spPr>
          <p:txBody>
            <a:bodyPr wrap="none" lIns="90000" tIns="46800" rIns="90000" bIns="46800">
              <a:spAutoFit/>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defTabSz="914400" eaLnBrk="1" hangingPunct="1">
                <a:lnSpc>
                  <a:spcPct val="95000"/>
                </a:lnSpc>
                <a:spcBef>
                  <a:spcPct val="0"/>
                </a:spcBef>
                <a:buClr>
                  <a:srgbClr val="009999"/>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x-none" sz="1600" b="1" dirty="0">
                  <a:latin typeface="Tahoma" panose="020B0604030504040204" pitchFamily="34" charset="0"/>
                  <a:cs typeface="Tahoma" panose="020B0604030504040204" pitchFamily="34" charset="0"/>
                </a:rPr>
                <a:t>Docs</a:t>
              </a:r>
              <a:endParaRPr lang="en-GB" altLang="x-none" sz="1600" b="1" dirty="0">
                <a:latin typeface="Tahoma" panose="020B0604030504040204" pitchFamily="34" charset="0"/>
                <a:ea typeface="Tahoma" panose="020B0604030504040204" pitchFamily="34" charset="0"/>
              </a:endParaRPr>
            </a:p>
          </p:txBody>
        </p:sp>
      </p:grpSp>
      <p:sp>
        <p:nvSpPr>
          <p:cNvPr id="38921" name="Line 29"/>
          <p:cNvSpPr/>
          <p:nvPr/>
        </p:nvSpPr>
        <p:spPr>
          <a:xfrm>
            <a:off x="2743200" y="3568700"/>
            <a:ext cx="381000" cy="1588"/>
          </a:xfrm>
          <a:prstGeom prst="line">
            <a:avLst/>
          </a:prstGeom>
          <a:ln w="9360" cap="flat" cmpd="sng">
            <a:solidFill>
              <a:srgbClr val="000000"/>
            </a:solidFill>
            <a:prstDash val="solid"/>
            <a:headEnd type="none" w="med" len="med"/>
            <a:tailEnd type="triangle" w="med" len="med"/>
          </a:ln>
        </p:spPr>
      </p:sp>
      <p:sp>
        <p:nvSpPr>
          <p:cNvPr id="38922" name="Line 30"/>
          <p:cNvSpPr/>
          <p:nvPr/>
        </p:nvSpPr>
        <p:spPr>
          <a:xfrm>
            <a:off x="4343400" y="3568700"/>
            <a:ext cx="381000" cy="1588"/>
          </a:xfrm>
          <a:prstGeom prst="line">
            <a:avLst/>
          </a:prstGeom>
          <a:ln w="9360" cap="flat" cmpd="sng">
            <a:solidFill>
              <a:srgbClr val="000000"/>
            </a:solidFill>
            <a:prstDash val="solid"/>
            <a:headEnd type="none" w="med" len="med"/>
            <a:tailEnd type="triangle" w="med" len="med"/>
          </a:ln>
        </p:spPr>
      </p:sp>
      <p:sp>
        <p:nvSpPr>
          <p:cNvPr id="38923" name="Line 32"/>
          <p:cNvSpPr/>
          <p:nvPr/>
        </p:nvSpPr>
        <p:spPr>
          <a:xfrm>
            <a:off x="6096000" y="3568700"/>
            <a:ext cx="381000" cy="1588"/>
          </a:xfrm>
          <a:prstGeom prst="line">
            <a:avLst/>
          </a:prstGeom>
          <a:ln w="9360" cap="flat" cmpd="sng">
            <a:solidFill>
              <a:srgbClr val="000000"/>
            </a:solidFill>
            <a:prstDash val="solid"/>
            <a:headEnd type="none" w="med" len="med"/>
            <a:tailEnd type="triangle" w="med" len="med"/>
          </a:ln>
        </p:spPr>
      </p:sp>
      <p:sp>
        <p:nvSpPr>
          <p:cNvPr id="38924" name="Line 35"/>
          <p:cNvSpPr/>
          <p:nvPr/>
        </p:nvSpPr>
        <p:spPr>
          <a:xfrm>
            <a:off x="2930525" y="3568700"/>
            <a:ext cx="1588" cy="1295400"/>
          </a:xfrm>
          <a:prstGeom prst="line">
            <a:avLst/>
          </a:prstGeom>
          <a:ln w="9360" cap="flat" cmpd="sng">
            <a:solidFill>
              <a:srgbClr val="000000"/>
            </a:solidFill>
            <a:prstDash val="solid"/>
            <a:headEnd type="none" w="med" len="med"/>
            <a:tailEnd type="triangle" w="med" len="med"/>
          </a:ln>
        </p:spPr>
      </p:sp>
      <p:sp>
        <p:nvSpPr>
          <p:cNvPr id="38925" name="Line 36"/>
          <p:cNvSpPr/>
          <p:nvPr/>
        </p:nvSpPr>
        <p:spPr>
          <a:xfrm>
            <a:off x="4495800" y="3568700"/>
            <a:ext cx="1588" cy="1295400"/>
          </a:xfrm>
          <a:prstGeom prst="line">
            <a:avLst/>
          </a:prstGeom>
          <a:ln w="9360" cap="flat" cmpd="sng">
            <a:solidFill>
              <a:srgbClr val="000000"/>
            </a:solidFill>
            <a:prstDash val="solid"/>
            <a:headEnd type="none" w="med" len="med"/>
            <a:tailEnd type="triangle" w="med" len="med"/>
          </a:ln>
        </p:spPr>
      </p:sp>
      <p:sp>
        <p:nvSpPr>
          <p:cNvPr id="38926" name="Line 38"/>
          <p:cNvSpPr/>
          <p:nvPr/>
        </p:nvSpPr>
        <p:spPr>
          <a:xfrm>
            <a:off x="6248400" y="3568700"/>
            <a:ext cx="1588" cy="1295400"/>
          </a:xfrm>
          <a:prstGeom prst="line">
            <a:avLst/>
          </a:prstGeom>
          <a:ln w="9360" cap="flat" cmpd="sng">
            <a:solidFill>
              <a:srgbClr val="000000"/>
            </a:solidFill>
            <a:prstDash val="solid"/>
            <a:headEnd type="none" w="med" len="med"/>
            <a:tailEnd type="triangle" w="med" len="med"/>
          </a:ln>
        </p:spPr>
      </p:sp>
      <p:sp>
        <p:nvSpPr>
          <p:cNvPr id="38927" name="Line 39"/>
          <p:cNvSpPr/>
          <p:nvPr/>
        </p:nvSpPr>
        <p:spPr>
          <a:xfrm>
            <a:off x="7772400" y="3568700"/>
            <a:ext cx="1588" cy="1295400"/>
          </a:xfrm>
          <a:prstGeom prst="line">
            <a:avLst/>
          </a:prstGeom>
          <a:ln w="9360" cap="flat" cmpd="sng">
            <a:solidFill>
              <a:srgbClr val="000000"/>
            </a:solidFill>
            <a:prstDash val="solid"/>
            <a:headEnd type="none" w="med" len="med"/>
            <a:tailEnd type="triangle" w="med" len="med"/>
          </a:ln>
        </p:spPr>
      </p:sp>
      <p:sp>
        <p:nvSpPr>
          <p:cNvPr id="38928" name="Line 40"/>
          <p:cNvSpPr/>
          <p:nvPr/>
        </p:nvSpPr>
        <p:spPr>
          <a:xfrm>
            <a:off x="7620000" y="3568700"/>
            <a:ext cx="304800" cy="1588"/>
          </a:xfrm>
          <a:prstGeom prst="line">
            <a:avLst/>
          </a:prstGeom>
          <a:ln w="9360" cap="flat" cmpd="sng">
            <a:solidFill>
              <a:srgbClr val="000000"/>
            </a:solidFill>
            <a:prstDash val="solid"/>
            <a:headEnd type="none" w="med" len="med"/>
            <a:tailEnd type="triangle" w="med" len="med"/>
          </a:ln>
        </p:spPr>
      </p:sp>
      <p:grpSp>
        <p:nvGrpSpPr>
          <p:cNvPr id="38929" name="Group 42"/>
          <p:cNvGrpSpPr/>
          <p:nvPr/>
        </p:nvGrpSpPr>
        <p:grpSpPr>
          <a:xfrm>
            <a:off x="2362200" y="4940300"/>
            <a:ext cx="5943600" cy="565150"/>
            <a:chOff x="1665" y="2256"/>
            <a:chExt cx="3894" cy="356"/>
          </a:xfrm>
        </p:grpSpPr>
        <p:sp>
          <p:nvSpPr>
            <p:cNvPr id="38931" name="Text Box 44"/>
            <p:cNvSpPr txBox="1"/>
            <p:nvPr/>
          </p:nvSpPr>
          <p:spPr>
            <a:xfrm>
              <a:off x="1665" y="2256"/>
              <a:ext cx="682" cy="356"/>
            </a:xfrm>
            <a:prstGeom prst="rect">
              <a:avLst/>
            </a:prstGeom>
            <a:noFill/>
            <a:ln w="9525" cap="flat" cmpd="sng">
              <a:solidFill>
                <a:srgbClr val="000000"/>
              </a:solidFill>
              <a:prstDash val="solid"/>
              <a:miter/>
              <a:headEnd type="none" w="med" len="med"/>
              <a:tailEnd type="none" w="med" len="med"/>
            </a:ln>
          </p:spPr>
          <p:txBody>
            <a:bodyPr lIns="90000" tIns="46800" rIns="90000" bIns="46800">
              <a:spAutoFit/>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lgn="ctr" defTabSz="914400" eaLnBrk="1" hangingPunct="1">
                <a:lnSpc>
                  <a:spcPct val="95000"/>
                </a:lnSpc>
                <a:spcBef>
                  <a:spcPct val="0"/>
                </a:spcBef>
                <a:buClr>
                  <a:srgbClr val="009999"/>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x-none" sz="1600" b="1" dirty="0">
                  <a:latin typeface="Tahoma" panose="020B0604030504040204" pitchFamily="34" charset="0"/>
                  <a:cs typeface="Tahoma" panose="020B0604030504040204" pitchFamily="34" charset="0"/>
                </a:rPr>
                <a:t>Full  text</a:t>
              </a:r>
              <a:endParaRPr lang="en-GB" altLang="x-none" sz="1600" b="1" dirty="0">
                <a:latin typeface="Tahoma" panose="020B0604030504040204" pitchFamily="34" charset="0"/>
                <a:ea typeface="Tahoma" panose="020B0604030504040204" pitchFamily="34" charset="0"/>
              </a:endParaRPr>
            </a:p>
          </p:txBody>
        </p:sp>
        <p:sp>
          <p:nvSpPr>
            <p:cNvPr id="38932" name="AutoShape 45"/>
            <p:cNvSpPr/>
            <p:nvPr/>
          </p:nvSpPr>
          <p:spPr>
            <a:xfrm>
              <a:off x="4654" y="2290"/>
              <a:ext cx="905" cy="206"/>
            </a:xfrm>
            <a:prstGeom prst="roundRect">
              <a:avLst>
                <a:gd name="adj" fmla="val 468"/>
              </a:avLst>
            </a:prstGeom>
            <a:noFill/>
            <a:ln w="9525">
              <a:noFill/>
            </a:ln>
          </p:spPr>
          <p:txBody>
            <a:bodyPr wrap="none" lIns="90000" tIns="46800" rIns="90000" bIns="46800">
              <a:spAutoFit/>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defTabSz="914400" eaLnBrk="1" hangingPunct="1">
                <a:lnSpc>
                  <a:spcPct val="95000"/>
                </a:lnSpc>
                <a:spcBef>
                  <a:spcPct val="0"/>
                </a:spcBef>
                <a:buClr>
                  <a:srgbClr val="009999"/>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x-none" sz="1600" b="1" dirty="0">
                  <a:latin typeface="Tahoma" panose="020B0604030504040204" pitchFamily="34" charset="0"/>
                  <a:cs typeface="Tahoma" panose="020B0604030504040204" pitchFamily="34" charset="0"/>
                </a:rPr>
                <a:t>Index terms</a:t>
              </a:r>
              <a:endParaRPr lang="en-GB" altLang="x-none" sz="1600" b="1" dirty="0">
                <a:latin typeface="Tahoma" panose="020B0604030504040204" pitchFamily="34" charset="0"/>
                <a:ea typeface="Tahoma" panose="020B0604030504040204" pitchFamily="34" charset="0"/>
              </a:endParaRPr>
            </a:p>
          </p:txBody>
        </p:sp>
        <p:sp>
          <p:nvSpPr>
            <p:cNvPr id="38933" name="Line 46"/>
            <p:cNvSpPr/>
            <p:nvPr/>
          </p:nvSpPr>
          <p:spPr>
            <a:xfrm>
              <a:off x="2364" y="2399"/>
              <a:ext cx="2297" cy="29"/>
            </a:xfrm>
            <a:prstGeom prst="line">
              <a:avLst/>
            </a:prstGeom>
            <a:ln w="9360" cap="flat" cmpd="sng">
              <a:solidFill>
                <a:srgbClr val="000000"/>
              </a:solidFill>
              <a:prstDash val="dash"/>
              <a:headEnd type="none" w="med" len="med"/>
              <a:tailEnd type="triangle" w="med" len="med"/>
            </a:ln>
          </p:spPr>
        </p:sp>
      </p:grpSp>
      <p:sp>
        <p:nvSpPr>
          <p:cNvPr id="38930" name="Line 32"/>
          <p:cNvSpPr/>
          <p:nvPr/>
        </p:nvSpPr>
        <p:spPr>
          <a:xfrm>
            <a:off x="990600" y="3568700"/>
            <a:ext cx="381000" cy="1588"/>
          </a:xfrm>
          <a:prstGeom prst="line">
            <a:avLst/>
          </a:prstGeom>
          <a:ln w="9360" cap="flat" cmpd="sng">
            <a:solidFill>
              <a:srgbClr val="000000"/>
            </a:solidFill>
            <a:prstDash val="solid"/>
            <a:headEnd type="none" w="med" len="med"/>
            <a:tailEnd type="triangle" w="med" len="med"/>
          </a:ln>
        </p:spPr>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2"/>
          <p:cNvSpPr>
            <a:spLocks noGrp="1" noChangeArrowheads="1"/>
          </p:cNvSpPr>
          <p:nvPr>
            <p:ph type="title"/>
          </p:nvPr>
        </p:nvSpPr>
        <p:spPr>
          <a:xfrm>
            <a:off x="457200" y="274638"/>
            <a:ext cx="8229600" cy="792163"/>
          </a:xfrm>
        </p:spPr>
        <p:txBody>
          <a:bodyPr vert="horz" wrap="square" lIns="0" tIns="45720" rIns="0" bIns="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5000" b="0" i="0" u="none" strike="noStrike" kern="1200" cap="none" spc="0" normalizeH="0" baseline="0" noProof="0" smtClean="0">
                <a:ln>
                  <a:noFill/>
                </a:ln>
                <a:solidFill>
                  <a:schemeClr val="tx2"/>
                </a:solidFill>
                <a:effectLst/>
                <a:uLnTx/>
                <a:uFillTx/>
                <a:latin typeface="+mj-lt"/>
                <a:ea typeface="+mj-ea"/>
                <a:cs typeface="+mj-cs"/>
              </a:rPr>
              <a:t>Logical view of documents</a:t>
            </a:r>
            <a:endParaRPr kumimoji="0" lang="en-US" sz="5000" b="0" i="0" u="none" strike="noStrike" kern="1200" cap="none" spc="0" normalizeH="0" baseline="0" noProof="0" smtClean="0">
              <a:ln>
                <a:noFill/>
              </a:ln>
              <a:solidFill>
                <a:schemeClr val="tx2"/>
              </a:solidFill>
              <a:effectLst/>
              <a:uLnTx/>
              <a:uFillTx/>
              <a:latin typeface="+mj-lt"/>
              <a:ea typeface="+mj-ea"/>
              <a:cs typeface="+mj-cs"/>
            </a:endParaRPr>
          </a:p>
        </p:txBody>
      </p:sp>
      <p:sp>
        <p:nvSpPr>
          <p:cNvPr id="40963" name="Rectangle 3"/>
          <p:cNvSpPr>
            <a:spLocks noGrp="1"/>
          </p:cNvSpPr>
          <p:nvPr>
            <p:ph idx="1"/>
          </p:nvPr>
        </p:nvSpPr>
        <p:spPr>
          <a:xfrm>
            <a:off x="228600" y="1066800"/>
            <a:ext cx="8686800" cy="5059363"/>
          </a:xfrm>
          <a:ln/>
        </p:spPr>
        <p:txBody>
          <a:bodyPr vert="horz" wrap="square" lIns="91440" tIns="45720" rIns="91440" bIns="45720" anchor="t" anchorCtr="0"/>
          <a:p>
            <a:pPr eaLnBrk="1" hangingPunct="1"/>
            <a:r>
              <a:rPr dirty="0"/>
              <a:t>If full text :</a:t>
            </a:r>
            <a:endParaRPr dirty="0"/>
          </a:p>
          <a:p>
            <a:pPr lvl="1" eaLnBrk="1" hangingPunct="1"/>
            <a:r>
              <a:rPr dirty="0"/>
              <a:t>Each word in the text is a keyword</a:t>
            </a:r>
            <a:endParaRPr dirty="0"/>
          </a:p>
          <a:p>
            <a:pPr lvl="1" eaLnBrk="1" hangingPunct="1"/>
            <a:r>
              <a:rPr dirty="0"/>
              <a:t>Most complex form</a:t>
            </a:r>
            <a:endParaRPr dirty="0"/>
          </a:p>
          <a:p>
            <a:pPr lvl="1" eaLnBrk="1" hangingPunct="1"/>
            <a:r>
              <a:rPr dirty="0"/>
              <a:t>Expensive</a:t>
            </a:r>
            <a:endParaRPr dirty="0"/>
          </a:p>
          <a:p>
            <a:pPr lvl="1" eaLnBrk="1" hangingPunct="1"/>
            <a:r>
              <a:rPr dirty="0"/>
              <a:t>If full text is too large, the set of representative keywords can be reduced through transformation process called text operation</a:t>
            </a:r>
            <a:endParaRPr dirty="0"/>
          </a:p>
          <a:p>
            <a:pPr lvl="2" eaLnBrk="1" hangingPunct="1"/>
            <a:endParaRPr sz="600" dirty="0"/>
          </a:p>
          <a:p>
            <a:pPr eaLnBrk="1" hangingPunct="1">
              <a:lnSpc>
                <a:spcPct val="90000"/>
              </a:lnSpc>
              <a:buClr>
                <a:schemeClr val="hlink"/>
              </a:buClr>
              <a:buSzPct val="80000"/>
              <a:buFont typeface="Wingdings" panose="05000000000000000000" pitchFamily="2" charset="2"/>
              <a:buChar char="l"/>
            </a:pPr>
            <a:r>
              <a:rPr sz="2800" dirty="0"/>
              <a:t>It reduce the complexity of the document representation and allow moving the logical view from that of a full text to a set of index terms</a:t>
            </a:r>
            <a:endParaRPr sz="2800" dirty="0"/>
          </a:p>
          <a:p>
            <a:pPr lvl="1" eaLnBrk="1" hangingPunct="1">
              <a:buFont typeface="Wingdings 2" pitchFamily="18" charset="2"/>
              <a:buChar char=""/>
            </a:pPr>
            <a:endParaRPr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2"/>
          <p:cNvSpPr>
            <a:spLocks noGrp="1" noChangeArrowheads="1"/>
          </p:cNvSpPr>
          <p:nvPr>
            <p:ph type="title"/>
          </p:nvPr>
        </p:nvSpPr>
        <p:spPr>
          <a:xfrm>
            <a:off x="609600" y="228600"/>
            <a:ext cx="7772400" cy="533400"/>
          </a:xfrm>
        </p:spPr>
        <p:txBody>
          <a:bodyPr vert="horz" wrap="square" lIns="0" tIns="45720" rIns="0" bIns="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000" b="0" i="0" u="none" strike="noStrike" kern="1200" cap="none" spc="0" normalizeH="0" baseline="0" noProof="0" smtClean="0">
                <a:ln>
                  <a:noFill/>
                </a:ln>
                <a:solidFill>
                  <a:schemeClr val="tx2"/>
                </a:solidFill>
                <a:effectLst/>
                <a:uLnTx/>
                <a:uFillTx/>
                <a:latin typeface="+mj-lt"/>
                <a:ea typeface="+mj-ea"/>
                <a:cs typeface="+mj-cs"/>
              </a:rPr>
              <a:t>Structure</a:t>
            </a:r>
            <a:r>
              <a:rPr kumimoji="0" lang="en-US" sz="5000" b="0" i="0" u="none" strike="noStrike" kern="1200" cap="none" spc="0" normalizeH="0" baseline="0" noProof="0" smtClean="0">
                <a:ln>
                  <a:noFill/>
                </a:ln>
                <a:solidFill>
                  <a:schemeClr val="tx2"/>
                </a:solidFill>
                <a:effectLst/>
                <a:uLnTx/>
                <a:uFillTx/>
                <a:latin typeface="+mj-lt"/>
                <a:ea typeface="+mj-ea"/>
                <a:cs typeface="+mj-cs"/>
              </a:rPr>
              <a:t> </a:t>
            </a:r>
            <a:r>
              <a:rPr kumimoji="0" lang="en-US" sz="4000" b="0" i="0" u="none" strike="noStrike" kern="1200" cap="none" spc="0" normalizeH="0" baseline="0" noProof="0" smtClean="0">
                <a:ln>
                  <a:noFill/>
                </a:ln>
                <a:solidFill>
                  <a:schemeClr val="tx2"/>
                </a:solidFill>
                <a:effectLst/>
                <a:uLnTx/>
                <a:uFillTx/>
                <a:latin typeface="+mj-lt"/>
                <a:ea typeface="+mj-ea"/>
                <a:cs typeface="+mj-cs"/>
              </a:rPr>
              <a:t>of an IR System</a:t>
            </a:r>
            <a:endParaRPr kumimoji="0" lang="en-US" sz="4000" b="0" i="0" u="none" strike="noStrike" kern="1200" cap="none" spc="0" normalizeH="0" baseline="0" noProof="0" smtClean="0">
              <a:ln>
                <a:noFill/>
              </a:ln>
              <a:solidFill>
                <a:schemeClr val="tx2"/>
              </a:solidFill>
              <a:effectLst/>
              <a:uLnTx/>
              <a:uFillTx/>
              <a:latin typeface="+mj-lt"/>
              <a:ea typeface="+mj-ea"/>
              <a:cs typeface="+mj-cs"/>
            </a:endParaRPr>
          </a:p>
        </p:txBody>
      </p:sp>
      <p:sp>
        <p:nvSpPr>
          <p:cNvPr id="41987" name="Rectangle 3"/>
          <p:cNvSpPr>
            <a:spLocks noGrp="1"/>
          </p:cNvSpPr>
          <p:nvPr>
            <p:ph idx="1"/>
          </p:nvPr>
        </p:nvSpPr>
        <p:spPr>
          <a:xfrm>
            <a:off x="76200" y="762000"/>
            <a:ext cx="8991600" cy="5791200"/>
          </a:xfrm>
          <a:ln/>
        </p:spPr>
        <p:txBody>
          <a:bodyPr vert="horz" wrap="square" lIns="91440" tIns="45720" rIns="91440" bIns="45720" anchor="t" anchorCtr="0"/>
          <a:p>
            <a:pPr eaLnBrk="1" hangingPunct="1"/>
            <a:r>
              <a:rPr sz="2400" dirty="0"/>
              <a:t>An Information Retrieval System serves as a bridge between the world of authors and the world of readers/users,</a:t>
            </a:r>
            <a:endParaRPr sz="2400" dirty="0"/>
          </a:p>
          <a:p>
            <a:pPr eaLnBrk="1" hangingPunct="1"/>
            <a:r>
              <a:rPr sz="2400" dirty="0"/>
              <a:t>That is, writers present a set of ideas in a document using a set of concepts. Then Users seek the IR system for relevant documents that satisfy their information need.</a:t>
            </a:r>
            <a:endParaRPr sz="2400" dirty="0"/>
          </a:p>
          <a:p>
            <a:pPr eaLnBrk="1" hangingPunct="1"/>
            <a:endParaRPr sz="2400" dirty="0"/>
          </a:p>
          <a:p>
            <a:pPr eaLnBrk="1" hangingPunct="1"/>
            <a:endParaRPr sz="2400" dirty="0"/>
          </a:p>
          <a:p>
            <a:pPr eaLnBrk="1" hangingPunct="1"/>
            <a:r>
              <a:rPr sz="2400" dirty="0">
                <a:solidFill>
                  <a:schemeClr val="accent2"/>
                </a:solidFill>
              </a:rPr>
              <a:t>The black box is the information retrieval system. </a:t>
            </a:r>
            <a:endParaRPr sz="2400" dirty="0">
              <a:solidFill>
                <a:schemeClr val="accent2"/>
              </a:solidFill>
            </a:endParaRPr>
          </a:p>
          <a:p>
            <a:pPr eaLnBrk="1" hangingPunct="1"/>
            <a:r>
              <a:rPr lang="en-GB" altLang="x-none" sz="2200" dirty="0">
                <a:ea typeface="MS Gothic" panose="020B0609070205080204" pitchFamily="49" charset="-128"/>
              </a:rPr>
              <a:t>To be effective in its attempt to satisfy information need of users, the IR system must ‘interpret’ the contents of documents in a collection and rank them according to their degree of relevance to the user query.</a:t>
            </a:r>
            <a:endParaRPr lang="en-GB" altLang="x-none" sz="2200" dirty="0">
              <a:ea typeface="MS Gothic" panose="020B0609070205080204" pitchFamily="49" charset="-128"/>
            </a:endParaRPr>
          </a:p>
          <a:p>
            <a:pPr eaLnBrk="1" hangingPunct="1"/>
            <a:r>
              <a:rPr lang="en-GB" altLang="x-none" sz="2200" dirty="0">
                <a:ea typeface="MS Gothic" panose="020B0609070205080204" pitchFamily="49" charset="-128"/>
              </a:rPr>
              <a:t>Thus the notion of relevance is at the center of IR</a:t>
            </a:r>
            <a:endParaRPr lang="en-GB" altLang="x-none" sz="2200" dirty="0">
              <a:ea typeface="MS Gothic" panose="020B0609070205080204" pitchFamily="49" charset="-128"/>
            </a:endParaRPr>
          </a:p>
          <a:p>
            <a:pPr eaLnBrk="1" hangingPunct="1"/>
            <a:r>
              <a:rPr lang="en-GB" altLang="x-none" sz="2200" dirty="0">
                <a:ea typeface="MS Gothic" panose="020B0609070205080204" pitchFamily="49" charset="-128"/>
              </a:rPr>
              <a:t>The primary goal of an IR system is to retrieve all the documents which are relevant to a user query while retrieving as few non-relevant documents as possible</a:t>
            </a:r>
            <a:endParaRPr sz="2200" dirty="0"/>
          </a:p>
        </p:txBody>
      </p:sp>
      <p:grpSp>
        <p:nvGrpSpPr>
          <p:cNvPr id="41988" name="Group 4"/>
          <p:cNvGrpSpPr/>
          <p:nvPr/>
        </p:nvGrpSpPr>
        <p:grpSpPr>
          <a:xfrm>
            <a:off x="952500" y="2895600"/>
            <a:ext cx="6502400" cy="762000"/>
            <a:chOff x="560" y="2376"/>
            <a:chExt cx="4096" cy="480"/>
          </a:xfrm>
        </p:grpSpPr>
        <p:grpSp>
          <p:nvGrpSpPr>
            <p:cNvPr id="41991" name="Group 5"/>
            <p:cNvGrpSpPr/>
            <p:nvPr/>
          </p:nvGrpSpPr>
          <p:grpSpPr>
            <a:xfrm>
              <a:off x="560" y="2376"/>
              <a:ext cx="2440" cy="480"/>
              <a:chOff x="536" y="2304"/>
              <a:chExt cx="2440" cy="480"/>
            </a:xfrm>
          </p:grpSpPr>
          <p:sp>
            <p:nvSpPr>
              <p:cNvPr id="41993" name="Rectangle 6"/>
              <p:cNvSpPr/>
              <p:nvPr/>
            </p:nvSpPr>
            <p:spPr>
              <a:xfrm>
                <a:off x="1680" y="2304"/>
                <a:ext cx="1296" cy="480"/>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sz="2000" dirty="0">
                    <a:solidFill>
                      <a:srgbClr val="00FF00"/>
                    </a:solidFill>
                    <a:latin typeface="Times New Roman" panose="02020603050405020304" pitchFamily="18" charset="0"/>
                    <a:ea typeface="PMingLiU" pitchFamily="18" charset="-120"/>
                  </a:rPr>
                  <a:t>Black box</a:t>
                </a:r>
                <a:endParaRPr sz="2000" dirty="0">
                  <a:solidFill>
                    <a:srgbClr val="00FF00"/>
                  </a:solidFill>
                  <a:latin typeface="Times New Roman" panose="02020603050405020304" pitchFamily="18" charset="0"/>
                  <a:ea typeface="PMingLiU" pitchFamily="18" charset="-120"/>
                </a:endParaRPr>
              </a:p>
            </p:txBody>
          </p:sp>
          <p:sp>
            <p:nvSpPr>
              <p:cNvPr id="41994" name="Line 7"/>
              <p:cNvSpPr/>
              <p:nvPr/>
            </p:nvSpPr>
            <p:spPr>
              <a:xfrm>
                <a:off x="536" y="2544"/>
                <a:ext cx="1152" cy="0"/>
              </a:xfrm>
              <a:prstGeom prst="line">
                <a:avLst/>
              </a:prstGeom>
              <a:ln w="47625" cap="flat" cmpd="sng">
                <a:solidFill>
                  <a:schemeClr val="tx1"/>
                </a:solidFill>
                <a:prstDash val="solid"/>
                <a:headEnd type="none" w="med" len="med"/>
                <a:tailEnd type="stealth" w="med" len="med"/>
              </a:ln>
            </p:spPr>
          </p:sp>
        </p:grpSp>
        <p:sp>
          <p:nvSpPr>
            <p:cNvPr id="41992" name="Line 8"/>
            <p:cNvSpPr/>
            <p:nvPr/>
          </p:nvSpPr>
          <p:spPr>
            <a:xfrm flipH="1">
              <a:off x="2976" y="2608"/>
              <a:ext cx="1680" cy="0"/>
            </a:xfrm>
            <a:prstGeom prst="line">
              <a:avLst/>
            </a:prstGeom>
            <a:ln w="47625" cap="flat" cmpd="sng">
              <a:solidFill>
                <a:schemeClr val="tx1"/>
              </a:solidFill>
              <a:prstDash val="solid"/>
              <a:headEnd type="none" w="med" len="med"/>
              <a:tailEnd type="stealth" w="med" len="med"/>
            </a:ln>
          </p:spPr>
        </p:sp>
      </p:grpSp>
      <p:sp>
        <p:nvSpPr>
          <p:cNvPr id="41989" name="Text Box 9"/>
          <p:cNvSpPr txBox="1"/>
          <p:nvPr/>
        </p:nvSpPr>
        <p:spPr>
          <a:xfrm>
            <a:off x="1219200" y="2819400"/>
            <a:ext cx="990600" cy="396875"/>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lgn="ctr" eaLnBrk="1" hangingPunct="1">
              <a:spcBef>
                <a:spcPct val="50000"/>
              </a:spcBef>
              <a:buClrTx/>
              <a:buSzTx/>
              <a:buFontTx/>
              <a:buNone/>
            </a:pPr>
            <a:r>
              <a:rPr sz="2000" dirty="0">
                <a:solidFill>
                  <a:schemeClr val="accent2"/>
                </a:solidFill>
                <a:latin typeface="Times New Roman" panose="02020603050405020304" pitchFamily="18" charset="0"/>
                <a:ea typeface="PMingLiU" pitchFamily="18" charset="-120"/>
              </a:rPr>
              <a:t>User</a:t>
            </a:r>
            <a:endParaRPr sz="2000" dirty="0">
              <a:solidFill>
                <a:schemeClr val="accent2"/>
              </a:solidFill>
              <a:latin typeface="Times New Roman" panose="02020603050405020304" pitchFamily="18" charset="0"/>
              <a:ea typeface="PMingLiU" pitchFamily="18" charset="-120"/>
            </a:endParaRPr>
          </a:p>
        </p:txBody>
      </p:sp>
      <p:sp>
        <p:nvSpPr>
          <p:cNvPr id="41990" name="Text Box 10"/>
          <p:cNvSpPr txBox="1"/>
          <p:nvPr/>
        </p:nvSpPr>
        <p:spPr>
          <a:xfrm>
            <a:off x="5029200" y="2819400"/>
            <a:ext cx="1981200" cy="396875"/>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lgn="ctr" eaLnBrk="1" hangingPunct="1">
              <a:spcBef>
                <a:spcPct val="50000"/>
              </a:spcBef>
              <a:buClrTx/>
              <a:buSzTx/>
              <a:buFontTx/>
              <a:buNone/>
            </a:pPr>
            <a:r>
              <a:rPr sz="2000" dirty="0">
                <a:solidFill>
                  <a:schemeClr val="accent2"/>
                </a:solidFill>
                <a:latin typeface="Times New Roman" panose="02020603050405020304" pitchFamily="18" charset="0"/>
                <a:ea typeface="PMingLiU" pitchFamily="18" charset="-120"/>
              </a:rPr>
              <a:t>Documents</a:t>
            </a:r>
            <a:endParaRPr sz="2000" dirty="0">
              <a:solidFill>
                <a:schemeClr val="accent2"/>
              </a:solidFill>
              <a:latin typeface="Times New Roman" panose="02020603050405020304" pitchFamily="18" charset="0"/>
              <a:ea typeface="PMingLiU" pitchFamily="18" charset="-12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682" name="Rectangle 2"/>
          <p:cNvSpPr>
            <a:spLocks noGrp="1" noChangeArrowheads="1"/>
          </p:cNvSpPr>
          <p:nvPr>
            <p:ph type="title"/>
          </p:nvPr>
        </p:nvSpPr>
        <p:spPr>
          <a:xfrm>
            <a:off x="228600" y="533400"/>
            <a:ext cx="8153400" cy="438150"/>
          </a:xfrm>
        </p:spPr>
        <p:txBody>
          <a:bodyPr vert="horz" wrap="square" lIns="0" tIns="45720" rIns="0" bIns="0" numCol="1" rtlCol="0"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5000" b="0" i="0" u="none" strike="noStrike" kern="1200" cap="none" spc="0" normalizeH="0" baseline="0" noProof="0">
                <a:ln>
                  <a:noFill/>
                </a:ln>
                <a:solidFill>
                  <a:schemeClr val="tx2">
                    <a:satMod val="130000"/>
                  </a:schemeClr>
                </a:solidFill>
                <a:effectLst/>
                <a:uLnTx/>
                <a:uFillTx/>
                <a:latin typeface="+mj-lt"/>
                <a:ea typeface="+mj-ea"/>
                <a:cs typeface="+mj-cs"/>
              </a:rPr>
              <a:t>Typical IR Task </a:t>
            </a:r>
            <a:endParaRPr kumimoji="0" lang="en-US" sz="5000" b="0" i="0" u="none" strike="noStrike" kern="1200" cap="none" spc="0" normalizeH="0" baseline="0" noProof="0">
              <a:ln>
                <a:noFill/>
              </a:ln>
              <a:solidFill>
                <a:schemeClr val="tx2">
                  <a:satMod val="130000"/>
                </a:schemeClr>
              </a:solidFill>
              <a:effectLst/>
              <a:uLnTx/>
              <a:uFillTx/>
              <a:latin typeface="+mj-lt"/>
              <a:ea typeface="+mj-ea"/>
              <a:cs typeface="+mj-cs"/>
            </a:endParaRPr>
          </a:p>
        </p:txBody>
      </p:sp>
      <p:sp>
        <p:nvSpPr>
          <p:cNvPr id="43011" name="Rectangle 3"/>
          <p:cNvSpPr>
            <a:spLocks noGrp="1"/>
          </p:cNvSpPr>
          <p:nvPr>
            <p:ph idx="1"/>
          </p:nvPr>
        </p:nvSpPr>
        <p:spPr>
          <a:xfrm>
            <a:off x="381000" y="1295400"/>
            <a:ext cx="8229600" cy="4389438"/>
          </a:xfrm>
          <a:ln/>
        </p:spPr>
        <p:txBody>
          <a:bodyPr vert="horz" wrap="square" lIns="91440" tIns="45720" rIns="91440" bIns="45720" anchor="t" anchorCtr="0"/>
          <a:p>
            <a:pPr marL="609600" indent="-609600" eaLnBrk="1" hangingPunct="1">
              <a:buFontTx/>
              <a:buNone/>
            </a:pPr>
            <a:endParaRPr dirty="0"/>
          </a:p>
          <a:p>
            <a:pPr marL="609600" indent="-609600" eaLnBrk="1" hangingPunct="1"/>
            <a:r>
              <a:rPr dirty="0"/>
              <a:t>Given:</a:t>
            </a:r>
            <a:endParaRPr dirty="0"/>
          </a:p>
          <a:p>
            <a:pPr marL="990600" lvl="1" indent="-533400" eaLnBrk="1" hangingPunct="1"/>
            <a:r>
              <a:rPr dirty="0"/>
              <a:t>A corpus of textual natural-language documents.</a:t>
            </a:r>
            <a:endParaRPr dirty="0"/>
          </a:p>
          <a:p>
            <a:pPr marL="990600" lvl="1" indent="-533400" eaLnBrk="1" hangingPunct="1"/>
            <a:r>
              <a:rPr dirty="0"/>
              <a:t>A user query in the form of a textual string.</a:t>
            </a:r>
            <a:endParaRPr dirty="0"/>
          </a:p>
          <a:p>
            <a:pPr marL="609600" indent="-609600" eaLnBrk="1" hangingPunct="1"/>
            <a:r>
              <a:rPr dirty="0"/>
              <a:t>Find:</a:t>
            </a:r>
            <a:endParaRPr dirty="0"/>
          </a:p>
          <a:p>
            <a:pPr marL="990600" lvl="1" indent="-533400" eaLnBrk="1" hangingPunct="1"/>
            <a:r>
              <a:rPr dirty="0"/>
              <a:t>A ranked set of documents that are relevant to the query.</a:t>
            </a:r>
            <a:endParaRPr dirty="0"/>
          </a:p>
          <a:p>
            <a:pPr marL="609600" indent="-609600" eaLnBrk="1" hangingPunct="1"/>
            <a:endParaRPr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0706" name="Rectangle 2"/>
          <p:cNvSpPr>
            <a:spLocks noGrp="1" noChangeArrowheads="1"/>
          </p:cNvSpPr>
          <p:nvPr>
            <p:ph type="title"/>
          </p:nvPr>
        </p:nvSpPr>
        <p:spPr bwMode="auto">
          <a:xfrm>
            <a:off x="228600" y="533400"/>
            <a:ext cx="8153400" cy="438150"/>
          </a:xfrm>
          <a:ln>
            <a:miter lim="800000"/>
          </a:ln>
          <a:effectLst/>
          <a:sp3d prstMaterial="plastic"/>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0" numCol="1" rtlCol="0" anchor="b" anchorCtr="0" compatLnSpc="1">
            <a:normAutofit fontScale="90000"/>
            <a:scene3d>
              <a:camera prst="orthographicFront"/>
              <a:lightRig rig="freezing" dir="t">
                <a:rot lat="0" lon="0" rev="5640000"/>
              </a:lightRig>
            </a:scene3d>
            <a:sp3d prstMaterial="flat">
              <a:contourClr>
                <a:schemeClr val="tx2"/>
              </a:contourClr>
            </a:sp3d>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5000" b="0" i="0" u="none" strike="noStrike" kern="1200" cap="none" spc="0" normalizeH="0" baseline="0" noProof="0">
                <a:ln>
                  <a:noFill/>
                </a:ln>
                <a:solidFill>
                  <a:schemeClr val="tx2">
                    <a:satMod val="130000"/>
                  </a:schemeClr>
                </a:solidFill>
                <a:effectLst/>
                <a:uLnTx/>
                <a:uFillTx/>
                <a:latin typeface="+mj-lt"/>
                <a:ea typeface="+mj-ea"/>
                <a:cs typeface="+mj-cs"/>
              </a:rPr>
              <a:t>Typical IR System Architecture</a:t>
            </a:r>
            <a:endParaRPr kumimoji="0" lang="en-US" sz="5000" b="0" i="0" u="none" strike="noStrike" kern="1200" cap="none" spc="0" normalizeH="0" baseline="0" noProof="0">
              <a:ln>
                <a:noFill/>
              </a:ln>
              <a:solidFill>
                <a:schemeClr val="tx2">
                  <a:satMod val="130000"/>
                </a:schemeClr>
              </a:solidFill>
              <a:effectLst/>
              <a:uLnTx/>
              <a:uFillTx/>
              <a:latin typeface="+mj-lt"/>
              <a:ea typeface="+mj-ea"/>
              <a:cs typeface="+mj-cs"/>
            </a:endParaRPr>
          </a:p>
        </p:txBody>
      </p:sp>
      <p:pic>
        <p:nvPicPr>
          <p:cNvPr id="840707" name="Picture 3" descr="amconfus"/>
          <p:cNvPicPr>
            <a:picLocks noChangeAspect="1"/>
          </p:cNvPicPr>
          <p:nvPr/>
        </p:nvPicPr>
        <p:blipFill>
          <a:blip r:embed="rId1"/>
          <a:stretch>
            <a:fillRect/>
          </a:stretch>
        </p:blipFill>
        <p:spPr>
          <a:xfrm>
            <a:off x="990600" y="4419600"/>
            <a:ext cx="931863" cy="2005013"/>
          </a:xfrm>
          <a:prstGeom prst="rect">
            <a:avLst/>
          </a:prstGeom>
          <a:noFill/>
          <a:ln w="9525">
            <a:noFill/>
          </a:ln>
        </p:spPr>
      </p:pic>
      <p:sp>
        <p:nvSpPr>
          <p:cNvPr id="44036" name="Rectangle 4"/>
          <p:cNvSpPr/>
          <p:nvPr/>
        </p:nvSpPr>
        <p:spPr>
          <a:xfrm>
            <a:off x="3962400" y="3352800"/>
            <a:ext cx="2057400" cy="1066800"/>
          </a:xfrm>
          <a:prstGeom prst="rect">
            <a:avLst/>
          </a:prstGeom>
          <a:solidFill>
            <a:srgbClr val="98ED87"/>
          </a:solid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98ED87"/>
            </a:extrusionClr>
          </a:sp3d>
        </p:spPr>
        <p:txBody>
          <a:bodyPr wrap="none" anchor="ctr" anchorCtr="0">
            <a:flatTx/>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sz="1800" dirty="0">
                <a:latin typeface="Times New Roman" panose="02020603050405020304" pitchFamily="18" charset="0"/>
              </a:rPr>
              <a:t>IR</a:t>
            </a:r>
            <a:endParaRPr sz="1800" dirty="0">
              <a:latin typeface="Times New Roman" panose="02020603050405020304" pitchFamily="18" charset="0"/>
            </a:endParaRPr>
          </a:p>
          <a:p>
            <a:pPr marL="0" lvl="0" indent="0" algn="ctr" eaLnBrk="1" hangingPunct="1">
              <a:spcBef>
                <a:spcPct val="0"/>
              </a:spcBef>
              <a:buClrTx/>
              <a:buSzTx/>
              <a:buFontTx/>
              <a:buNone/>
            </a:pPr>
            <a:r>
              <a:rPr sz="1800" dirty="0">
                <a:latin typeface="Times New Roman" panose="02020603050405020304" pitchFamily="18" charset="0"/>
              </a:rPr>
              <a:t>System</a:t>
            </a:r>
            <a:endParaRPr sz="1800" dirty="0">
              <a:latin typeface="Times New Roman" panose="02020603050405020304" pitchFamily="18" charset="0"/>
            </a:endParaRPr>
          </a:p>
        </p:txBody>
      </p:sp>
      <p:grpSp>
        <p:nvGrpSpPr>
          <p:cNvPr id="2" name="Group 5"/>
          <p:cNvGrpSpPr/>
          <p:nvPr/>
        </p:nvGrpSpPr>
        <p:grpSpPr>
          <a:xfrm>
            <a:off x="1828800" y="3505200"/>
            <a:ext cx="2133600" cy="914400"/>
            <a:chOff x="1152" y="2208"/>
            <a:chExt cx="1344" cy="576"/>
          </a:xfrm>
        </p:grpSpPr>
        <p:sp>
          <p:nvSpPr>
            <p:cNvPr id="44047" name="AutoShape 6"/>
            <p:cNvSpPr/>
            <p:nvPr/>
          </p:nvSpPr>
          <p:spPr>
            <a:xfrm>
              <a:off x="1152" y="2208"/>
              <a:ext cx="816" cy="576"/>
            </a:xfrm>
            <a:prstGeom prst="wedgeRoundRectCallout">
              <a:avLst>
                <a:gd name="adj1" fmla="val -43750"/>
                <a:gd name="adj2" fmla="val 70000"/>
                <a:gd name="adj3" fmla="val 16667"/>
              </a:avLst>
            </a:prstGeom>
            <a:solidFill>
              <a:srgbClr val="11DBDB"/>
            </a:solidFill>
            <a:ln w="9525" cap="flat" cmpd="sng">
              <a:solidFill>
                <a:schemeClr val="tx1"/>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sz="1800" dirty="0">
                <a:latin typeface="Times New Roman" panose="02020603050405020304" pitchFamily="18" charset="0"/>
              </a:endParaRPr>
            </a:p>
          </p:txBody>
        </p:sp>
        <p:sp>
          <p:nvSpPr>
            <p:cNvPr id="44048" name="Rectangle 7"/>
            <p:cNvSpPr/>
            <p:nvPr/>
          </p:nvSpPr>
          <p:spPr>
            <a:xfrm>
              <a:off x="1248" y="2256"/>
              <a:ext cx="596" cy="523"/>
            </a:xfrm>
            <a:prstGeom prst="rect">
              <a:avLst/>
            </a:prstGeom>
            <a:solidFill>
              <a:srgbClr val="11DBDB"/>
            </a:solid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sz="1800" dirty="0">
                  <a:latin typeface="Times New Roman" panose="02020603050405020304" pitchFamily="18" charset="0"/>
                </a:rPr>
                <a:t>Query String</a:t>
              </a:r>
              <a:endParaRPr sz="1800" dirty="0">
                <a:latin typeface="Times New Roman" panose="02020603050405020304" pitchFamily="18" charset="0"/>
              </a:endParaRPr>
            </a:p>
          </p:txBody>
        </p:sp>
        <p:sp>
          <p:nvSpPr>
            <p:cNvPr id="44049" name="Line 8"/>
            <p:cNvSpPr/>
            <p:nvPr/>
          </p:nvSpPr>
          <p:spPr>
            <a:xfrm>
              <a:off x="1968" y="2496"/>
              <a:ext cx="528" cy="0"/>
            </a:xfrm>
            <a:prstGeom prst="line">
              <a:avLst/>
            </a:prstGeom>
            <a:ln w="9525" cap="flat" cmpd="sng">
              <a:solidFill>
                <a:schemeClr val="tx1"/>
              </a:solidFill>
              <a:prstDash val="solid"/>
              <a:headEnd type="none" w="med" len="med"/>
              <a:tailEnd type="triangle" w="med" len="med"/>
            </a:ln>
          </p:spPr>
        </p:sp>
      </p:grpSp>
      <p:grpSp>
        <p:nvGrpSpPr>
          <p:cNvPr id="3" name="Group 9"/>
          <p:cNvGrpSpPr/>
          <p:nvPr/>
        </p:nvGrpSpPr>
        <p:grpSpPr>
          <a:xfrm>
            <a:off x="4114800" y="1981200"/>
            <a:ext cx="2749550" cy="1371600"/>
            <a:chOff x="2592" y="1248"/>
            <a:chExt cx="1732" cy="864"/>
          </a:xfrm>
        </p:grpSpPr>
        <p:sp>
          <p:nvSpPr>
            <p:cNvPr id="44044" name="Oval 10"/>
            <p:cNvSpPr/>
            <p:nvPr/>
          </p:nvSpPr>
          <p:spPr>
            <a:xfrm>
              <a:off x="2592" y="1248"/>
              <a:ext cx="1056" cy="576"/>
            </a:xfrm>
            <a:prstGeom prst="ellipse">
              <a:avLst/>
            </a:prstGeom>
            <a:solidFill>
              <a:srgbClr val="11DBDB"/>
            </a:solidFill>
            <a:ln w="9525" cap="flat" cmpd="sng">
              <a:solidFill>
                <a:schemeClr val="tx1"/>
              </a:solidFill>
              <a:prstDash val="solid"/>
              <a:headEnd type="none" w="med" len="med"/>
              <a:tailEnd type="none" w="med" len="med"/>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sz="1800" dirty="0">
                  <a:latin typeface="Times New Roman" panose="02020603050405020304" pitchFamily="18" charset="0"/>
                </a:rPr>
                <a:t>Document</a:t>
              </a:r>
              <a:endParaRPr sz="1800" dirty="0">
                <a:latin typeface="Times New Roman" panose="02020603050405020304" pitchFamily="18" charset="0"/>
              </a:endParaRPr>
            </a:p>
            <a:p>
              <a:pPr marL="0" lvl="0" indent="0" algn="ctr" eaLnBrk="1" hangingPunct="1">
                <a:spcBef>
                  <a:spcPct val="0"/>
                </a:spcBef>
                <a:buClrTx/>
                <a:buSzTx/>
                <a:buFontTx/>
                <a:buNone/>
              </a:pPr>
              <a:r>
                <a:rPr sz="1800" dirty="0">
                  <a:latin typeface="Times New Roman" panose="02020603050405020304" pitchFamily="18" charset="0"/>
                </a:rPr>
                <a:t>corpus</a:t>
              </a:r>
              <a:endParaRPr sz="1800" dirty="0">
                <a:latin typeface="Times New Roman" panose="02020603050405020304" pitchFamily="18" charset="0"/>
              </a:endParaRPr>
            </a:p>
          </p:txBody>
        </p:sp>
        <p:sp>
          <p:nvSpPr>
            <p:cNvPr id="44045" name="Line 11"/>
            <p:cNvSpPr/>
            <p:nvPr/>
          </p:nvSpPr>
          <p:spPr>
            <a:xfrm>
              <a:off x="3120" y="1824"/>
              <a:ext cx="0" cy="288"/>
            </a:xfrm>
            <a:prstGeom prst="line">
              <a:avLst/>
            </a:prstGeom>
            <a:ln w="9525" cap="flat" cmpd="sng">
              <a:solidFill>
                <a:schemeClr val="tx1"/>
              </a:solidFill>
              <a:prstDash val="solid"/>
              <a:headEnd type="none" w="med" len="med"/>
              <a:tailEnd type="triangle" w="med" len="med"/>
            </a:ln>
          </p:spPr>
        </p:sp>
        <p:pic>
          <p:nvPicPr>
            <p:cNvPr id="44046" name="Picture 12" descr="bs00554_"/>
            <p:cNvPicPr>
              <a:picLocks noChangeAspect="1"/>
            </p:cNvPicPr>
            <p:nvPr/>
          </p:nvPicPr>
          <p:blipFill>
            <a:blip r:embed="rId2"/>
            <a:stretch>
              <a:fillRect/>
            </a:stretch>
          </p:blipFill>
          <p:spPr>
            <a:xfrm>
              <a:off x="3696" y="1248"/>
              <a:ext cx="628" cy="548"/>
            </a:xfrm>
            <a:prstGeom prst="rect">
              <a:avLst/>
            </a:prstGeom>
            <a:noFill/>
            <a:ln w="9525">
              <a:noFill/>
            </a:ln>
          </p:spPr>
        </p:pic>
      </p:grpSp>
      <p:grpSp>
        <p:nvGrpSpPr>
          <p:cNvPr id="4" name="Group 13"/>
          <p:cNvGrpSpPr/>
          <p:nvPr/>
        </p:nvGrpSpPr>
        <p:grpSpPr>
          <a:xfrm>
            <a:off x="4114800" y="4419600"/>
            <a:ext cx="3429000" cy="1966913"/>
            <a:chOff x="2592" y="2784"/>
            <a:chExt cx="2160" cy="1239"/>
          </a:xfrm>
        </p:grpSpPr>
        <p:sp>
          <p:nvSpPr>
            <p:cNvPr id="44040" name="Oval 14"/>
            <p:cNvSpPr/>
            <p:nvPr/>
          </p:nvSpPr>
          <p:spPr>
            <a:xfrm>
              <a:off x="2592" y="3216"/>
              <a:ext cx="1104" cy="576"/>
            </a:xfrm>
            <a:prstGeom prst="ellipse">
              <a:avLst/>
            </a:prstGeom>
            <a:solidFill>
              <a:srgbClr val="11DBDB"/>
            </a:solidFill>
            <a:ln w="9525" cap="flat" cmpd="sng">
              <a:solidFill>
                <a:schemeClr val="tx1"/>
              </a:solidFill>
              <a:prstDash val="solid"/>
              <a:headEnd type="none" w="med" len="med"/>
              <a:tailEnd type="none" w="med" len="med"/>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sz="1800" dirty="0">
                  <a:latin typeface="Times New Roman" panose="02020603050405020304" pitchFamily="18" charset="0"/>
                </a:rPr>
                <a:t>Ranked</a:t>
              </a:r>
              <a:endParaRPr sz="1800" dirty="0">
                <a:latin typeface="Times New Roman" panose="02020603050405020304" pitchFamily="18" charset="0"/>
              </a:endParaRPr>
            </a:p>
            <a:p>
              <a:pPr marL="0" lvl="0" indent="0" algn="ctr" eaLnBrk="1" hangingPunct="1">
                <a:spcBef>
                  <a:spcPct val="0"/>
                </a:spcBef>
                <a:buClrTx/>
                <a:buSzTx/>
                <a:buFontTx/>
                <a:buNone/>
              </a:pPr>
              <a:r>
                <a:rPr sz="1800" dirty="0">
                  <a:latin typeface="Times New Roman" panose="02020603050405020304" pitchFamily="18" charset="0"/>
                </a:rPr>
                <a:t>Documents</a:t>
              </a:r>
              <a:endParaRPr sz="1800" dirty="0">
                <a:latin typeface="Times New Roman" panose="02020603050405020304" pitchFamily="18" charset="0"/>
              </a:endParaRPr>
            </a:p>
          </p:txBody>
        </p:sp>
        <p:sp>
          <p:nvSpPr>
            <p:cNvPr id="44041" name="Line 15"/>
            <p:cNvSpPr/>
            <p:nvPr/>
          </p:nvSpPr>
          <p:spPr>
            <a:xfrm>
              <a:off x="3120" y="2784"/>
              <a:ext cx="0" cy="432"/>
            </a:xfrm>
            <a:prstGeom prst="line">
              <a:avLst/>
            </a:prstGeom>
            <a:ln w="9525" cap="flat" cmpd="sng">
              <a:solidFill>
                <a:schemeClr val="tx1"/>
              </a:solidFill>
              <a:prstDash val="solid"/>
              <a:headEnd type="none" w="med" len="med"/>
              <a:tailEnd type="triangle" w="med" len="med"/>
            </a:ln>
          </p:spPr>
        </p:sp>
        <p:sp>
          <p:nvSpPr>
            <p:cNvPr id="44042" name="Rectangle 16"/>
            <p:cNvSpPr/>
            <p:nvPr/>
          </p:nvSpPr>
          <p:spPr>
            <a:xfrm>
              <a:off x="3984" y="2976"/>
              <a:ext cx="768" cy="912"/>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sz="1800" dirty="0">
                <a:latin typeface="Times New Roman" panose="02020603050405020304" pitchFamily="18" charset="0"/>
              </a:endParaRPr>
            </a:p>
          </p:txBody>
        </p:sp>
        <p:sp>
          <p:nvSpPr>
            <p:cNvPr id="44043" name="Text Box 17"/>
            <p:cNvSpPr txBox="1"/>
            <p:nvPr/>
          </p:nvSpPr>
          <p:spPr>
            <a:xfrm>
              <a:off x="4070" y="3015"/>
              <a:ext cx="525" cy="1008"/>
            </a:xfrm>
            <a:prstGeom prst="rect">
              <a:avLst/>
            </a:prstGeom>
            <a:noFill/>
            <a:ln w="9525">
              <a:noFill/>
            </a:ln>
          </p:spPr>
          <p:txBody>
            <a:bodyPr wrap="none">
              <a:spAutoFit/>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457200" lvl="0" indent="-457200" eaLnBrk="1" hangingPunct="1">
                <a:spcBef>
                  <a:spcPct val="0"/>
                </a:spcBef>
                <a:buClrTx/>
                <a:buSzTx/>
                <a:buFontTx/>
                <a:buNone/>
              </a:pPr>
              <a:r>
                <a:rPr sz="1600" dirty="0">
                  <a:latin typeface="Times New Roman" panose="02020603050405020304" pitchFamily="18" charset="0"/>
                </a:rPr>
                <a:t>1. Doc1</a:t>
              </a:r>
              <a:endParaRPr sz="1600" dirty="0">
                <a:latin typeface="Times New Roman" panose="02020603050405020304" pitchFamily="18" charset="0"/>
              </a:endParaRPr>
            </a:p>
            <a:p>
              <a:pPr marL="457200" lvl="0" indent="-457200" eaLnBrk="1" hangingPunct="1">
                <a:spcBef>
                  <a:spcPct val="0"/>
                </a:spcBef>
                <a:buClrTx/>
                <a:buSzTx/>
                <a:buFontTx/>
                <a:buNone/>
              </a:pPr>
              <a:r>
                <a:rPr sz="1600" dirty="0">
                  <a:latin typeface="Times New Roman" panose="02020603050405020304" pitchFamily="18" charset="0"/>
                </a:rPr>
                <a:t>2. Doc2</a:t>
              </a:r>
              <a:endParaRPr sz="1600" dirty="0">
                <a:latin typeface="Times New Roman" panose="02020603050405020304" pitchFamily="18" charset="0"/>
              </a:endParaRPr>
            </a:p>
            <a:p>
              <a:pPr marL="457200" lvl="0" indent="-457200" eaLnBrk="1" hangingPunct="1">
                <a:spcBef>
                  <a:spcPct val="0"/>
                </a:spcBef>
                <a:buClrTx/>
                <a:buSzTx/>
                <a:buFontTx/>
                <a:buNone/>
              </a:pPr>
              <a:r>
                <a:rPr sz="1600" dirty="0">
                  <a:latin typeface="Times New Roman" panose="02020603050405020304" pitchFamily="18" charset="0"/>
                </a:rPr>
                <a:t>3. Doc3</a:t>
              </a:r>
              <a:endParaRPr sz="1600" dirty="0">
                <a:latin typeface="Times New Roman" panose="02020603050405020304" pitchFamily="18" charset="0"/>
              </a:endParaRPr>
            </a:p>
            <a:p>
              <a:pPr marL="457200" lvl="0" indent="-457200" eaLnBrk="1" hangingPunct="1">
                <a:spcBef>
                  <a:spcPct val="0"/>
                </a:spcBef>
                <a:buClrTx/>
                <a:buSzTx/>
                <a:buFontTx/>
                <a:buNone/>
              </a:pPr>
              <a:r>
                <a:rPr sz="1600" dirty="0">
                  <a:latin typeface="Times New Roman" panose="02020603050405020304" pitchFamily="18" charset="0"/>
                </a:rPr>
                <a:t>    .</a:t>
              </a:r>
              <a:endParaRPr sz="1600" dirty="0">
                <a:latin typeface="Times New Roman" panose="02020603050405020304" pitchFamily="18" charset="0"/>
              </a:endParaRPr>
            </a:p>
            <a:p>
              <a:pPr marL="457200" lvl="0" indent="-457200" eaLnBrk="1" hangingPunct="1">
                <a:spcBef>
                  <a:spcPct val="0"/>
                </a:spcBef>
                <a:buClrTx/>
                <a:buSzTx/>
                <a:buFontTx/>
                <a:buNone/>
              </a:pPr>
              <a:r>
                <a:rPr sz="1600" dirty="0">
                  <a:latin typeface="Times New Roman" panose="02020603050405020304" pitchFamily="18" charset="0"/>
                </a:rPr>
                <a:t>    .</a:t>
              </a:r>
              <a:endParaRPr sz="1600" dirty="0">
                <a:latin typeface="Times New Roman" panose="02020603050405020304" pitchFamily="18" charset="0"/>
              </a:endParaRPr>
            </a:p>
            <a:p>
              <a:pPr marL="457200" lvl="0" indent="-457200" eaLnBrk="1" hangingPunct="1">
                <a:spcBef>
                  <a:spcPct val="0"/>
                </a:spcBef>
                <a:buClrTx/>
                <a:buSzTx/>
                <a:buFontTx/>
                <a:buNone/>
              </a:pPr>
              <a:endParaRPr sz="1800" dirty="0">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84070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50946" name="Rectangle 1026"/>
          <p:cNvSpPr>
            <a:spLocks noGrp="1" noChangeArrowheads="1"/>
          </p:cNvSpPr>
          <p:nvPr>
            <p:ph type="title"/>
          </p:nvPr>
        </p:nvSpPr>
        <p:spPr bwMode="auto">
          <a:xfrm>
            <a:off x="228600" y="533400"/>
            <a:ext cx="8153400" cy="438150"/>
          </a:xfrm>
          <a:ln>
            <a:miter lim="800000"/>
          </a:ln>
          <a:effectLst/>
          <a:sp3d prstMaterial="plastic"/>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0" numCol="1" rtlCol="0" anchor="b" anchorCtr="0" compatLnSpc="1">
            <a:normAutofit fontScale="90000"/>
            <a:scene3d>
              <a:camera prst="orthographicFront"/>
              <a:lightRig rig="freezing" dir="t">
                <a:rot lat="0" lon="0" rev="5640000"/>
              </a:lightRig>
            </a:scene3d>
            <a:sp3d prstMaterial="flat">
              <a:contourClr>
                <a:schemeClr val="tx2"/>
              </a:contourClr>
            </a:sp3d>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5000" b="0" i="0" u="none" strike="noStrike" kern="1200" cap="none" spc="0" normalizeH="0" baseline="0" noProof="0">
                <a:ln>
                  <a:noFill/>
                </a:ln>
                <a:solidFill>
                  <a:schemeClr val="tx2">
                    <a:satMod val="130000"/>
                  </a:schemeClr>
                </a:solidFill>
                <a:effectLst/>
                <a:uLnTx/>
                <a:uFillTx/>
                <a:latin typeface="+mj-lt"/>
                <a:ea typeface="+mj-ea"/>
                <a:cs typeface="+mj-cs"/>
              </a:rPr>
              <a:t>Web Search System</a:t>
            </a:r>
            <a:endParaRPr kumimoji="0" lang="en-US" sz="5000" b="0" i="0" u="none" strike="noStrike" kern="1200" cap="none" spc="0" normalizeH="0" baseline="0" noProof="0">
              <a:ln>
                <a:noFill/>
              </a:ln>
              <a:solidFill>
                <a:schemeClr val="tx2">
                  <a:satMod val="130000"/>
                </a:schemeClr>
              </a:solidFill>
              <a:effectLst/>
              <a:uLnTx/>
              <a:uFillTx/>
              <a:latin typeface="+mj-lt"/>
              <a:ea typeface="+mj-ea"/>
              <a:cs typeface="+mj-cs"/>
            </a:endParaRPr>
          </a:p>
        </p:txBody>
      </p:sp>
      <p:grpSp>
        <p:nvGrpSpPr>
          <p:cNvPr id="2" name="Group 1027"/>
          <p:cNvGrpSpPr/>
          <p:nvPr/>
        </p:nvGrpSpPr>
        <p:grpSpPr>
          <a:xfrm>
            <a:off x="3657600" y="3276600"/>
            <a:ext cx="2971800" cy="3148013"/>
            <a:chOff x="2304" y="2064"/>
            <a:chExt cx="1872" cy="1983"/>
          </a:xfrm>
        </p:grpSpPr>
        <p:grpSp>
          <p:nvGrpSpPr>
            <p:cNvPr id="45158" name="Group 1028"/>
            <p:cNvGrpSpPr/>
            <p:nvPr/>
          </p:nvGrpSpPr>
          <p:grpSpPr>
            <a:xfrm>
              <a:off x="2304" y="2064"/>
              <a:ext cx="1872" cy="1983"/>
              <a:chOff x="2304" y="2064"/>
              <a:chExt cx="1872" cy="1983"/>
            </a:xfrm>
          </p:grpSpPr>
          <p:pic>
            <p:nvPicPr>
              <p:cNvPr id="45160" name="Picture 1029" descr="amconfus"/>
              <p:cNvPicPr>
                <a:picLocks noChangeAspect="1"/>
              </p:cNvPicPr>
              <p:nvPr/>
            </p:nvPicPr>
            <p:blipFill>
              <a:blip r:embed="rId1"/>
              <a:stretch>
                <a:fillRect/>
              </a:stretch>
            </p:blipFill>
            <p:spPr>
              <a:xfrm>
                <a:off x="2304" y="2784"/>
                <a:ext cx="587" cy="1263"/>
              </a:xfrm>
              <a:prstGeom prst="rect">
                <a:avLst/>
              </a:prstGeom>
              <a:noFill/>
              <a:ln w="9525">
                <a:noFill/>
              </a:ln>
            </p:spPr>
          </p:pic>
          <p:sp>
            <p:nvSpPr>
              <p:cNvPr id="45161" name="AutoShape 1030"/>
              <p:cNvSpPr/>
              <p:nvPr/>
            </p:nvSpPr>
            <p:spPr>
              <a:xfrm>
                <a:off x="2832" y="2064"/>
                <a:ext cx="816" cy="576"/>
              </a:xfrm>
              <a:prstGeom prst="wedgeRoundRectCallout">
                <a:avLst>
                  <a:gd name="adj1" fmla="val -59315"/>
                  <a:gd name="adj2" fmla="val 106944"/>
                  <a:gd name="adj3" fmla="val 16667"/>
                </a:avLst>
              </a:prstGeom>
              <a:solidFill>
                <a:srgbClr val="11DBDB"/>
              </a:solidFill>
              <a:ln w="9525" cap="flat" cmpd="sng">
                <a:solidFill>
                  <a:schemeClr val="tx1"/>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sz="1800" dirty="0">
                  <a:latin typeface="Times New Roman" panose="02020603050405020304" pitchFamily="18" charset="0"/>
                </a:endParaRPr>
              </a:p>
            </p:txBody>
          </p:sp>
          <p:sp>
            <p:nvSpPr>
              <p:cNvPr id="45162" name="Line 1031"/>
              <p:cNvSpPr/>
              <p:nvPr/>
            </p:nvSpPr>
            <p:spPr>
              <a:xfrm>
                <a:off x="3648" y="2400"/>
                <a:ext cx="528" cy="0"/>
              </a:xfrm>
              <a:prstGeom prst="line">
                <a:avLst/>
              </a:prstGeom>
              <a:ln w="9525" cap="flat" cmpd="sng">
                <a:solidFill>
                  <a:schemeClr val="tx1"/>
                </a:solidFill>
                <a:prstDash val="solid"/>
                <a:headEnd type="none" w="med" len="med"/>
                <a:tailEnd type="triangle" w="med" len="med"/>
              </a:ln>
            </p:spPr>
          </p:sp>
        </p:grpSp>
        <p:sp>
          <p:nvSpPr>
            <p:cNvPr id="45159" name="Rectangle 1032"/>
            <p:cNvSpPr/>
            <p:nvPr/>
          </p:nvSpPr>
          <p:spPr>
            <a:xfrm>
              <a:off x="2928" y="2112"/>
              <a:ext cx="596" cy="523"/>
            </a:xfrm>
            <a:prstGeom prst="rect">
              <a:avLst/>
            </a:prstGeom>
            <a:solidFill>
              <a:srgbClr val="11DBDB"/>
            </a:solid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sz="1800" dirty="0">
                  <a:latin typeface="Times New Roman" panose="02020603050405020304" pitchFamily="18" charset="0"/>
                </a:rPr>
                <a:t>Query String</a:t>
              </a:r>
              <a:endParaRPr sz="1800" dirty="0">
                <a:latin typeface="Times New Roman" panose="02020603050405020304" pitchFamily="18" charset="0"/>
              </a:endParaRPr>
            </a:p>
          </p:txBody>
        </p:sp>
      </p:grpSp>
      <p:sp>
        <p:nvSpPr>
          <p:cNvPr id="45060" name="Rectangle 1033"/>
          <p:cNvSpPr/>
          <p:nvPr/>
        </p:nvSpPr>
        <p:spPr>
          <a:xfrm>
            <a:off x="6629400" y="3200400"/>
            <a:ext cx="2057400" cy="1066800"/>
          </a:xfrm>
          <a:prstGeom prst="rect">
            <a:avLst/>
          </a:prstGeom>
          <a:solidFill>
            <a:srgbClr val="98ED87"/>
          </a:solid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98ED87"/>
            </a:extrusionClr>
          </a:sp3d>
        </p:spPr>
        <p:txBody>
          <a:bodyPr wrap="none" anchor="ctr" anchorCtr="0">
            <a:flatTx/>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sz="1800" dirty="0">
                <a:latin typeface="Times New Roman" panose="02020603050405020304" pitchFamily="18" charset="0"/>
              </a:rPr>
              <a:t>IR</a:t>
            </a:r>
            <a:endParaRPr sz="1800" dirty="0">
              <a:latin typeface="Times New Roman" panose="02020603050405020304" pitchFamily="18" charset="0"/>
            </a:endParaRPr>
          </a:p>
          <a:p>
            <a:pPr marL="0" lvl="0" indent="0" algn="ctr" eaLnBrk="1" hangingPunct="1">
              <a:spcBef>
                <a:spcPct val="0"/>
              </a:spcBef>
              <a:buClrTx/>
              <a:buSzTx/>
              <a:buFontTx/>
              <a:buNone/>
            </a:pPr>
            <a:r>
              <a:rPr sz="1800" dirty="0">
                <a:latin typeface="Times New Roman" panose="02020603050405020304" pitchFamily="18" charset="0"/>
              </a:rPr>
              <a:t>System</a:t>
            </a:r>
            <a:endParaRPr sz="1800" dirty="0">
              <a:latin typeface="Times New Roman" panose="02020603050405020304" pitchFamily="18" charset="0"/>
            </a:endParaRPr>
          </a:p>
        </p:txBody>
      </p:sp>
      <p:grpSp>
        <p:nvGrpSpPr>
          <p:cNvPr id="4" name="Group 1034"/>
          <p:cNvGrpSpPr/>
          <p:nvPr/>
        </p:nvGrpSpPr>
        <p:grpSpPr>
          <a:xfrm>
            <a:off x="5486400" y="4267200"/>
            <a:ext cx="3048000" cy="2057400"/>
            <a:chOff x="3456" y="2688"/>
            <a:chExt cx="1920" cy="1296"/>
          </a:xfrm>
        </p:grpSpPr>
        <p:sp>
          <p:nvSpPr>
            <p:cNvPr id="45154" name="Oval 1035"/>
            <p:cNvSpPr/>
            <p:nvPr/>
          </p:nvSpPr>
          <p:spPr>
            <a:xfrm>
              <a:off x="4272" y="3120"/>
              <a:ext cx="1104" cy="576"/>
            </a:xfrm>
            <a:prstGeom prst="ellipse">
              <a:avLst/>
            </a:prstGeom>
            <a:solidFill>
              <a:srgbClr val="11DBDB"/>
            </a:solidFill>
            <a:ln w="9525" cap="flat" cmpd="sng">
              <a:solidFill>
                <a:schemeClr val="tx1"/>
              </a:solidFill>
              <a:prstDash val="solid"/>
              <a:headEnd type="none" w="med" len="med"/>
              <a:tailEnd type="none" w="med" len="med"/>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sz="1800" dirty="0">
                  <a:latin typeface="Times New Roman" panose="02020603050405020304" pitchFamily="18" charset="0"/>
                </a:rPr>
                <a:t>Ranked</a:t>
              </a:r>
              <a:endParaRPr sz="1800" dirty="0">
                <a:latin typeface="Times New Roman" panose="02020603050405020304" pitchFamily="18" charset="0"/>
              </a:endParaRPr>
            </a:p>
            <a:p>
              <a:pPr marL="0" lvl="0" indent="0" algn="ctr" eaLnBrk="1" hangingPunct="1">
                <a:spcBef>
                  <a:spcPct val="0"/>
                </a:spcBef>
                <a:buClrTx/>
                <a:buSzTx/>
                <a:buFontTx/>
                <a:buNone/>
              </a:pPr>
              <a:r>
                <a:rPr sz="1800" dirty="0">
                  <a:latin typeface="Times New Roman" panose="02020603050405020304" pitchFamily="18" charset="0"/>
                </a:rPr>
                <a:t>Documents</a:t>
              </a:r>
              <a:endParaRPr sz="1800" dirty="0">
                <a:latin typeface="Times New Roman" panose="02020603050405020304" pitchFamily="18" charset="0"/>
              </a:endParaRPr>
            </a:p>
          </p:txBody>
        </p:sp>
        <p:sp>
          <p:nvSpPr>
            <p:cNvPr id="45155" name="Line 1036"/>
            <p:cNvSpPr/>
            <p:nvPr/>
          </p:nvSpPr>
          <p:spPr>
            <a:xfrm>
              <a:off x="4800" y="2688"/>
              <a:ext cx="0" cy="432"/>
            </a:xfrm>
            <a:prstGeom prst="line">
              <a:avLst/>
            </a:prstGeom>
            <a:ln w="9525" cap="flat" cmpd="sng">
              <a:solidFill>
                <a:schemeClr val="tx1"/>
              </a:solidFill>
              <a:prstDash val="solid"/>
              <a:headEnd type="none" w="med" len="med"/>
              <a:tailEnd type="triangle" w="med" len="med"/>
            </a:ln>
          </p:spPr>
        </p:sp>
        <p:sp>
          <p:nvSpPr>
            <p:cNvPr id="45156" name="Rectangle 1037"/>
            <p:cNvSpPr/>
            <p:nvPr/>
          </p:nvSpPr>
          <p:spPr>
            <a:xfrm>
              <a:off x="3456" y="2976"/>
              <a:ext cx="768" cy="912"/>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sz="1800" dirty="0">
                <a:latin typeface="Times New Roman" panose="02020603050405020304" pitchFamily="18" charset="0"/>
              </a:endParaRPr>
            </a:p>
          </p:txBody>
        </p:sp>
        <p:sp>
          <p:nvSpPr>
            <p:cNvPr id="45157" name="Text Box 1038"/>
            <p:cNvSpPr txBox="1"/>
            <p:nvPr/>
          </p:nvSpPr>
          <p:spPr>
            <a:xfrm>
              <a:off x="3552" y="2976"/>
              <a:ext cx="562" cy="1008"/>
            </a:xfrm>
            <a:prstGeom prst="rect">
              <a:avLst/>
            </a:prstGeom>
            <a:noFill/>
            <a:ln w="9525">
              <a:noFill/>
            </a:ln>
          </p:spPr>
          <p:txBody>
            <a:bodyPr wrap="none">
              <a:spAutoFit/>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457200" lvl="0" indent="-457200" eaLnBrk="1" hangingPunct="1">
                <a:spcBef>
                  <a:spcPct val="0"/>
                </a:spcBef>
                <a:buClrTx/>
                <a:buSzTx/>
                <a:buFontTx/>
                <a:buNone/>
              </a:pPr>
              <a:r>
                <a:rPr sz="1600" dirty="0">
                  <a:latin typeface="Times New Roman" panose="02020603050405020304" pitchFamily="18" charset="0"/>
                </a:rPr>
                <a:t>1. Page1</a:t>
              </a:r>
              <a:endParaRPr sz="1600" dirty="0">
                <a:latin typeface="Times New Roman" panose="02020603050405020304" pitchFamily="18" charset="0"/>
              </a:endParaRPr>
            </a:p>
            <a:p>
              <a:pPr marL="457200" lvl="0" indent="-457200" eaLnBrk="1" hangingPunct="1">
                <a:spcBef>
                  <a:spcPct val="0"/>
                </a:spcBef>
                <a:buClrTx/>
                <a:buSzTx/>
                <a:buFontTx/>
                <a:buNone/>
              </a:pPr>
              <a:r>
                <a:rPr sz="1600" dirty="0">
                  <a:latin typeface="Times New Roman" panose="02020603050405020304" pitchFamily="18" charset="0"/>
                </a:rPr>
                <a:t>2. Page2</a:t>
              </a:r>
              <a:endParaRPr sz="1600" dirty="0">
                <a:latin typeface="Times New Roman" panose="02020603050405020304" pitchFamily="18" charset="0"/>
              </a:endParaRPr>
            </a:p>
            <a:p>
              <a:pPr marL="457200" lvl="0" indent="-457200" eaLnBrk="1" hangingPunct="1">
                <a:spcBef>
                  <a:spcPct val="0"/>
                </a:spcBef>
                <a:buClrTx/>
                <a:buSzTx/>
                <a:buFontTx/>
                <a:buNone/>
              </a:pPr>
              <a:r>
                <a:rPr sz="1600" dirty="0">
                  <a:latin typeface="Times New Roman" panose="02020603050405020304" pitchFamily="18" charset="0"/>
                </a:rPr>
                <a:t>3. Page3</a:t>
              </a:r>
              <a:endParaRPr sz="1600" dirty="0">
                <a:latin typeface="Times New Roman" panose="02020603050405020304" pitchFamily="18" charset="0"/>
              </a:endParaRPr>
            </a:p>
            <a:p>
              <a:pPr marL="457200" lvl="0" indent="-457200" eaLnBrk="1" hangingPunct="1">
                <a:spcBef>
                  <a:spcPct val="0"/>
                </a:spcBef>
                <a:buClrTx/>
                <a:buSzTx/>
                <a:buFontTx/>
                <a:buNone/>
              </a:pPr>
              <a:r>
                <a:rPr sz="1600" dirty="0">
                  <a:latin typeface="Times New Roman" panose="02020603050405020304" pitchFamily="18" charset="0"/>
                </a:rPr>
                <a:t>    .</a:t>
              </a:r>
              <a:endParaRPr sz="1600" dirty="0">
                <a:latin typeface="Times New Roman" panose="02020603050405020304" pitchFamily="18" charset="0"/>
              </a:endParaRPr>
            </a:p>
            <a:p>
              <a:pPr marL="457200" lvl="0" indent="-457200" eaLnBrk="1" hangingPunct="1">
                <a:spcBef>
                  <a:spcPct val="0"/>
                </a:spcBef>
                <a:buClrTx/>
                <a:buSzTx/>
                <a:buFontTx/>
                <a:buNone/>
              </a:pPr>
              <a:r>
                <a:rPr sz="1600" dirty="0">
                  <a:latin typeface="Times New Roman" panose="02020603050405020304" pitchFamily="18" charset="0"/>
                </a:rPr>
                <a:t>    .</a:t>
              </a:r>
              <a:endParaRPr sz="1600" dirty="0">
                <a:latin typeface="Times New Roman" panose="02020603050405020304" pitchFamily="18" charset="0"/>
              </a:endParaRPr>
            </a:p>
            <a:p>
              <a:pPr marL="457200" lvl="0" indent="-457200" eaLnBrk="1" hangingPunct="1">
                <a:spcBef>
                  <a:spcPct val="0"/>
                </a:spcBef>
                <a:buClrTx/>
                <a:buSzTx/>
                <a:buFontTx/>
                <a:buNone/>
              </a:pPr>
              <a:endParaRPr sz="1800" dirty="0">
                <a:latin typeface="Times New Roman" panose="02020603050405020304" pitchFamily="18" charset="0"/>
              </a:endParaRPr>
            </a:p>
          </p:txBody>
        </p:sp>
      </p:grpSp>
      <p:sp>
        <p:nvSpPr>
          <p:cNvPr id="850959" name="Line 1039"/>
          <p:cNvSpPr/>
          <p:nvPr/>
        </p:nvSpPr>
        <p:spPr>
          <a:xfrm>
            <a:off x="7620000" y="2743200"/>
            <a:ext cx="0" cy="457200"/>
          </a:xfrm>
          <a:prstGeom prst="line">
            <a:avLst/>
          </a:prstGeom>
          <a:ln w="9525" cap="flat" cmpd="sng">
            <a:solidFill>
              <a:schemeClr val="tx1"/>
            </a:solidFill>
            <a:prstDash val="solid"/>
            <a:headEnd type="none" w="med" len="med"/>
            <a:tailEnd type="triangle" w="med" len="med"/>
          </a:ln>
        </p:spPr>
      </p:sp>
      <p:grpSp>
        <p:nvGrpSpPr>
          <p:cNvPr id="5" name="Group 1040"/>
          <p:cNvGrpSpPr/>
          <p:nvPr/>
        </p:nvGrpSpPr>
        <p:grpSpPr>
          <a:xfrm>
            <a:off x="6248400" y="1828800"/>
            <a:ext cx="2209800" cy="914400"/>
            <a:chOff x="3936" y="1152"/>
            <a:chExt cx="1392" cy="576"/>
          </a:xfrm>
        </p:grpSpPr>
        <p:sp>
          <p:nvSpPr>
            <p:cNvPr id="45152" name="Oval 1041"/>
            <p:cNvSpPr/>
            <p:nvPr/>
          </p:nvSpPr>
          <p:spPr>
            <a:xfrm>
              <a:off x="4272" y="1152"/>
              <a:ext cx="1056" cy="576"/>
            </a:xfrm>
            <a:prstGeom prst="ellipse">
              <a:avLst/>
            </a:prstGeom>
            <a:solidFill>
              <a:srgbClr val="11DBDB"/>
            </a:solidFill>
            <a:ln w="9525" cap="flat" cmpd="sng">
              <a:solidFill>
                <a:schemeClr val="tx1"/>
              </a:solidFill>
              <a:prstDash val="solid"/>
              <a:headEnd type="none" w="med" len="med"/>
              <a:tailEnd type="none" w="med" len="med"/>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sz="1800" dirty="0">
                  <a:latin typeface="Times New Roman" panose="02020603050405020304" pitchFamily="18" charset="0"/>
                </a:rPr>
                <a:t>Document</a:t>
              </a:r>
              <a:endParaRPr sz="1800" dirty="0">
                <a:latin typeface="Times New Roman" panose="02020603050405020304" pitchFamily="18" charset="0"/>
              </a:endParaRPr>
            </a:p>
            <a:p>
              <a:pPr marL="0" lvl="0" indent="0" algn="ctr" eaLnBrk="1" hangingPunct="1">
                <a:spcBef>
                  <a:spcPct val="0"/>
                </a:spcBef>
                <a:buClrTx/>
                <a:buSzTx/>
                <a:buFontTx/>
                <a:buNone/>
              </a:pPr>
              <a:r>
                <a:rPr sz="1800" dirty="0">
                  <a:latin typeface="Times New Roman" panose="02020603050405020304" pitchFamily="18" charset="0"/>
                </a:rPr>
                <a:t>corpus</a:t>
              </a:r>
              <a:endParaRPr sz="1800" dirty="0">
                <a:latin typeface="Times New Roman" panose="02020603050405020304" pitchFamily="18" charset="0"/>
              </a:endParaRPr>
            </a:p>
          </p:txBody>
        </p:sp>
        <p:sp>
          <p:nvSpPr>
            <p:cNvPr id="45153" name="Line 1042"/>
            <p:cNvSpPr/>
            <p:nvPr/>
          </p:nvSpPr>
          <p:spPr>
            <a:xfrm>
              <a:off x="3936" y="1440"/>
              <a:ext cx="336" cy="0"/>
            </a:xfrm>
            <a:prstGeom prst="line">
              <a:avLst/>
            </a:prstGeom>
            <a:ln w="9525" cap="flat" cmpd="sng">
              <a:solidFill>
                <a:schemeClr val="tx1"/>
              </a:solidFill>
              <a:prstDash val="solid"/>
              <a:headEnd type="none" w="med" len="med"/>
              <a:tailEnd type="triangle" w="med" len="med"/>
            </a:ln>
          </p:spPr>
        </p:sp>
      </p:grpSp>
      <p:grpSp>
        <p:nvGrpSpPr>
          <p:cNvPr id="45064" name="Group 1043"/>
          <p:cNvGrpSpPr/>
          <p:nvPr/>
        </p:nvGrpSpPr>
        <p:grpSpPr>
          <a:xfrm>
            <a:off x="838200" y="1524000"/>
            <a:ext cx="2743200" cy="2209800"/>
            <a:chOff x="528" y="960"/>
            <a:chExt cx="1728" cy="1392"/>
          </a:xfrm>
        </p:grpSpPr>
        <p:sp>
          <p:nvSpPr>
            <p:cNvPr id="45071" name="Cloud"/>
            <p:cNvSpPr>
              <a:spLocks noChangeAspect="1" noEditPoints="1"/>
            </p:cNvSpPr>
            <p:nvPr/>
          </p:nvSpPr>
          <p:spPr>
            <a:xfrm>
              <a:off x="528" y="960"/>
              <a:ext cx="1728" cy="1392"/>
            </a:xfrm>
            <a:custGeom>
              <a:avLst/>
              <a:gdLst>
                <a:gd name="txL" fmla="*/ 2975 w 21600"/>
                <a:gd name="txT" fmla="*/ 3259 h 21600"/>
                <a:gd name="txR" fmla="*/ 17088 w 21600"/>
                <a:gd name="txB" fmla="*/ 17333 h 21600"/>
              </a:gdLst>
              <a:ahLst/>
              <a:cxnLst>
                <a:cxn ang="0">
                  <a:pos x="0" y="3"/>
                </a:cxn>
                <a:cxn ang="0">
                  <a:pos x="6" y="6"/>
                </a:cxn>
                <a:cxn ang="0">
                  <a:pos x="11" y="3"/>
                </a:cxn>
                <a:cxn ang="0">
                  <a:pos x="6" y="0"/>
                </a:cxn>
              </a:cxnLst>
              <a:rect l="txL" t="txT" r="txR" b="txB"/>
              <a:pathLst>
                <a:path w="21600" h="2160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a:moveTo>
                    <a:pt x="1074" y="12702"/>
                  </a:moveTo>
                  <a:cubicBezTo>
                    <a:pt x="1407" y="12969"/>
                    <a:pt x="1786" y="13110"/>
                    <a:pt x="2172" y="13110"/>
                  </a:cubicBezTo>
                  <a:cubicBezTo>
                    <a:pt x="2228" y="13109"/>
                    <a:pt x="2285" y="13107"/>
                    <a:pt x="2341" y="13101"/>
                  </a:cubicBezTo>
                </a:path>
                <a:path w="21600" h="21600" fill="none">
                  <a:moveTo>
                    <a:pt x="2909" y="17629"/>
                  </a:moveTo>
                  <a:cubicBezTo>
                    <a:pt x="3099" y="17599"/>
                    <a:pt x="3285" y="17535"/>
                    <a:pt x="3463" y="17439"/>
                  </a:cubicBezTo>
                </a:path>
                <a:path w="21600" h="21600" fill="none">
                  <a:moveTo>
                    <a:pt x="7895" y="18680"/>
                  </a:moveTo>
                  <a:cubicBezTo>
                    <a:pt x="7983" y="18985"/>
                    <a:pt x="8095" y="19277"/>
                    <a:pt x="8229" y="19550"/>
                  </a:cubicBezTo>
                </a:path>
                <a:path w="21600" h="21600" fill="none">
                  <a:moveTo>
                    <a:pt x="14267" y="18324"/>
                  </a:moveTo>
                  <a:cubicBezTo>
                    <a:pt x="14336" y="18013"/>
                    <a:pt x="14380" y="17693"/>
                    <a:pt x="14400" y="17370"/>
                  </a:cubicBezTo>
                </a:path>
                <a:path w="21600" h="21600" fill="none">
                  <a:moveTo>
                    <a:pt x="18694" y="15045"/>
                  </a:moveTo>
                  <a:cubicBezTo>
                    <a:pt x="18694" y="15034"/>
                    <a:pt x="18695" y="15024"/>
                    <a:pt x="18695" y="15013"/>
                  </a:cubicBezTo>
                  <a:cubicBezTo>
                    <a:pt x="18695" y="13508"/>
                    <a:pt x="18063" y="12136"/>
                    <a:pt x="17069" y="11477"/>
                  </a:cubicBezTo>
                </a:path>
                <a:path w="21600" h="21600" fill="none">
                  <a:moveTo>
                    <a:pt x="20165" y="8999"/>
                  </a:moveTo>
                  <a:cubicBezTo>
                    <a:pt x="20479" y="8635"/>
                    <a:pt x="20726" y="8177"/>
                    <a:pt x="20889" y="7661"/>
                  </a:cubicBezTo>
                </a:path>
                <a:path w="21600" h="21600" fill="none">
                  <a:moveTo>
                    <a:pt x="19186" y="3344"/>
                  </a:moveTo>
                  <a:cubicBezTo>
                    <a:pt x="19186" y="3328"/>
                    <a:pt x="19187" y="3313"/>
                    <a:pt x="19187" y="3297"/>
                  </a:cubicBezTo>
                  <a:cubicBezTo>
                    <a:pt x="19187" y="3101"/>
                    <a:pt x="19174" y="2905"/>
                    <a:pt x="19148" y="2712"/>
                  </a:cubicBezTo>
                </a:path>
                <a:path w="21600" h="21600" fill="none">
                  <a:moveTo>
                    <a:pt x="14905" y="1165"/>
                  </a:moveTo>
                  <a:cubicBezTo>
                    <a:pt x="14754" y="1408"/>
                    <a:pt x="14629" y="1679"/>
                    <a:pt x="14535" y="1971"/>
                  </a:cubicBezTo>
                </a:path>
                <a:path w="21600" h="21600" fill="none">
                  <a:moveTo>
                    <a:pt x="11221" y="1645"/>
                  </a:moveTo>
                  <a:cubicBezTo>
                    <a:pt x="11140" y="1866"/>
                    <a:pt x="11080" y="2099"/>
                    <a:pt x="11041" y="2340"/>
                  </a:cubicBezTo>
                </a:path>
                <a:path w="21600" h="21600" fill="none">
                  <a:moveTo>
                    <a:pt x="7645" y="3276"/>
                  </a:moveTo>
                  <a:cubicBezTo>
                    <a:pt x="7449" y="3016"/>
                    <a:pt x="7231" y="2790"/>
                    <a:pt x="6995" y="2602"/>
                  </a:cubicBezTo>
                </a:path>
                <a:path w="21600" h="21600" fill="none">
                  <a:moveTo>
                    <a:pt x="1942" y="7186"/>
                  </a:moveTo>
                  <a:cubicBezTo>
                    <a:pt x="1966" y="7426"/>
                    <a:pt x="2004" y="7663"/>
                    <a:pt x="2056" y="7895"/>
                  </a:cubicBezTo>
                </a:path>
              </a:pathLst>
            </a:custGeom>
            <a:solidFill>
              <a:schemeClr val="bg1">
                <a:alpha val="100000"/>
              </a:schemeClr>
            </a:solidFill>
            <a:ln w="9525" cap="flat" cmpd="sng">
              <a:solidFill>
                <a:srgbClr val="000000">
                  <a:alpha val="100000"/>
                </a:srgbClr>
              </a:solidFill>
              <a:prstDash val="solid"/>
              <a:miter lim="800000"/>
              <a:headEnd type="none" w="med" len="med"/>
              <a:tailEnd type="none" w="med" len="med"/>
            </a:ln>
            <a:effectLst>
              <a:outerShdw dist="107763" dir="2699999" algn="ctr" rotWithShape="0">
                <a:srgbClr val="808080">
                  <a:alpha val="100000"/>
                </a:srgbClr>
              </a:outerShdw>
            </a:effectLst>
          </p:spPr>
          <p:txBody>
            <a:bodyPr/>
            <a:p>
              <a:endParaRPr lang="en-US"/>
            </a:p>
          </p:txBody>
        </p:sp>
        <p:sp>
          <p:nvSpPr>
            <p:cNvPr id="45072" name="Text Box 1045"/>
            <p:cNvSpPr txBox="1"/>
            <p:nvPr/>
          </p:nvSpPr>
          <p:spPr>
            <a:xfrm>
              <a:off x="1152" y="1104"/>
              <a:ext cx="466" cy="291"/>
            </a:xfrm>
            <a:prstGeom prst="rect">
              <a:avLst/>
            </a:prstGeom>
            <a:noFill/>
            <a:ln w="9525">
              <a:noFill/>
            </a:ln>
          </p:spPr>
          <p:txBody>
            <a:bodyPr wrap="none">
              <a:spAutoFit/>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sz="1800" dirty="0">
                  <a:latin typeface="Times New Roman" panose="02020603050405020304" pitchFamily="18" charset="0"/>
                </a:rPr>
                <a:t>Web</a:t>
              </a:r>
              <a:endParaRPr sz="1800" dirty="0">
                <a:latin typeface="Times New Roman" panose="02020603050405020304" pitchFamily="18" charset="0"/>
              </a:endParaRPr>
            </a:p>
          </p:txBody>
        </p:sp>
        <p:grpSp>
          <p:nvGrpSpPr>
            <p:cNvPr id="45073" name="Group 1046"/>
            <p:cNvGrpSpPr/>
            <p:nvPr/>
          </p:nvGrpSpPr>
          <p:grpSpPr>
            <a:xfrm>
              <a:off x="1008" y="1392"/>
              <a:ext cx="864" cy="768"/>
              <a:chOff x="1872" y="1152"/>
              <a:chExt cx="2784" cy="2496"/>
            </a:xfrm>
          </p:grpSpPr>
          <p:grpSp>
            <p:nvGrpSpPr>
              <p:cNvPr id="45074" name="Group 1047"/>
              <p:cNvGrpSpPr/>
              <p:nvPr/>
            </p:nvGrpSpPr>
            <p:grpSpPr>
              <a:xfrm>
                <a:off x="1872" y="1872"/>
                <a:ext cx="528" cy="624"/>
                <a:chOff x="1488" y="1392"/>
                <a:chExt cx="528" cy="624"/>
              </a:xfrm>
            </p:grpSpPr>
            <p:sp>
              <p:nvSpPr>
                <p:cNvPr id="45142" name="Rectangle 1048"/>
                <p:cNvSpPr/>
                <p:nvPr/>
              </p:nvSpPr>
              <p:spPr>
                <a:xfrm>
                  <a:off x="1488" y="1392"/>
                  <a:ext cx="528" cy="624"/>
                </a:xfrm>
                <a:prstGeom prst="rect">
                  <a:avLst/>
                </a:prstGeom>
                <a:solidFill>
                  <a:schemeClr val="bg1"/>
                </a:solidFill>
                <a:ln w="3175" cap="flat" cmpd="sng">
                  <a:solidFill>
                    <a:schemeClr val="tx1"/>
                  </a:solidFill>
                  <a:prstDash val="solid"/>
                  <a:miter/>
                  <a:headEnd type="none" w="med" len="med"/>
                  <a:tailEnd type="none" w="med" len="med"/>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sz="1800" dirty="0">
                    <a:latin typeface="Calibri" panose="020F0502020204030204" pitchFamily="34" charset="0"/>
                  </a:endParaRPr>
                </a:p>
              </p:txBody>
            </p:sp>
            <p:sp>
              <p:nvSpPr>
                <p:cNvPr id="45143" name="Line 1049"/>
                <p:cNvSpPr/>
                <p:nvPr/>
              </p:nvSpPr>
              <p:spPr>
                <a:xfrm>
                  <a:off x="1632" y="1464"/>
                  <a:ext cx="336" cy="0"/>
                </a:xfrm>
                <a:prstGeom prst="line">
                  <a:avLst/>
                </a:prstGeom>
                <a:ln w="3175" cap="flat" cmpd="sng">
                  <a:solidFill>
                    <a:schemeClr val="tx1"/>
                  </a:solidFill>
                  <a:prstDash val="solid"/>
                  <a:headEnd type="none" w="med" len="med"/>
                  <a:tailEnd type="none" w="med" len="med"/>
                </a:ln>
              </p:spPr>
            </p:sp>
            <p:sp>
              <p:nvSpPr>
                <p:cNvPr id="45144" name="Line 1050"/>
                <p:cNvSpPr/>
                <p:nvPr/>
              </p:nvSpPr>
              <p:spPr>
                <a:xfrm>
                  <a:off x="1536" y="1524"/>
                  <a:ext cx="432" cy="0"/>
                </a:xfrm>
                <a:prstGeom prst="line">
                  <a:avLst/>
                </a:prstGeom>
                <a:ln w="3175" cap="flat" cmpd="sng">
                  <a:solidFill>
                    <a:schemeClr val="tx1"/>
                  </a:solidFill>
                  <a:prstDash val="solid"/>
                  <a:headEnd type="none" w="med" len="med"/>
                  <a:tailEnd type="none" w="med" len="med"/>
                </a:ln>
              </p:spPr>
            </p:sp>
            <p:sp>
              <p:nvSpPr>
                <p:cNvPr id="45145" name="Line 1051"/>
                <p:cNvSpPr/>
                <p:nvPr/>
              </p:nvSpPr>
              <p:spPr>
                <a:xfrm>
                  <a:off x="1536" y="1584"/>
                  <a:ext cx="432" cy="0"/>
                </a:xfrm>
                <a:prstGeom prst="line">
                  <a:avLst/>
                </a:prstGeom>
                <a:ln w="3175" cap="flat" cmpd="sng">
                  <a:solidFill>
                    <a:schemeClr val="tx1"/>
                  </a:solidFill>
                  <a:prstDash val="solid"/>
                  <a:headEnd type="none" w="med" len="med"/>
                  <a:tailEnd type="none" w="med" len="med"/>
                </a:ln>
              </p:spPr>
            </p:sp>
            <p:sp>
              <p:nvSpPr>
                <p:cNvPr id="45146" name="Line 1052"/>
                <p:cNvSpPr/>
                <p:nvPr/>
              </p:nvSpPr>
              <p:spPr>
                <a:xfrm>
                  <a:off x="1536" y="1644"/>
                  <a:ext cx="432" cy="0"/>
                </a:xfrm>
                <a:prstGeom prst="line">
                  <a:avLst/>
                </a:prstGeom>
                <a:ln w="3175" cap="flat" cmpd="sng">
                  <a:solidFill>
                    <a:schemeClr val="tx1"/>
                  </a:solidFill>
                  <a:prstDash val="solid"/>
                  <a:headEnd type="none" w="med" len="med"/>
                  <a:tailEnd type="none" w="med" len="med"/>
                </a:ln>
              </p:spPr>
            </p:sp>
            <p:sp>
              <p:nvSpPr>
                <p:cNvPr id="45147" name="Line 1053"/>
                <p:cNvSpPr/>
                <p:nvPr/>
              </p:nvSpPr>
              <p:spPr>
                <a:xfrm>
                  <a:off x="1536" y="1704"/>
                  <a:ext cx="432" cy="0"/>
                </a:xfrm>
                <a:prstGeom prst="line">
                  <a:avLst/>
                </a:prstGeom>
                <a:ln w="3175" cap="flat" cmpd="sng">
                  <a:solidFill>
                    <a:schemeClr val="tx1"/>
                  </a:solidFill>
                  <a:prstDash val="solid"/>
                  <a:headEnd type="none" w="med" len="med"/>
                  <a:tailEnd type="none" w="med" len="med"/>
                </a:ln>
              </p:spPr>
            </p:sp>
            <p:sp>
              <p:nvSpPr>
                <p:cNvPr id="45148" name="Line 1054"/>
                <p:cNvSpPr/>
                <p:nvPr/>
              </p:nvSpPr>
              <p:spPr>
                <a:xfrm>
                  <a:off x="1632" y="1764"/>
                  <a:ext cx="336" cy="0"/>
                </a:xfrm>
                <a:prstGeom prst="line">
                  <a:avLst/>
                </a:prstGeom>
                <a:ln w="3175" cap="flat" cmpd="sng">
                  <a:solidFill>
                    <a:schemeClr val="tx1"/>
                  </a:solidFill>
                  <a:prstDash val="solid"/>
                  <a:headEnd type="none" w="med" len="med"/>
                  <a:tailEnd type="none" w="med" len="med"/>
                </a:ln>
              </p:spPr>
            </p:sp>
            <p:sp>
              <p:nvSpPr>
                <p:cNvPr id="45149" name="Line 1055"/>
                <p:cNvSpPr/>
                <p:nvPr/>
              </p:nvSpPr>
              <p:spPr>
                <a:xfrm>
                  <a:off x="1536" y="1824"/>
                  <a:ext cx="432" cy="0"/>
                </a:xfrm>
                <a:prstGeom prst="line">
                  <a:avLst/>
                </a:prstGeom>
                <a:ln w="3175" cap="flat" cmpd="sng">
                  <a:solidFill>
                    <a:schemeClr val="tx1"/>
                  </a:solidFill>
                  <a:prstDash val="solid"/>
                  <a:headEnd type="none" w="med" len="med"/>
                  <a:tailEnd type="none" w="med" len="med"/>
                </a:ln>
              </p:spPr>
            </p:sp>
            <p:sp>
              <p:nvSpPr>
                <p:cNvPr id="45150" name="Line 1056"/>
                <p:cNvSpPr/>
                <p:nvPr/>
              </p:nvSpPr>
              <p:spPr>
                <a:xfrm>
                  <a:off x="1536" y="1884"/>
                  <a:ext cx="432" cy="0"/>
                </a:xfrm>
                <a:prstGeom prst="line">
                  <a:avLst/>
                </a:prstGeom>
                <a:ln w="3175" cap="flat" cmpd="sng">
                  <a:solidFill>
                    <a:schemeClr val="tx1"/>
                  </a:solidFill>
                  <a:prstDash val="solid"/>
                  <a:headEnd type="none" w="med" len="med"/>
                  <a:tailEnd type="none" w="med" len="med"/>
                </a:ln>
              </p:spPr>
            </p:sp>
            <p:sp>
              <p:nvSpPr>
                <p:cNvPr id="45151" name="Line 1057"/>
                <p:cNvSpPr/>
                <p:nvPr/>
              </p:nvSpPr>
              <p:spPr>
                <a:xfrm>
                  <a:off x="1536" y="1944"/>
                  <a:ext cx="432" cy="0"/>
                </a:xfrm>
                <a:prstGeom prst="line">
                  <a:avLst/>
                </a:prstGeom>
                <a:ln w="3175" cap="flat" cmpd="sng">
                  <a:solidFill>
                    <a:schemeClr val="tx1"/>
                  </a:solidFill>
                  <a:prstDash val="solid"/>
                  <a:headEnd type="none" w="med" len="med"/>
                  <a:tailEnd type="none" w="med" len="med"/>
                </a:ln>
              </p:spPr>
            </p:sp>
          </p:grpSp>
          <p:grpSp>
            <p:nvGrpSpPr>
              <p:cNvPr id="45075" name="Group 1058"/>
              <p:cNvGrpSpPr/>
              <p:nvPr/>
            </p:nvGrpSpPr>
            <p:grpSpPr>
              <a:xfrm>
                <a:off x="3072" y="2160"/>
                <a:ext cx="528" cy="624"/>
                <a:chOff x="1488" y="1392"/>
                <a:chExt cx="528" cy="624"/>
              </a:xfrm>
            </p:grpSpPr>
            <p:sp>
              <p:nvSpPr>
                <p:cNvPr id="45132" name="Rectangle 1059"/>
                <p:cNvSpPr/>
                <p:nvPr/>
              </p:nvSpPr>
              <p:spPr>
                <a:xfrm>
                  <a:off x="1488" y="1392"/>
                  <a:ext cx="528" cy="624"/>
                </a:xfrm>
                <a:prstGeom prst="rect">
                  <a:avLst/>
                </a:prstGeom>
                <a:solidFill>
                  <a:schemeClr val="bg1"/>
                </a:solidFill>
                <a:ln w="3175" cap="flat" cmpd="sng">
                  <a:solidFill>
                    <a:schemeClr val="tx1"/>
                  </a:solidFill>
                  <a:prstDash val="solid"/>
                  <a:miter/>
                  <a:headEnd type="none" w="med" len="med"/>
                  <a:tailEnd type="none" w="med" len="med"/>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sz="1800" dirty="0">
                    <a:latin typeface="Calibri" panose="020F0502020204030204" pitchFamily="34" charset="0"/>
                  </a:endParaRPr>
                </a:p>
              </p:txBody>
            </p:sp>
            <p:sp>
              <p:nvSpPr>
                <p:cNvPr id="45133" name="Line 1060"/>
                <p:cNvSpPr/>
                <p:nvPr/>
              </p:nvSpPr>
              <p:spPr>
                <a:xfrm>
                  <a:off x="1632" y="1464"/>
                  <a:ext cx="336" cy="0"/>
                </a:xfrm>
                <a:prstGeom prst="line">
                  <a:avLst/>
                </a:prstGeom>
                <a:ln w="3175" cap="flat" cmpd="sng">
                  <a:solidFill>
                    <a:schemeClr val="tx1"/>
                  </a:solidFill>
                  <a:prstDash val="solid"/>
                  <a:headEnd type="none" w="med" len="med"/>
                  <a:tailEnd type="none" w="med" len="med"/>
                </a:ln>
              </p:spPr>
            </p:sp>
            <p:sp>
              <p:nvSpPr>
                <p:cNvPr id="45134" name="Line 1061"/>
                <p:cNvSpPr/>
                <p:nvPr/>
              </p:nvSpPr>
              <p:spPr>
                <a:xfrm>
                  <a:off x="1536" y="1524"/>
                  <a:ext cx="432" cy="0"/>
                </a:xfrm>
                <a:prstGeom prst="line">
                  <a:avLst/>
                </a:prstGeom>
                <a:ln w="3175" cap="flat" cmpd="sng">
                  <a:solidFill>
                    <a:schemeClr val="tx1"/>
                  </a:solidFill>
                  <a:prstDash val="solid"/>
                  <a:headEnd type="none" w="med" len="med"/>
                  <a:tailEnd type="none" w="med" len="med"/>
                </a:ln>
              </p:spPr>
            </p:sp>
            <p:sp>
              <p:nvSpPr>
                <p:cNvPr id="45135" name="Line 1062"/>
                <p:cNvSpPr/>
                <p:nvPr/>
              </p:nvSpPr>
              <p:spPr>
                <a:xfrm>
                  <a:off x="1536" y="1584"/>
                  <a:ext cx="432" cy="0"/>
                </a:xfrm>
                <a:prstGeom prst="line">
                  <a:avLst/>
                </a:prstGeom>
                <a:ln w="3175" cap="flat" cmpd="sng">
                  <a:solidFill>
                    <a:schemeClr val="tx1"/>
                  </a:solidFill>
                  <a:prstDash val="solid"/>
                  <a:headEnd type="none" w="med" len="med"/>
                  <a:tailEnd type="none" w="med" len="med"/>
                </a:ln>
              </p:spPr>
            </p:sp>
            <p:sp>
              <p:nvSpPr>
                <p:cNvPr id="45136" name="Line 1063"/>
                <p:cNvSpPr/>
                <p:nvPr/>
              </p:nvSpPr>
              <p:spPr>
                <a:xfrm>
                  <a:off x="1536" y="1644"/>
                  <a:ext cx="432" cy="0"/>
                </a:xfrm>
                <a:prstGeom prst="line">
                  <a:avLst/>
                </a:prstGeom>
                <a:ln w="3175" cap="flat" cmpd="sng">
                  <a:solidFill>
                    <a:schemeClr val="tx1"/>
                  </a:solidFill>
                  <a:prstDash val="solid"/>
                  <a:headEnd type="none" w="med" len="med"/>
                  <a:tailEnd type="none" w="med" len="med"/>
                </a:ln>
              </p:spPr>
            </p:sp>
            <p:sp>
              <p:nvSpPr>
                <p:cNvPr id="45137" name="Line 1064"/>
                <p:cNvSpPr/>
                <p:nvPr/>
              </p:nvSpPr>
              <p:spPr>
                <a:xfrm>
                  <a:off x="1536" y="1704"/>
                  <a:ext cx="432" cy="0"/>
                </a:xfrm>
                <a:prstGeom prst="line">
                  <a:avLst/>
                </a:prstGeom>
                <a:ln w="3175" cap="flat" cmpd="sng">
                  <a:solidFill>
                    <a:schemeClr val="tx1"/>
                  </a:solidFill>
                  <a:prstDash val="solid"/>
                  <a:headEnd type="none" w="med" len="med"/>
                  <a:tailEnd type="none" w="med" len="med"/>
                </a:ln>
              </p:spPr>
            </p:sp>
            <p:sp>
              <p:nvSpPr>
                <p:cNvPr id="45138" name="Line 1065"/>
                <p:cNvSpPr/>
                <p:nvPr/>
              </p:nvSpPr>
              <p:spPr>
                <a:xfrm>
                  <a:off x="1632" y="1764"/>
                  <a:ext cx="336" cy="0"/>
                </a:xfrm>
                <a:prstGeom prst="line">
                  <a:avLst/>
                </a:prstGeom>
                <a:ln w="3175" cap="flat" cmpd="sng">
                  <a:solidFill>
                    <a:schemeClr val="tx1"/>
                  </a:solidFill>
                  <a:prstDash val="solid"/>
                  <a:headEnd type="none" w="med" len="med"/>
                  <a:tailEnd type="none" w="med" len="med"/>
                </a:ln>
              </p:spPr>
            </p:sp>
            <p:sp>
              <p:nvSpPr>
                <p:cNvPr id="45139" name="Line 1066"/>
                <p:cNvSpPr/>
                <p:nvPr/>
              </p:nvSpPr>
              <p:spPr>
                <a:xfrm>
                  <a:off x="1536" y="1824"/>
                  <a:ext cx="432" cy="0"/>
                </a:xfrm>
                <a:prstGeom prst="line">
                  <a:avLst/>
                </a:prstGeom>
                <a:ln w="3175" cap="flat" cmpd="sng">
                  <a:solidFill>
                    <a:schemeClr val="tx1"/>
                  </a:solidFill>
                  <a:prstDash val="solid"/>
                  <a:headEnd type="none" w="med" len="med"/>
                  <a:tailEnd type="none" w="med" len="med"/>
                </a:ln>
              </p:spPr>
            </p:sp>
            <p:sp>
              <p:nvSpPr>
                <p:cNvPr id="45140" name="Line 1067"/>
                <p:cNvSpPr/>
                <p:nvPr/>
              </p:nvSpPr>
              <p:spPr>
                <a:xfrm>
                  <a:off x="1536" y="1884"/>
                  <a:ext cx="432" cy="0"/>
                </a:xfrm>
                <a:prstGeom prst="line">
                  <a:avLst/>
                </a:prstGeom>
                <a:ln w="3175" cap="flat" cmpd="sng">
                  <a:solidFill>
                    <a:schemeClr val="tx1"/>
                  </a:solidFill>
                  <a:prstDash val="solid"/>
                  <a:headEnd type="none" w="med" len="med"/>
                  <a:tailEnd type="none" w="med" len="med"/>
                </a:ln>
              </p:spPr>
            </p:sp>
            <p:sp>
              <p:nvSpPr>
                <p:cNvPr id="45141" name="Line 1068"/>
                <p:cNvSpPr/>
                <p:nvPr/>
              </p:nvSpPr>
              <p:spPr>
                <a:xfrm>
                  <a:off x="1536" y="1944"/>
                  <a:ext cx="432" cy="0"/>
                </a:xfrm>
                <a:prstGeom prst="line">
                  <a:avLst/>
                </a:prstGeom>
                <a:ln w="3175" cap="flat" cmpd="sng">
                  <a:solidFill>
                    <a:schemeClr val="tx1"/>
                  </a:solidFill>
                  <a:prstDash val="solid"/>
                  <a:headEnd type="none" w="med" len="med"/>
                  <a:tailEnd type="none" w="med" len="med"/>
                </a:ln>
              </p:spPr>
            </p:sp>
          </p:grpSp>
          <p:grpSp>
            <p:nvGrpSpPr>
              <p:cNvPr id="45076" name="Group 1069"/>
              <p:cNvGrpSpPr/>
              <p:nvPr/>
            </p:nvGrpSpPr>
            <p:grpSpPr>
              <a:xfrm>
                <a:off x="2448" y="3024"/>
                <a:ext cx="528" cy="624"/>
                <a:chOff x="1488" y="1392"/>
                <a:chExt cx="528" cy="624"/>
              </a:xfrm>
            </p:grpSpPr>
            <p:sp>
              <p:nvSpPr>
                <p:cNvPr id="45122" name="Rectangle 1070"/>
                <p:cNvSpPr/>
                <p:nvPr/>
              </p:nvSpPr>
              <p:spPr>
                <a:xfrm>
                  <a:off x="1488" y="1392"/>
                  <a:ext cx="528" cy="624"/>
                </a:xfrm>
                <a:prstGeom prst="rect">
                  <a:avLst/>
                </a:prstGeom>
                <a:solidFill>
                  <a:schemeClr val="bg1"/>
                </a:solidFill>
                <a:ln w="3175" cap="flat" cmpd="sng">
                  <a:solidFill>
                    <a:schemeClr val="tx1"/>
                  </a:solidFill>
                  <a:prstDash val="solid"/>
                  <a:miter/>
                  <a:headEnd type="none" w="med" len="med"/>
                  <a:tailEnd type="none" w="med" len="med"/>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sz="1800" dirty="0">
                    <a:latin typeface="Calibri" panose="020F0502020204030204" pitchFamily="34" charset="0"/>
                  </a:endParaRPr>
                </a:p>
              </p:txBody>
            </p:sp>
            <p:sp>
              <p:nvSpPr>
                <p:cNvPr id="45123" name="Line 1071"/>
                <p:cNvSpPr/>
                <p:nvPr/>
              </p:nvSpPr>
              <p:spPr>
                <a:xfrm>
                  <a:off x="1632" y="1464"/>
                  <a:ext cx="336" cy="0"/>
                </a:xfrm>
                <a:prstGeom prst="line">
                  <a:avLst/>
                </a:prstGeom>
                <a:ln w="3175" cap="flat" cmpd="sng">
                  <a:solidFill>
                    <a:schemeClr val="tx1"/>
                  </a:solidFill>
                  <a:prstDash val="solid"/>
                  <a:headEnd type="none" w="med" len="med"/>
                  <a:tailEnd type="none" w="med" len="med"/>
                </a:ln>
              </p:spPr>
            </p:sp>
            <p:sp>
              <p:nvSpPr>
                <p:cNvPr id="45124" name="Line 1072"/>
                <p:cNvSpPr/>
                <p:nvPr/>
              </p:nvSpPr>
              <p:spPr>
                <a:xfrm>
                  <a:off x="1536" y="1524"/>
                  <a:ext cx="432" cy="0"/>
                </a:xfrm>
                <a:prstGeom prst="line">
                  <a:avLst/>
                </a:prstGeom>
                <a:ln w="3175" cap="flat" cmpd="sng">
                  <a:solidFill>
                    <a:schemeClr val="tx1"/>
                  </a:solidFill>
                  <a:prstDash val="solid"/>
                  <a:headEnd type="none" w="med" len="med"/>
                  <a:tailEnd type="none" w="med" len="med"/>
                </a:ln>
              </p:spPr>
            </p:sp>
            <p:sp>
              <p:nvSpPr>
                <p:cNvPr id="45125" name="Line 1073"/>
                <p:cNvSpPr/>
                <p:nvPr/>
              </p:nvSpPr>
              <p:spPr>
                <a:xfrm>
                  <a:off x="1536" y="1584"/>
                  <a:ext cx="432" cy="0"/>
                </a:xfrm>
                <a:prstGeom prst="line">
                  <a:avLst/>
                </a:prstGeom>
                <a:ln w="3175" cap="flat" cmpd="sng">
                  <a:solidFill>
                    <a:schemeClr val="tx1"/>
                  </a:solidFill>
                  <a:prstDash val="solid"/>
                  <a:headEnd type="none" w="med" len="med"/>
                  <a:tailEnd type="none" w="med" len="med"/>
                </a:ln>
              </p:spPr>
            </p:sp>
            <p:sp>
              <p:nvSpPr>
                <p:cNvPr id="45126" name="Line 1074"/>
                <p:cNvSpPr/>
                <p:nvPr/>
              </p:nvSpPr>
              <p:spPr>
                <a:xfrm>
                  <a:off x="1536" y="1644"/>
                  <a:ext cx="432" cy="0"/>
                </a:xfrm>
                <a:prstGeom prst="line">
                  <a:avLst/>
                </a:prstGeom>
                <a:ln w="3175" cap="flat" cmpd="sng">
                  <a:solidFill>
                    <a:schemeClr val="tx1"/>
                  </a:solidFill>
                  <a:prstDash val="solid"/>
                  <a:headEnd type="none" w="med" len="med"/>
                  <a:tailEnd type="none" w="med" len="med"/>
                </a:ln>
              </p:spPr>
            </p:sp>
            <p:sp>
              <p:nvSpPr>
                <p:cNvPr id="45127" name="Line 1075"/>
                <p:cNvSpPr/>
                <p:nvPr/>
              </p:nvSpPr>
              <p:spPr>
                <a:xfrm>
                  <a:off x="1536" y="1704"/>
                  <a:ext cx="432" cy="0"/>
                </a:xfrm>
                <a:prstGeom prst="line">
                  <a:avLst/>
                </a:prstGeom>
                <a:ln w="3175" cap="flat" cmpd="sng">
                  <a:solidFill>
                    <a:schemeClr val="tx1"/>
                  </a:solidFill>
                  <a:prstDash val="solid"/>
                  <a:headEnd type="none" w="med" len="med"/>
                  <a:tailEnd type="none" w="med" len="med"/>
                </a:ln>
              </p:spPr>
            </p:sp>
            <p:sp>
              <p:nvSpPr>
                <p:cNvPr id="45128" name="Line 1076"/>
                <p:cNvSpPr/>
                <p:nvPr/>
              </p:nvSpPr>
              <p:spPr>
                <a:xfrm>
                  <a:off x="1632" y="1764"/>
                  <a:ext cx="336" cy="0"/>
                </a:xfrm>
                <a:prstGeom prst="line">
                  <a:avLst/>
                </a:prstGeom>
                <a:ln w="3175" cap="flat" cmpd="sng">
                  <a:solidFill>
                    <a:schemeClr val="tx1"/>
                  </a:solidFill>
                  <a:prstDash val="solid"/>
                  <a:headEnd type="none" w="med" len="med"/>
                  <a:tailEnd type="none" w="med" len="med"/>
                </a:ln>
              </p:spPr>
            </p:sp>
            <p:sp>
              <p:nvSpPr>
                <p:cNvPr id="45129" name="Line 1077"/>
                <p:cNvSpPr/>
                <p:nvPr/>
              </p:nvSpPr>
              <p:spPr>
                <a:xfrm>
                  <a:off x="1536" y="1824"/>
                  <a:ext cx="432" cy="0"/>
                </a:xfrm>
                <a:prstGeom prst="line">
                  <a:avLst/>
                </a:prstGeom>
                <a:ln w="3175" cap="flat" cmpd="sng">
                  <a:solidFill>
                    <a:schemeClr val="tx1"/>
                  </a:solidFill>
                  <a:prstDash val="solid"/>
                  <a:headEnd type="none" w="med" len="med"/>
                  <a:tailEnd type="none" w="med" len="med"/>
                </a:ln>
              </p:spPr>
            </p:sp>
            <p:sp>
              <p:nvSpPr>
                <p:cNvPr id="45130" name="Line 1078"/>
                <p:cNvSpPr/>
                <p:nvPr/>
              </p:nvSpPr>
              <p:spPr>
                <a:xfrm>
                  <a:off x="1536" y="1884"/>
                  <a:ext cx="432" cy="0"/>
                </a:xfrm>
                <a:prstGeom prst="line">
                  <a:avLst/>
                </a:prstGeom>
                <a:ln w="3175" cap="flat" cmpd="sng">
                  <a:solidFill>
                    <a:schemeClr val="tx1"/>
                  </a:solidFill>
                  <a:prstDash val="solid"/>
                  <a:headEnd type="none" w="med" len="med"/>
                  <a:tailEnd type="none" w="med" len="med"/>
                </a:ln>
              </p:spPr>
            </p:sp>
            <p:sp>
              <p:nvSpPr>
                <p:cNvPr id="45131" name="Line 1079"/>
                <p:cNvSpPr/>
                <p:nvPr/>
              </p:nvSpPr>
              <p:spPr>
                <a:xfrm>
                  <a:off x="1536" y="1944"/>
                  <a:ext cx="432" cy="0"/>
                </a:xfrm>
                <a:prstGeom prst="line">
                  <a:avLst/>
                </a:prstGeom>
                <a:ln w="3175" cap="flat" cmpd="sng">
                  <a:solidFill>
                    <a:schemeClr val="tx1"/>
                  </a:solidFill>
                  <a:prstDash val="solid"/>
                  <a:headEnd type="none" w="med" len="med"/>
                  <a:tailEnd type="none" w="med" len="med"/>
                </a:ln>
              </p:spPr>
            </p:sp>
          </p:grpSp>
          <p:grpSp>
            <p:nvGrpSpPr>
              <p:cNvPr id="45077" name="Group 1080"/>
              <p:cNvGrpSpPr/>
              <p:nvPr/>
            </p:nvGrpSpPr>
            <p:grpSpPr>
              <a:xfrm>
                <a:off x="4128" y="2592"/>
                <a:ext cx="528" cy="624"/>
                <a:chOff x="1488" y="1392"/>
                <a:chExt cx="528" cy="624"/>
              </a:xfrm>
            </p:grpSpPr>
            <p:sp>
              <p:nvSpPr>
                <p:cNvPr id="45112" name="Rectangle 1081"/>
                <p:cNvSpPr/>
                <p:nvPr/>
              </p:nvSpPr>
              <p:spPr>
                <a:xfrm>
                  <a:off x="1488" y="1392"/>
                  <a:ext cx="528" cy="624"/>
                </a:xfrm>
                <a:prstGeom prst="rect">
                  <a:avLst/>
                </a:prstGeom>
                <a:solidFill>
                  <a:schemeClr val="bg1"/>
                </a:solidFill>
                <a:ln w="3175" cap="flat" cmpd="sng">
                  <a:solidFill>
                    <a:schemeClr val="tx1"/>
                  </a:solidFill>
                  <a:prstDash val="solid"/>
                  <a:miter/>
                  <a:headEnd type="none" w="med" len="med"/>
                  <a:tailEnd type="none" w="med" len="med"/>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sz="1800" dirty="0">
                    <a:latin typeface="Calibri" panose="020F0502020204030204" pitchFamily="34" charset="0"/>
                  </a:endParaRPr>
                </a:p>
              </p:txBody>
            </p:sp>
            <p:sp>
              <p:nvSpPr>
                <p:cNvPr id="45113" name="Line 1082"/>
                <p:cNvSpPr/>
                <p:nvPr/>
              </p:nvSpPr>
              <p:spPr>
                <a:xfrm>
                  <a:off x="1632" y="1464"/>
                  <a:ext cx="336" cy="0"/>
                </a:xfrm>
                <a:prstGeom prst="line">
                  <a:avLst/>
                </a:prstGeom>
                <a:ln w="3175" cap="flat" cmpd="sng">
                  <a:solidFill>
                    <a:schemeClr val="tx1"/>
                  </a:solidFill>
                  <a:prstDash val="solid"/>
                  <a:headEnd type="none" w="med" len="med"/>
                  <a:tailEnd type="none" w="med" len="med"/>
                </a:ln>
              </p:spPr>
            </p:sp>
            <p:sp>
              <p:nvSpPr>
                <p:cNvPr id="45114" name="Line 1083"/>
                <p:cNvSpPr/>
                <p:nvPr/>
              </p:nvSpPr>
              <p:spPr>
                <a:xfrm>
                  <a:off x="1536" y="1524"/>
                  <a:ext cx="432" cy="0"/>
                </a:xfrm>
                <a:prstGeom prst="line">
                  <a:avLst/>
                </a:prstGeom>
                <a:ln w="3175" cap="flat" cmpd="sng">
                  <a:solidFill>
                    <a:schemeClr val="tx1"/>
                  </a:solidFill>
                  <a:prstDash val="solid"/>
                  <a:headEnd type="none" w="med" len="med"/>
                  <a:tailEnd type="none" w="med" len="med"/>
                </a:ln>
              </p:spPr>
            </p:sp>
            <p:sp>
              <p:nvSpPr>
                <p:cNvPr id="45115" name="Line 1084"/>
                <p:cNvSpPr/>
                <p:nvPr/>
              </p:nvSpPr>
              <p:spPr>
                <a:xfrm>
                  <a:off x="1536" y="1584"/>
                  <a:ext cx="432" cy="0"/>
                </a:xfrm>
                <a:prstGeom prst="line">
                  <a:avLst/>
                </a:prstGeom>
                <a:ln w="3175" cap="flat" cmpd="sng">
                  <a:solidFill>
                    <a:schemeClr val="tx1"/>
                  </a:solidFill>
                  <a:prstDash val="solid"/>
                  <a:headEnd type="none" w="med" len="med"/>
                  <a:tailEnd type="none" w="med" len="med"/>
                </a:ln>
              </p:spPr>
            </p:sp>
            <p:sp>
              <p:nvSpPr>
                <p:cNvPr id="45116" name="Line 1085"/>
                <p:cNvSpPr/>
                <p:nvPr/>
              </p:nvSpPr>
              <p:spPr>
                <a:xfrm>
                  <a:off x="1536" y="1644"/>
                  <a:ext cx="432" cy="0"/>
                </a:xfrm>
                <a:prstGeom prst="line">
                  <a:avLst/>
                </a:prstGeom>
                <a:ln w="3175" cap="flat" cmpd="sng">
                  <a:solidFill>
                    <a:schemeClr val="tx1"/>
                  </a:solidFill>
                  <a:prstDash val="solid"/>
                  <a:headEnd type="none" w="med" len="med"/>
                  <a:tailEnd type="none" w="med" len="med"/>
                </a:ln>
              </p:spPr>
            </p:sp>
            <p:sp>
              <p:nvSpPr>
                <p:cNvPr id="45117" name="Line 1086"/>
                <p:cNvSpPr/>
                <p:nvPr/>
              </p:nvSpPr>
              <p:spPr>
                <a:xfrm>
                  <a:off x="1536" y="1704"/>
                  <a:ext cx="432" cy="0"/>
                </a:xfrm>
                <a:prstGeom prst="line">
                  <a:avLst/>
                </a:prstGeom>
                <a:ln w="3175" cap="flat" cmpd="sng">
                  <a:solidFill>
                    <a:schemeClr val="tx1"/>
                  </a:solidFill>
                  <a:prstDash val="solid"/>
                  <a:headEnd type="none" w="med" len="med"/>
                  <a:tailEnd type="none" w="med" len="med"/>
                </a:ln>
              </p:spPr>
            </p:sp>
            <p:sp>
              <p:nvSpPr>
                <p:cNvPr id="45118" name="Line 1087"/>
                <p:cNvSpPr/>
                <p:nvPr/>
              </p:nvSpPr>
              <p:spPr>
                <a:xfrm>
                  <a:off x="1632" y="1764"/>
                  <a:ext cx="336" cy="0"/>
                </a:xfrm>
                <a:prstGeom prst="line">
                  <a:avLst/>
                </a:prstGeom>
                <a:ln w="3175" cap="flat" cmpd="sng">
                  <a:solidFill>
                    <a:schemeClr val="tx1"/>
                  </a:solidFill>
                  <a:prstDash val="solid"/>
                  <a:headEnd type="none" w="med" len="med"/>
                  <a:tailEnd type="none" w="med" len="med"/>
                </a:ln>
              </p:spPr>
            </p:sp>
            <p:sp>
              <p:nvSpPr>
                <p:cNvPr id="45119" name="Line 1088"/>
                <p:cNvSpPr/>
                <p:nvPr/>
              </p:nvSpPr>
              <p:spPr>
                <a:xfrm>
                  <a:off x="1536" y="1824"/>
                  <a:ext cx="432" cy="0"/>
                </a:xfrm>
                <a:prstGeom prst="line">
                  <a:avLst/>
                </a:prstGeom>
                <a:ln w="3175" cap="flat" cmpd="sng">
                  <a:solidFill>
                    <a:schemeClr val="tx1"/>
                  </a:solidFill>
                  <a:prstDash val="solid"/>
                  <a:headEnd type="none" w="med" len="med"/>
                  <a:tailEnd type="none" w="med" len="med"/>
                </a:ln>
              </p:spPr>
            </p:sp>
            <p:sp>
              <p:nvSpPr>
                <p:cNvPr id="45120" name="Line 1089"/>
                <p:cNvSpPr/>
                <p:nvPr/>
              </p:nvSpPr>
              <p:spPr>
                <a:xfrm>
                  <a:off x="1536" y="1884"/>
                  <a:ext cx="432" cy="0"/>
                </a:xfrm>
                <a:prstGeom prst="line">
                  <a:avLst/>
                </a:prstGeom>
                <a:ln w="3175" cap="flat" cmpd="sng">
                  <a:solidFill>
                    <a:schemeClr val="tx1"/>
                  </a:solidFill>
                  <a:prstDash val="solid"/>
                  <a:headEnd type="none" w="med" len="med"/>
                  <a:tailEnd type="none" w="med" len="med"/>
                </a:ln>
              </p:spPr>
            </p:sp>
            <p:sp>
              <p:nvSpPr>
                <p:cNvPr id="45121" name="Line 1090"/>
                <p:cNvSpPr/>
                <p:nvPr/>
              </p:nvSpPr>
              <p:spPr>
                <a:xfrm>
                  <a:off x="1536" y="1944"/>
                  <a:ext cx="432" cy="0"/>
                </a:xfrm>
                <a:prstGeom prst="line">
                  <a:avLst/>
                </a:prstGeom>
                <a:ln w="3175" cap="flat" cmpd="sng">
                  <a:solidFill>
                    <a:schemeClr val="tx1"/>
                  </a:solidFill>
                  <a:prstDash val="solid"/>
                  <a:headEnd type="none" w="med" len="med"/>
                  <a:tailEnd type="none" w="med" len="med"/>
                </a:ln>
              </p:spPr>
            </p:sp>
          </p:grpSp>
          <p:grpSp>
            <p:nvGrpSpPr>
              <p:cNvPr id="45078" name="Group 1091"/>
              <p:cNvGrpSpPr/>
              <p:nvPr/>
            </p:nvGrpSpPr>
            <p:grpSpPr>
              <a:xfrm>
                <a:off x="2784" y="1152"/>
                <a:ext cx="528" cy="624"/>
                <a:chOff x="1488" y="1392"/>
                <a:chExt cx="528" cy="624"/>
              </a:xfrm>
            </p:grpSpPr>
            <p:sp>
              <p:nvSpPr>
                <p:cNvPr id="45102" name="Rectangle 1092"/>
                <p:cNvSpPr/>
                <p:nvPr/>
              </p:nvSpPr>
              <p:spPr>
                <a:xfrm>
                  <a:off x="1488" y="1392"/>
                  <a:ext cx="528" cy="624"/>
                </a:xfrm>
                <a:prstGeom prst="rect">
                  <a:avLst/>
                </a:prstGeom>
                <a:solidFill>
                  <a:schemeClr val="bg1"/>
                </a:solidFill>
                <a:ln w="3175" cap="flat" cmpd="sng">
                  <a:solidFill>
                    <a:schemeClr val="tx1"/>
                  </a:solidFill>
                  <a:prstDash val="solid"/>
                  <a:miter/>
                  <a:headEnd type="none" w="med" len="med"/>
                  <a:tailEnd type="none" w="med" len="med"/>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sz="1800" dirty="0">
                    <a:latin typeface="Calibri" panose="020F0502020204030204" pitchFamily="34" charset="0"/>
                  </a:endParaRPr>
                </a:p>
              </p:txBody>
            </p:sp>
            <p:sp>
              <p:nvSpPr>
                <p:cNvPr id="45103" name="Line 1093"/>
                <p:cNvSpPr/>
                <p:nvPr/>
              </p:nvSpPr>
              <p:spPr>
                <a:xfrm>
                  <a:off x="1632" y="1464"/>
                  <a:ext cx="336" cy="0"/>
                </a:xfrm>
                <a:prstGeom prst="line">
                  <a:avLst/>
                </a:prstGeom>
                <a:ln w="3175" cap="flat" cmpd="sng">
                  <a:solidFill>
                    <a:schemeClr val="tx1"/>
                  </a:solidFill>
                  <a:prstDash val="solid"/>
                  <a:headEnd type="none" w="med" len="med"/>
                  <a:tailEnd type="none" w="med" len="med"/>
                </a:ln>
              </p:spPr>
            </p:sp>
            <p:sp>
              <p:nvSpPr>
                <p:cNvPr id="45104" name="Line 1094"/>
                <p:cNvSpPr/>
                <p:nvPr/>
              </p:nvSpPr>
              <p:spPr>
                <a:xfrm>
                  <a:off x="1536" y="1524"/>
                  <a:ext cx="432" cy="0"/>
                </a:xfrm>
                <a:prstGeom prst="line">
                  <a:avLst/>
                </a:prstGeom>
                <a:ln w="3175" cap="flat" cmpd="sng">
                  <a:solidFill>
                    <a:schemeClr val="tx1"/>
                  </a:solidFill>
                  <a:prstDash val="solid"/>
                  <a:headEnd type="none" w="med" len="med"/>
                  <a:tailEnd type="none" w="med" len="med"/>
                </a:ln>
              </p:spPr>
            </p:sp>
            <p:sp>
              <p:nvSpPr>
                <p:cNvPr id="45105" name="Line 1095"/>
                <p:cNvSpPr/>
                <p:nvPr/>
              </p:nvSpPr>
              <p:spPr>
                <a:xfrm>
                  <a:off x="1536" y="1584"/>
                  <a:ext cx="432" cy="0"/>
                </a:xfrm>
                <a:prstGeom prst="line">
                  <a:avLst/>
                </a:prstGeom>
                <a:ln w="3175" cap="flat" cmpd="sng">
                  <a:solidFill>
                    <a:schemeClr val="tx1"/>
                  </a:solidFill>
                  <a:prstDash val="solid"/>
                  <a:headEnd type="none" w="med" len="med"/>
                  <a:tailEnd type="none" w="med" len="med"/>
                </a:ln>
              </p:spPr>
            </p:sp>
            <p:sp>
              <p:nvSpPr>
                <p:cNvPr id="45106" name="Line 1096"/>
                <p:cNvSpPr/>
                <p:nvPr/>
              </p:nvSpPr>
              <p:spPr>
                <a:xfrm>
                  <a:off x="1536" y="1644"/>
                  <a:ext cx="432" cy="0"/>
                </a:xfrm>
                <a:prstGeom prst="line">
                  <a:avLst/>
                </a:prstGeom>
                <a:ln w="3175" cap="flat" cmpd="sng">
                  <a:solidFill>
                    <a:schemeClr val="tx1"/>
                  </a:solidFill>
                  <a:prstDash val="solid"/>
                  <a:headEnd type="none" w="med" len="med"/>
                  <a:tailEnd type="none" w="med" len="med"/>
                </a:ln>
              </p:spPr>
            </p:sp>
            <p:sp>
              <p:nvSpPr>
                <p:cNvPr id="45107" name="Line 1097"/>
                <p:cNvSpPr/>
                <p:nvPr/>
              </p:nvSpPr>
              <p:spPr>
                <a:xfrm>
                  <a:off x="1536" y="1704"/>
                  <a:ext cx="432" cy="0"/>
                </a:xfrm>
                <a:prstGeom prst="line">
                  <a:avLst/>
                </a:prstGeom>
                <a:ln w="3175" cap="flat" cmpd="sng">
                  <a:solidFill>
                    <a:schemeClr val="tx1"/>
                  </a:solidFill>
                  <a:prstDash val="solid"/>
                  <a:headEnd type="none" w="med" len="med"/>
                  <a:tailEnd type="none" w="med" len="med"/>
                </a:ln>
              </p:spPr>
            </p:sp>
            <p:sp>
              <p:nvSpPr>
                <p:cNvPr id="45108" name="Line 1098"/>
                <p:cNvSpPr/>
                <p:nvPr/>
              </p:nvSpPr>
              <p:spPr>
                <a:xfrm>
                  <a:off x="1632" y="1764"/>
                  <a:ext cx="336" cy="0"/>
                </a:xfrm>
                <a:prstGeom prst="line">
                  <a:avLst/>
                </a:prstGeom>
                <a:ln w="3175" cap="flat" cmpd="sng">
                  <a:solidFill>
                    <a:schemeClr val="tx1"/>
                  </a:solidFill>
                  <a:prstDash val="solid"/>
                  <a:headEnd type="none" w="med" len="med"/>
                  <a:tailEnd type="none" w="med" len="med"/>
                </a:ln>
              </p:spPr>
            </p:sp>
            <p:sp>
              <p:nvSpPr>
                <p:cNvPr id="45109" name="Line 1099"/>
                <p:cNvSpPr/>
                <p:nvPr/>
              </p:nvSpPr>
              <p:spPr>
                <a:xfrm>
                  <a:off x="1536" y="1824"/>
                  <a:ext cx="432" cy="0"/>
                </a:xfrm>
                <a:prstGeom prst="line">
                  <a:avLst/>
                </a:prstGeom>
                <a:ln w="3175" cap="flat" cmpd="sng">
                  <a:solidFill>
                    <a:schemeClr val="tx1"/>
                  </a:solidFill>
                  <a:prstDash val="solid"/>
                  <a:headEnd type="none" w="med" len="med"/>
                  <a:tailEnd type="none" w="med" len="med"/>
                </a:ln>
              </p:spPr>
            </p:sp>
            <p:sp>
              <p:nvSpPr>
                <p:cNvPr id="45110" name="Line 1100"/>
                <p:cNvSpPr/>
                <p:nvPr/>
              </p:nvSpPr>
              <p:spPr>
                <a:xfrm>
                  <a:off x="1536" y="1884"/>
                  <a:ext cx="432" cy="0"/>
                </a:xfrm>
                <a:prstGeom prst="line">
                  <a:avLst/>
                </a:prstGeom>
                <a:ln w="3175" cap="flat" cmpd="sng">
                  <a:solidFill>
                    <a:schemeClr val="tx1"/>
                  </a:solidFill>
                  <a:prstDash val="solid"/>
                  <a:headEnd type="none" w="med" len="med"/>
                  <a:tailEnd type="none" w="med" len="med"/>
                </a:ln>
              </p:spPr>
            </p:sp>
            <p:sp>
              <p:nvSpPr>
                <p:cNvPr id="45111" name="Line 1101"/>
                <p:cNvSpPr/>
                <p:nvPr/>
              </p:nvSpPr>
              <p:spPr>
                <a:xfrm>
                  <a:off x="1536" y="1944"/>
                  <a:ext cx="432" cy="0"/>
                </a:xfrm>
                <a:prstGeom prst="line">
                  <a:avLst/>
                </a:prstGeom>
                <a:ln w="3175" cap="flat" cmpd="sng">
                  <a:solidFill>
                    <a:schemeClr val="tx1"/>
                  </a:solidFill>
                  <a:prstDash val="solid"/>
                  <a:headEnd type="none" w="med" len="med"/>
                  <a:tailEnd type="none" w="med" len="med"/>
                </a:ln>
              </p:spPr>
            </p:sp>
          </p:grpSp>
          <p:grpSp>
            <p:nvGrpSpPr>
              <p:cNvPr id="45079" name="Group 1102"/>
              <p:cNvGrpSpPr/>
              <p:nvPr/>
            </p:nvGrpSpPr>
            <p:grpSpPr>
              <a:xfrm>
                <a:off x="4080" y="1632"/>
                <a:ext cx="528" cy="624"/>
                <a:chOff x="1488" y="1392"/>
                <a:chExt cx="528" cy="624"/>
              </a:xfrm>
            </p:grpSpPr>
            <p:sp>
              <p:nvSpPr>
                <p:cNvPr id="45092" name="Rectangle 1103"/>
                <p:cNvSpPr/>
                <p:nvPr/>
              </p:nvSpPr>
              <p:spPr>
                <a:xfrm>
                  <a:off x="1488" y="1392"/>
                  <a:ext cx="528" cy="624"/>
                </a:xfrm>
                <a:prstGeom prst="rect">
                  <a:avLst/>
                </a:prstGeom>
                <a:solidFill>
                  <a:schemeClr val="bg1"/>
                </a:solidFill>
                <a:ln w="3175" cap="flat" cmpd="sng">
                  <a:solidFill>
                    <a:schemeClr val="tx1"/>
                  </a:solidFill>
                  <a:prstDash val="solid"/>
                  <a:miter/>
                  <a:headEnd type="none" w="med" len="med"/>
                  <a:tailEnd type="none" w="med" len="med"/>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sz="1800" dirty="0">
                    <a:latin typeface="Calibri" panose="020F0502020204030204" pitchFamily="34" charset="0"/>
                  </a:endParaRPr>
                </a:p>
              </p:txBody>
            </p:sp>
            <p:sp>
              <p:nvSpPr>
                <p:cNvPr id="45093" name="Line 1104"/>
                <p:cNvSpPr/>
                <p:nvPr/>
              </p:nvSpPr>
              <p:spPr>
                <a:xfrm>
                  <a:off x="1632" y="1464"/>
                  <a:ext cx="336" cy="0"/>
                </a:xfrm>
                <a:prstGeom prst="line">
                  <a:avLst/>
                </a:prstGeom>
                <a:ln w="3175" cap="flat" cmpd="sng">
                  <a:solidFill>
                    <a:schemeClr val="tx1"/>
                  </a:solidFill>
                  <a:prstDash val="solid"/>
                  <a:headEnd type="none" w="med" len="med"/>
                  <a:tailEnd type="none" w="med" len="med"/>
                </a:ln>
              </p:spPr>
            </p:sp>
            <p:sp>
              <p:nvSpPr>
                <p:cNvPr id="45094" name="Line 1105"/>
                <p:cNvSpPr/>
                <p:nvPr/>
              </p:nvSpPr>
              <p:spPr>
                <a:xfrm>
                  <a:off x="1536" y="1524"/>
                  <a:ext cx="432" cy="0"/>
                </a:xfrm>
                <a:prstGeom prst="line">
                  <a:avLst/>
                </a:prstGeom>
                <a:ln w="3175" cap="flat" cmpd="sng">
                  <a:solidFill>
                    <a:schemeClr val="tx1"/>
                  </a:solidFill>
                  <a:prstDash val="solid"/>
                  <a:headEnd type="none" w="med" len="med"/>
                  <a:tailEnd type="none" w="med" len="med"/>
                </a:ln>
              </p:spPr>
            </p:sp>
            <p:sp>
              <p:nvSpPr>
                <p:cNvPr id="45095" name="Line 1106"/>
                <p:cNvSpPr/>
                <p:nvPr/>
              </p:nvSpPr>
              <p:spPr>
                <a:xfrm>
                  <a:off x="1536" y="1584"/>
                  <a:ext cx="432" cy="0"/>
                </a:xfrm>
                <a:prstGeom prst="line">
                  <a:avLst/>
                </a:prstGeom>
                <a:ln w="3175" cap="flat" cmpd="sng">
                  <a:solidFill>
                    <a:schemeClr val="tx1"/>
                  </a:solidFill>
                  <a:prstDash val="solid"/>
                  <a:headEnd type="none" w="med" len="med"/>
                  <a:tailEnd type="none" w="med" len="med"/>
                </a:ln>
              </p:spPr>
            </p:sp>
            <p:sp>
              <p:nvSpPr>
                <p:cNvPr id="45096" name="Line 1107"/>
                <p:cNvSpPr/>
                <p:nvPr/>
              </p:nvSpPr>
              <p:spPr>
                <a:xfrm>
                  <a:off x="1536" y="1644"/>
                  <a:ext cx="432" cy="0"/>
                </a:xfrm>
                <a:prstGeom prst="line">
                  <a:avLst/>
                </a:prstGeom>
                <a:ln w="3175" cap="flat" cmpd="sng">
                  <a:solidFill>
                    <a:schemeClr val="tx1"/>
                  </a:solidFill>
                  <a:prstDash val="solid"/>
                  <a:headEnd type="none" w="med" len="med"/>
                  <a:tailEnd type="none" w="med" len="med"/>
                </a:ln>
              </p:spPr>
            </p:sp>
            <p:sp>
              <p:nvSpPr>
                <p:cNvPr id="45097" name="Line 1108"/>
                <p:cNvSpPr/>
                <p:nvPr/>
              </p:nvSpPr>
              <p:spPr>
                <a:xfrm>
                  <a:off x="1536" y="1704"/>
                  <a:ext cx="432" cy="0"/>
                </a:xfrm>
                <a:prstGeom prst="line">
                  <a:avLst/>
                </a:prstGeom>
                <a:ln w="3175" cap="flat" cmpd="sng">
                  <a:solidFill>
                    <a:schemeClr val="tx1"/>
                  </a:solidFill>
                  <a:prstDash val="solid"/>
                  <a:headEnd type="none" w="med" len="med"/>
                  <a:tailEnd type="none" w="med" len="med"/>
                </a:ln>
              </p:spPr>
            </p:sp>
            <p:sp>
              <p:nvSpPr>
                <p:cNvPr id="45098" name="Line 1109"/>
                <p:cNvSpPr/>
                <p:nvPr/>
              </p:nvSpPr>
              <p:spPr>
                <a:xfrm>
                  <a:off x="1632" y="1764"/>
                  <a:ext cx="336" cy="0"/>
                </a:xfrm>
                <a:prstGeom prst="line">
                  <a:avLst/>
                </a:prstGeom>
                <a:ln w="3175" cap="flat" cmpd="sng">
                  <a:solidFill>
                    <a:schemeClr val="tx1"/>
                  </a:solidFill>
                  <a:prstDash val="solid"/>
                  <a:headEnd type="none" w="med" len="med"/>
                  <a:tailEnd type="none" w="med" len="med"/>
                </a:ln>
              </p:spPr>
            </p:sp>
            <p:sp>
              <p:nvSpPr>
                <p:cNvPr id="45099" name="Line 1110"/>
                <p:cNvSpPr/>
                <p:nvPr/>
              </p:nvSpPr>
              <p:spPr>
                <a:xfrm>
                  <a:off x="1536" y="1824"/>
                  <a:ext cx="432" cy="0"/>
                </a:xfrm>
                <a:prstGeom prst="line">
                  <a:avLst/>
                </a:prstGeom>
                <a:ln w="3175" cap="flat" cmpd="sng">
                  <a:solidFill>
                    <a:schemeClr val="tx1"/>
                  </a:solidFill>
                  <a:prstDash val="solid"/>
                  <a:headEnd type="none" w="med" len="med"/>
                  <a:tailEnd type="none" w="med" len="med"/>
                </a:ln>
              </p:spPr>
            </p:sp>
            <p:sp>
              <p:nvSpPr>
                <p:cNvPr id="45100" name="Line 1111"/>
                <p:cNvSpPr/>
                <p:nvPr/>
              </p:nvSpPr>
              <p:spPr>
                <a:xfrm>
                  <a:off x="1536" y="1884"/>
                  <a:ext cx="432" cy="0"/>
                </a:xfrm>
                <a:prstGeom prst="line">
                  <a:avLst/>
                </a:prstGeom>
                <a:ln w="3175" cap="flat" cmpd="sng">
                  <a:solidFill>
                    <a:schemeClr val="tx1"/>
                  </a:solidFill>
                  <a:prstDash val="solid"/>
                  <a:headEnd type="none" w="med" len="med"/>
                  <a:tailEnd type="none" w="med" len="med"/>
                </a:ln>
              </p:spPr>
            </p:sp>
            <p:sp>
              <p:nvSpPr>
                <p:cNvPr id="45101" name="Line 1112"/>
                <p:cNvSpPr/>
                <p:nvPr/>
              </p:nvSpPr>
              <p:spPr>
                <a:xfrm>
                  <a:off x="1536" y="1944"/>
                  <a:ext cx="432" cy="0"/>
                </a:xfrm>
                <a:prstGeom prst="line">
                  <a:avLst/>
                </a:prstGeom>
                <a:ln w="3175" cap="flat" cmpd="sng">
                  <a:solidFill>
                    <a:schemeClr val="tx1"/>
                  </a:solidFill>
                  <a:prstDash val="solid"/>
                  <a:headEnd type="none" w="med" len="med"/>
                  <a:tailEnd type="none" w="med" len="med"/>
                </a:ln>
              </p:spPr>
            </p:sp>
          </p:grpSp>
          <p:sp>
            <p:nvSpPr>
              <p:cNvPr id="45080" name="Rectangle 1113"/>
              <p:cNvSpPr/>
              <p:nvPr/>
            </p:nvSpPr>
            <p:spPr>
              <a:xfrm>
                <a:off x="3360" y="2352"/>
                <a:ext cx="192" cy="96"/>
              </a:xfrm>
              <a:prstGeom prst="rect">
                <a:avLst/>
              </a:prstGeom>
              <a:solidFill>
                <a:srgbClr val="11DBDB"/>
              </a:solidFill>
              <a:ln w="3175" cap="flat" cmpd="sng">
                <a:solidFill>
                  <a:schemeClr val="tx1"/>
                </a:solidFill>
                <a:prstDash val="solid"/>
                <a:miter/>
                <a:headEnd type="none" w="med" len="med"/>
                <a:tailEnd type="none" w="med" len="med"/>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sz="1800" dirty="0">
                  <a:latin typeface="Calibri" panose="020F0502020204030204" pitchFamily="34" charset="0"/>
                </a:endParaRPr>
              </a:p>
            </p:txBody>
          </p:sp>
          <p:sp>
            <p:nvSpPr>
              <p:cNvPr id="45081" name="Rectangle 1114"/>
              <p:cNvSpPr/>
              <p:nvPr/>
            </p:nvSpPr>
            <p:spPr>
              <a:xfrm>
                <a:off x="4176" y="1632"/>
                <a:ext cx="384" cy="96"/>
              </a:xfrm>
              <a:prstGeom prst="rect">
                <a:avLst/>
              </a:prstGeom>
              <a:solidFill>
                <a:srgbClr val="98ED87"/>
              </a:solidFill>
              <a:ln w="3175" cap="flat" cmpd="sng">
                <a:solidFill>
                  <a:schemeClr val="tx1"/>
                </a:solidFill>
                <a:prstDash val="solid"/>
                <a:miter/>
                <a:headEnd type="none" w="med" len="med"/>
                <a:tailEnd type="none" w="med" len="med"/>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sz="1800" dirty="0">
                  <a:latin typeface="Calibri" panose="020F0502020204030204" pitchFamily="34" charset="0"/>
                </a:endParaRPr>
              </a:p>
            </p:txBody>
          </p:sp>
          <p:sp>
            <p:nvSpPr>
              <p:cNvPr id="45082" name="Rectangle 1115"/>
              <p:cNvSpPr/>
              <p:nvPr/>
            </p:nvSpPr>
            <p:spPr>
              <a:xfrm>
                <a:off x="2592" y="3168"/>
                <a:ext cx="240" cy="144"/>
              </a:xfrm>
              <a:prstGeom prst="rect">
                <a:avLst/>
              </a:prstGeom>
              <a:solidFill>
                <a:srgbClr val="F4F432"/>
              </a:solidFill>
              <a:ln w="3175" cap="flat" cmpd="sng">
                <a:solidFill>
                  <a:schemeClr val="tx1"/>
                </a:solidFill>
                <a:prstDash val="solid"/>
                <a:miter/>
                <a:headEnd type="none" w="med" len="med"/>
                <a:tailEnd type="none" w="med" len="med"/>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sz="1800" dirty="0">
                  <a:latin typeface="Calibri" panose="020F0502020204030204" pitchFamily="34" charset="0"/>
                </a:endParaRPr>
              </a:p>
            </p:txBody>
          </p:sp>
          <p:sp>
            <p:nvSpPr>
              <p:cNvPr id="45083" name="Line 1116"/>
              <p:cNvSpPr/>
              <p:nvPr/>
            </p:nvSpPr>
            <p:spPr>
              <a:xfrm flipV="1">
                <a:off x="2112" y="1440"/>
                <a:ext cx="672" cy="624"/>
              </a:xfrm>
              <a:prstGeom prst="line">
                <a:avLst/>
              </a:prstGeom>
              <a:ln w="3175" cap="flat" cmpd="sng">
                <a:solidFill>
                  <a:schemeClr val="tx1"/>
                </a:solidFill>
                <a:prstDash val="solid"/>
                <a:headEnd type="none" w="med" len="med"/>
                <a:tailEnd type="triangle" w="med" len="med"/>
              </a:ln>
            </p:spPr>
          </p:sp>
          <p:sp>
            <p:nvSpPr>
              <p:cNvPr id="45084" name="Line 1117"/>
              <p:cNvSpPr/>
              <p:nvPr/>
            </p:nvSpPr>
            <p:spPr>
              <a:xfrm>
                <a:off x="2160" y="2256"/>
                <a:ext cx="912" cy="336"/>
              </a:xfrm>
              <a:prstGeom prst="line">
                <a:avLst/>
              </a:prstGeom>
              <a:ln w="3175" cap="flat" cmpd="sng">
                <a:solidFill>
                  <a:schemeClr val="tx1"/>
                </a:solidFill>
                <a:prstDash val="solid"/>
                <a:headEnd type="none" w="med" len="med"/>
                <a:tailEnd type="triangle" w="med" len="med"/>
              </a:ln>
            </p:spPr>
          </p:sp>
          <p:sp>
            <p:nvSpPr>
              <p:cNvPr id="45085" name="Line 1118"/>
              <p:cNvSpPr/>
              <p:nvPr/>
            </p:nvSpPr>
            <p:spPr>
              <a:xfrm flipH="1" flipV="1">
                <a:off x="3312" y="1440"/>
                <a:ext cx="960" cy="528"/>
              </a:xfrm>
              <a:prstGeom prst="line">
                <a:avLst/>
              </a:prstGeom>
              <a:ln w="3175" cap="flat" cmpd="sng">
                <a:solidFill>
                  <a:schemeClr val="tx1"/>
                </a:solidFill>
                <a:prstDash val="solid"/>
                <a:headEnd type="none" w="med" len="med"/>
                <a:tailEnd type="triangle" w="med" len="med"/>
              </a:ln>
            </p:spPr>
          </p:sp>
          <p:sp>
            <p:nvSpPr>
              <p:cNvPr id="45086" name="Line 1119"/>
              <p:cNvSpPr/>
              <p:nvPr/>
            </p:nvSpPr>
            <p:spPr>
              <a:xfrm flipV="1">
                <a:off x="4368" y="2256"/>
                <a:ext cx="0" cy="576"/>
              </a:xfrm>
              <a:prstGeom prst="line">
                <a:avLst/>
              </a:prstGeom>
              <a:ln w="3175" cap="flat" cmpd="sng">
                <a:solidFill>
                  <a:schemeClr val="tx1"/>
                </a:solidFill>
                <a:prstDash val="solid"/>
                <a:headEnd type="none" w="med" len="med"/>
                <a:tailEnd type="triangle" w="med" len="med"/>
              </a:ln>
            </p:spPr>
          </p:sp>
          <p:sp>
            <p:nvSpPr>
              <p:cNvPr id="45087" name="Line 1120"/>
              <p:cNvSpPr/>
              <p:nvPr/>
            </p:nvSpPr>
            <p:spPr>
              <a:xfrm flipV="1">
                <a:off x="2784" y="2928"/>
                <a:ext cx="1344" cy="528"/>
              </a:xfrm>
              <a:prstGeom prst="line">
                <a:avLst/>
              </a:prstGeom>
              <a:ln w="3175" cap="flat" cmpd="sng">
                <a:solidFill>
                  <a:schemeClr val="tx1"/>
                </a:solidFill>
                <a:prstDash val="solid"/>
                <a:headEnd type="none" w="med" len="med"/>
                <a:tailEnd type="triangle" w="med" len="med"/>
              </a:ln>
            </p:spPr>
          </p:sp>
          <p:sp>
            <p:nvSpPr>
              <p:cNvPr id="45088" name="Line 1121"/>
              <p:cNvSpPr/>
              <p:nvPr/>
            </p:nvSpPr>
            <p:spPr>
              <a:xfrm flipH="1" flipV="1">
                <a:off x="2160" y="2496"/>
                <a:ext cx="576" cy="768"/>
              </a:xfrm>
              <a:prstGeom prst="line">
                <a:avLst/>
              </a:prstGeom>
              <a:ln w="3175" cap="flat" cmpd="sng">
                <a:solidFill>
                  <a:schemeClr val="tx1"/>
                </a:solidFill>
                <a:prstDash val="solid"/>
                <a:headEnd type="none" w="med" len="med"/>
                <a:tailEnd type="triangle" w="med" len="med"/>
              </a:ln>
            </p:spPr>
          </p:sp>
          <p:sp>
            <p:nvSpPr>
              <p:cNvPr id="45089" name="Line 1122"/>
              <p:cNvSpPr/>
              <p:nvPr/>
            </p:nvSpPr>
            <p:spPr>
              <a:xfrm>
                <a:off x="3024" y="1440"/>
                <a:ext cx="192" cy="720"/>
              </a:xfrm>
              <a:prstGeom prst="line">
                <a:avLst/>
              </a:prstGeom>
              <a:ln w="3175" cap="flat" cmpd="sng">
                <a:solidFill>
                  <a:schemeClr val="tx1"/>
                </a:solidFill>
                <a:prstDash val="solid"/>
                <a:headEnd type="none" w="med" len="med"/>
                <a:tailEnd type="triangle" w="med" len="med"/>
              </a:ln>
            </p:spPr>
          </p:sp>
          <p:sp>
            <p:nvSpPr>
              <p:cNvPr id="45090" name="Line 1123"/>
              <p:cNvSpPr/>
              <p:nvPr/>
            </p:nvSpPr>
            <p:spPr>
              <a:xfrm flipV="1">
                <a:off x="3408" y="2016"/>
                <a:ext cx="672" cy="288"/>
              </a:xfrm>
              <a:prstGeom prst="line">
                <a:avLst/>
              </a:prstGeom>
              <a:ln w="3175" cap="flat" cmpd="sng">
                <a:solidFill>
                  <a:schemeClr val="tx1"/>
                </a:solidFill>
                <a:prstDash val="solid"/>
                <a:headEnd type="none" w="med" len="med"/>
                <a:tailEnd type="triangle" w="med" len="med"/>
              </a:ln>
            </p:spPr>
          </p:sp>
          <p:sp>
            <p:nvSpPr>
              <p:cNvPr id="45091" name="Line 1124"/>
              <p:cNvSpPr/>
              <p:nvPr/>
            </p:nvSpPr>
            <p:spPr>
              <a:xfrm>
                <a:off x="3408" y="2592"/>
                <a:ext cx="720" cy="192"/>
              </a:xfrm>
              <a:prstGeom prst="line">
                <a:avLst/>
              </a:prstGeom>
              <a:ln w="3175" cap="flat" cmpd="sng">
                <a:solidFill>
                  <a:schemeClr val="tx1"/>
                </a:solidFill>
                <a:prstDash val="solid"/>
                <a:headEnd type="none" w="med" len="med"/>
                <a:tailEnd type="triangle" w="med" len="med"/>
              </a:ln>
            </p:spPr>
          </p:sp>
        </p:grpSp>
      </p:grpSp>
      <p:grpSp>
        <p:nvGrpSpPr>
          <p:cNvPr id="14" name="Group 1125"/>
          <p:cNvGrpSpPr/>
          <p:nvPr/>
        </p:nvGrpSpPr>
        <p:grpSpPr>
          <a:xfrm>
            <a:off x="3200400" y="1828800"/>
            <a:ext cx="2971800" cy="1066800"/>
            <a:chOff x="2016" y="1152"/>
            <a:chExt cx="1872" cy="672"/>
          </a:xfrm>
        </p:grpSpPr>
        <p:sp>
          <p:nvSpPr>
            <p:cNvPr id="45066" name="Line 1126"/>
            <p:cNvSpPr/>
            <p:nvPr/>
          </p:nvSpPr>
          <p:spPr>
            <a:xfrm>
              <a:off x="2016" y="1440"/>
              <a:ext cx="576" cy="0"/>
            </a:xfrm>
            <a:prstGeom prst="line">
              <a:avLst/>
            </a:prstGeom>
            <a:ln w="9525" cap="flat" cmpd="sng">
              <a:solidFill>
                <a:schemeClr val="tx1"/>
              </a:solidFill>
              <a:prstDash val="solid"/>
              <a:headEnd type="none" w="med" len="med"/>
              <a:tailEnd type="triangle" w="med" len="med"/>
            </a:ln>
          </p:spPr>
        </p:sp>
        <p:grpSp>
          <p:nvGrpSpPr>
            <p:cNvPr id="45067" name="Group 1127"/>
            <p:cNvGrpSpPr/>
            <p:nvPr/>
          </p:nvGrpSpPr>
          <p:grpSpPr>
            <a:xfrm>
              <a:off x="2592" y="1152"/>
              <a:ext cx="1296" cy="672"/>
              <a:chOff x="2592" y="1152"/>
              <a:chExt cx="1296" cy="672"/>
            </a:xfrm>
          </p:grpSpPr>
          <p:sp>
            <p:nvSpPr>
              <p:cNvPr id="45068" name="Rectangle 1128"/>
              <p:cNvSpPr/>
              <p:nvPr/>
            </p:nvSpPr>
            <p:spPr>
              <a:xfrm>
                <a:off x="2592" y="1152"/>
                <a:ext cx="1296" cy="672"/>
              </a:xfrm>
              <a:prstGeom prst="rect">
                <a:avLst/>
              </a:prstGeom>
              <a:solidFill>
                <a:srgbClr val="98ED87"/>
              </a:solid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98ED87"/>
                </a:extrusionClr>
              </a:sp3d>
            </p:spPr>
            <p:txBody>
              <a:bodyPr wrap="none" anchor="ctr" anchorCtr="0">
                <a:flatTx/>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sz="1800" dirty="0">
                  <a:latin typeface="Times New Roman" panose="02020603050405020304" pitchFamily="18" charset="0"/>
                </a:endParaRPr>
              </a:p>
            </p:txBody>
          </p:sp>
          <p:pic>
            <p:nvPicPr>
              <p:cNvPr id="45069" name="Picture 1129" descr="AN00080_"/>
              <p:cNvPicPr>
                <a:picLocks noChangeAspect="1"/>
              </p:cNvPicPr>
              <p:nvPr/>
            </p:nvPicPr>
            <p:blipFill>
              <a:blip r:embed="rId2"/>
              <a:stretch>
                <a:fillRect/>
              </a:stretch>
            </p:blipFill>
            <p:spPr>
              <a:xfrm>
                <a:off x="2928" y="1440"/>
                <a:ext cx="576" cy="378"/>
              </a:xfrm>
              <a:prstGeom prst="rect">
                <a:avLst/>
              </a:prstGeom>
              <a:noFill/>
              <a:ln w="9525">
                <a:noFill/>
              </a:ln>
            </p:spPr>
          </p:pic>
          <p:sp>
            <p:nvSpPr>
              <p:cNvPr id="45070" name="Rectangle 1130"/>
              <p:cNvSpPr/>
              <p:nvPr/>
            </p:nvSpPr>
            <p:spPr>
              <a:xfrm>
                <a:off x="2928" y="1152"/>
                <a:ext cx="622" cy="291"/>
              </a:xfrm>
              <a:prstGeom prst="rect">
                <a:avLst/>
              </a:prstGeom>
              <a:noFill/>
              <a:ln w="9525">
                <a:noFill/>
              </a:ln>
            </p:spPr>
            <p:txBody>
              <a:bodyPr wrap="none">
                <a:spAutoFit/>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sz="1800" dirty="0">
                    <a:latin typeface="Times New Roman" panose="02020603050405020304" pitchFamily="18" charset="0"/>
                  </a:rPr>
                  <a:t>Spider</a:t>
                </a:r>
                <a:endParaRPr sz="1800" dirty="0">
                  <a:latin typeface="Times New Roman" panose="02020603050405020304" pitchFamily="18" charset="0"/>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85095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2"/>
          <p:cNvSpPr>
            <a:spLocks noGrp="1" noChangeArrowheads="1"/>
          </p:cNvSpPr>
          <p:nvPr>
            <p:ph type="title"/>
          </p:nvPr>
        </p:nvSpPr>
        <p:spPr>
          <a:xfrm>
            <a:off x="533400" y="228600"/>
            <a:ext cx="7772400" cy="381000"/>
          </a:xfrm>
        </p:spPr>
        <p:txBody>
          <a:bodyPr vert="horz" wrap="square" lIns="0" tIns="45720" rIns="0" bIns="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000" b="0" i="0" u="none" strike="noStrike" kern="1200" cap="none" spc="0" normalizeH="0" baseline="0" noProof="0" smtClean="0">
                <a:ln>
                  <a:noFill/>
                </a:ln>
                <a:solidFill>
                  <a:schemeClr val="tx2"/>
                </a:solidFill>
                <a:effectLst/>
                <a:uLnTx/>
                <a:uFillTx/>
                <a:latin typeface="+mj-lt"/>
                <a:ea typeface="+mj-ea"/>
                <a:cs typeface="+mj-cs"/>
              </a:rPr>
              <a:t>What is Information Retrieval ?</a:t>
            </a:r>
            <a:endParaRPr kumimoji="0" lang="en-US" sz="4000" b="0" i="0" u="none" strike="noStrike" kern="1200" cap="none" spc="0" normalizeH="0" baseline="0" noProof="0" smtClean="0">
              <a:ln>
                <a:noFill/>
              </a:ln>
              <a:solidFill>
                <a:schemeClr val="tx2"/>
              </a:solidFill>
              <a:effectLst/>
              <a:uLnTx/>
              <a:uFillTx/>
              <a:latin typeface="+mj-lt"/>
              <a:ea typeface="+mj-ea"/>
              <a:cs typeface="+mj-cs"/>
            </a:endParaRPr>
          </a:p>
        </p:txBody>
      </p:sp>
      <p:sp>
        <p:nvSpPr>
          <p:cNvPr id="46083" name="Rectangle 3"/>
          <p:cNvSpPr>
            <a:spLocks noGrp="1"/>
          </p:cNvSpPr>
          <p:nvPr>
            <p:ph idx="1"/>
          </p:nvPr>
        </p:nvSpPr>
        <p:spPr>
          <a:xfrm>
            <a:off x="228600" y="838200"/>
            <a:ext cx="8610600" cy="5791200"/>
          </a:xfrm>
          <a:ln/>
        </p:spPr>
        <p:txBody>
          <a:bodyPr vert="horz" wrap="square" lIns="91440" tIns="45720" rIns="91440" bIns="45720" anchor="t" anchorCtr="0"/>
          <a:p>
            <a:pPr eaLnBrk="1" hangingPunct="1">
              <a:lnSpc>
                <a:spcPct val="80000"/>
              </a:lnSpc>
            </a:pPr>
            <a:r>
              <a:rPr sz="2800" dirty="0"/>
              <a:t>A good formal definition of information retrieval is given in Baeze-Yates &amp; Riberio-Neto (1990, p1)</a:t>
            </a:r>
            <a:endParaRPr sz="2800" dirty="0"/>
          </a:p>
          <a:p>
            <a:pPr algn="just" eaLnBrk="1" hangingPunct="1">
              <a:lnSpc>
                <a:spcPct val="80000"/>
              </a:lnSpc>
              <a:buFontTx/>
              <a:buNone/>
            </a:pPr>
            <a:r>
              <a:rPr sz="900" dirty="0"/>
              <a:t>	</a:t>
            </a:r>
            <a:endParaRPr sz="900" dirty="0"/>
          </a:p>
          <a:p>
            <a:pPr algn="just" eaLnBrk="1" hangingPunct="1">
              <a:lnSpc>
                <a:spcPct val="80000"/>
              </a:lnSpc>
              <a:buFontTx/>
              <a:buNone/>
            </a:pPr>
            <a:r>
              <a:rPr sz="2800" dirty="0"/>
              <a:t>	“Information retrieval deals with representation, storage, organization of, and access to information items. The organization and access of information items should provide the user with easy access to the information in which he/she is interested”</a:t>
            </a:r>
            <a:endParaRPr sz="2800" dirty="0"/>
          </a:p>
          <a:p>
            <a:pPr algn="just" eaLnBrk="1" hangingPunct="1">
              <a:lnSpc>
                <a:spcPct val="80000"/>
              </a:lnSpc>
            </a:pPr>
            <a:endParaRPr sz="900" dirty="0"/>
          </a:p>
          <a:p>
            <a:pPr algn="just" eaLnBrk="1" hangingPunct="1">
              <a:lnSpc>
                <a:spcPct val="80000"/>
              </a:lnSpc>
            </a:pPr>
            <a:r>
              <a:rPr sz="2800" dirty="0"/>
              <a:t>The definition incorporates all important features of a good information retrieval system</a:t>
            </a:r>
            <a:endParaRPr sz="2800" dirty="0"/>
          </a:p>
          <a:p>
            <a:pPr lvl="1" algn="just" eaLnBrk="1" hangingPunct="1">
              <a:lnSpc>
                <a:spcPct val="80000"/>
              </a:lnSpc>
            </a:pPr>
            <a:r>
              <a:rPr dirty="0"/>
              <a:t>Representation</a:t>
            </a:r>
            <a:endParaRPr dirty="0"/>
          </a:p>
          <a:p>
            <a:pPr lvl="1" algn="just" eaLnBrk="1" hangingPunct="1">
              <a:lnSpc>
                <a:spcPct val="80000"/>
              </a:lnSpc>
            </a:pPr>
            <a:r>
              <a:rPr dirty="0"/>
              <a:t>Storage</a:t>
            </a:r>
            <a:endParaRPr dirty="0"/>
          </a:p>
          <a:p>
            <a:pPr lvl="1" algn="just" eaLnBrk="1" hangingPunct="1">
              <a:lnSpc>
                <a:spcPct val="80000"/>
              </a:lnSpc>
            </a:pPr>
            <a:r>
              <a:rPr dirty="0"/>
              <a:t>Organization</a:t>
            </a:r>
            <a:endParaRPr dirty="0"/>
          </a:p>
          <a:p>
            <a:pPr lvl="1" algn="just" eaLnBrk="1" hangingPunct="1">
              <a:lnSpc>
                <a:spcPct val="80000"/>
              </a:lnSpc>
            </a:pPr>
            <a:r>
              <a:rPr dirty="0"/>
              <a:t>Access</a:t>
            </a:r>
            <a:endParaRPr dirty="0"/>
          </a:p>
          <a:p>
            <a:pPr algn="just" eaLnBrk="1" hangingPunct="1">
              <a:lnSpc>
                <a:spcPct val="80000"/>
              </a:lnSpc>
            </a:pPr>
            <a:r>
              <a:rPr lang="en-GB" altLang="x-none" sz="2800" dirty="0"/>
              <a:t>The focus is on the </a:t>
            </a:r>
            <a:r>
              <a:rPr lang="en-GB" altLang="x-none" sz="2800" i="1" dirty="0"/>
              <a:t>user information need</a:t>
            </a:r>
            <a:endParaRPr lang="en-GB" altLang="x-none" sz="2800" i="1"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5"/>
          <p:cNvSpPr>
            <a:spLocks noGrp="1" noChangeArrowheads="1"/>
          </p:cNvSpPr>
          <p:nvPr>
            <p:ph type="title"/>
          </p:nvPr>
        </p:nvSpPr>
        <p:spPr>
          <a:xfrm>
            <a:off x="457200" y="228600"/>
            <a:ext cx="8229600" cy="639763"/>
          </a:xfrm>
        </p:spPr>
        <p:txBody>
          <a:bodyPr vert="horz" wrap="square" lIns="0" tIns="45720" rIns="0" bIns="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000" b="0" i="0" u="none" strike="noStrike" kern="1200" cap="none" spc="0" normalizeH="0" baseline="0" noProof="0" dirty="0" smtClean="0">
                <a:ln>
                  <a:noFill/>
                </a:ln>
                <a:solidFill>
                  <a:schemeClr val="tx2"/>
                </a:solidFill>
                <a:effectLst/>
                <a:uLnTx/>
                <a:uFillTx/>
                <a:latin typeface="+mj-lt"/>
                <a:ea typeface="+mj-ea"/>
                <a:cs typeface="+mj-cs"/>
              </a:rPr>
              <a:t>Overview of the Retrieval process</a:t>
            </a:r>
            <a:endParaRPr kumimoji="0" lang="en-US" sz="4000" b="0" i="0" u="none" strike="noStrike" kern="1200" cap="none" spc="0" normalizeH="0" baseline="0" noProof="0" dirty="0" smtClean="0">
              <a:ln>
                <a:noFill/>
              </a:ln>
              <a:solidFill>
                <a:schemeClr val="tx2"/>
              </a:solidFill>
              <a:effectLst/>
              <a:uLnTx/>
              <a:uFillTx/>
              <a:latin typeface="+mj-lt"/>
              <a:ea typeface="+mj-ea"/>
              <a:cs typeface="+mj-cs"/>
            </a:endParaRPr>
          </a:p>
        </p:txBody>
      </p:sp>
      <p:pic>
        <p:nvPicPr>
          <p:cNvPr id="47107" name="Picture 4"/>
          <p:cNvPicPr>
            <a:picLocks noGrp="1" noChangeAspect="1"/>
          </p:cNvPicPr>
          <p:nvPr>
            <p:ph idx="1"/>
          </p:nvPr>
        </p:nvPicPr>
        <p:blipFill>
          <a:blip r:embed="rId1"/>
          <a:srcRect/>
          <a:stretch>
            <a:fillRect/>
          </a:stretch>
        </p:blipFill>
        <p:spPr>
          <a:xfrm>
            <a:off x="228600" y="1219200"/>
            <a:ext cx="8686800" cy="5105400"/>
          </a:xfrm>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2"/>
          <p:cNvSpPr>
            <a:spLocks noGrp="1"/>
          </p:cNvSpPr>
          <p:nvPr>
            <p:ph idx="1"/>
          </p:nvPr>
        </p:nvSpPr>
        <p:spPr>
          <a:xfrm>
            <a:off x="228600" y="1066800"/>
            <a:ext cx="8610600" cy="5410200"/>
          </a:xfrm>
          <a:ln/>
        </p:spPr>
        <p:txBody>
          <a:bodyPr vert="horz" wrap="square" lIns="91440" tIns="45720" rIns="91440" bIns="45720" anchor="t" anchorCtr="0"/>
          <a:p>
            <a:pPr eaLnBrk="1" hangingPunct="1"/>
            <a:r>
              <a:rPr sz="2800" dirty="0"/>
              <a:t>It is necessary to </a:t>
            </a:r>
            <a:r>
              <a:rPr sz="2800" b="1" dirty="0">
                <a:solidFill>
                  <a:srgbClr val="CC3300"/>
                </a:solidFill>
              </a:rPr>
              <a:t>define the text database</a:t>
            </a:r>
            <a:r>
              <a:rPr sz="2800" dirty="0"/>
              <a:t> before any of the retrieval processes are initiated</a:t>
            </a:r>
            <a:endParaRPr sz="2800" dirty="0"/>
          </a:p>
          <a:p>
            <a:pPr lvl="3" eaLnBrk="1" hangingPunct="1"/>
            <a:endParaRPr sz="1000" dirty="0"/>
          </a:p>
          <a:p>
            <a:pPr eaLnBrk="1" hangingPunct="1"/>
            <a:r>
              <a:rPr sz="2800" dirty="0"/>
              <a:t>This is usually done by the manager of the database and includes specifying the following</a:t>
            </a:r>
            <a:endParaRPr sz="2800" dirty="0"/>
          </a:p>
          <a:p>
            <a:pPr lvl="1" eaLnBrk="1" hangingPunct="1"/>
            <a:r>
              <a:rPr dirty="0"/>
              <a:t>The documents to be used</a:t>
            </a:r>
            <a:endParaRPr dirty="0"/>
          </a:p>
          <a:p>
            <a:pPr lvl="1" eaLnBrk="1" hangingPunct="1"/>
            <a:r>
              <a:rPr dirty="0"/>
              <a:t>The operations to be performed on the text</a:t>
            </a:r>
            <a:endParaRPr dirty="0"/>
          </a:p>
          <a:p>
            <a:pPr lvl="1" eaLnBrk="1" hangingPunct="1"/>
            <a:r>
              <a:rPr dirty="0"/>
              <a:t>The text model to be used (the text structure and what elements can be retrieved)</a:t>
            </a:r>
            <a:endParaRPr dirty="0"/>
          </a:p>
          <a:p>
            <a:pPr lvl="4" eaLnBrk="1" hangingPunct="1"/>
            <a:endParaRPr sz="1000" dirty="0"/>
          </a:p>
          <a:p>
            <a:pPr eaLnBrk="1" hangingPunct="1"/>
            <a:r>
              <a:rPr sz="2800" dirty="0"/>
              <a:t>The text operations transform the original documents and the information needs and generate a logical view of them</a:t>
            </a:r>
            <a:endParaRPr sz="2800" dirty="0"/>
          </a:p>
        </p:txBody>
      </p:sp>
      <p:sp>
        <p:nvSpPr>
          <p:cNvPr id="30723" name="Rectangle 3"/>
          <p:cNvSpPr>
            <a:spLocks noChangeArrowheads="1"/>
          </p:cNvSpPr>
          <p:nvPr/>
        </p:nvSpPr>
        <p:spPr bwMode="auto">
          <a:xfrm>
            <a:off x="914400" y="304800"/>
            <a:ext cx="7239000" cy="519113"/>
          </a:xfrm>
          <a:prstGeom prst="rect">
            <a:avLst/>
          </a:prstGeom>
          <a:solidFill>
            <a:schemeClr val="bg1">
              <a:lumMod val="85000"/>
            </a:schemeClr>
          </a:solidFill>
          <a:ln w="9525" algn="ctr">
            <a:noFill/>
            <a:miter lim="800000"/>
          </a:ln>
          <a:effectLst>
            <a:outerShdw dist="91581" dir="2021404" algn="ctr" rotWithShape="0">
              <a:schemeClr val="bg2"/>
            </a:outerShdw>
          </a:effectLst>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sz="4000" b="1" i="0" u="none" strike="noStrike" kern="1200" cap="none" spc="0" normalizeH="0" baseline="0" noProof="0">
                <a:ln>
                  <a:noFill/>
                </a:ln>
                <a:solidFill>
                  <a:schemeClr val="tx2"/>
                </a:solidFill>
                <a:effectLst/>
                <a:uLnTx/>
                <a:uFillTx/>
                <a:latin typeface="Times New Roman" panose="02020603050405020304" pitchFamily="18" charset="0"/>
                <a:ea typeface="PMingLiU" pitchFamily="18" charset="-120"/>
                <a:cs typeface="+mn-cs"/>
              </a:rPr>
              <a:t>The Retrieval Process</a:t>
            </a:r>
            <a:endParaRPr kumimoji="1" lang="en-GB" sz="4000" b="1" i="0" u="none" strike="noStrike" kern="1200" cap="none" spc="0" normalizeH="0" baseline="0" noProof="0">
              <a:ln>
                <a:noFill/>
              </a:ln>
              <a:solidFill>
                <a:schemeClr val="tx2"/>
              </a:solidFill>
              <a:effectLst/>
              <a:uLnTx/>
              <a:uFillTx/>
              <a:latin typeface="Times New Roman" panose="02020603050405020304" pitchFamily="18" charset="0"/>
              <a:ea typeface="PMingLiU" pitchFamily="18" charset="-120"/>
              <a:cs typeface="+mn-c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2"/>
          <p:cNvSpPr>
            <a:spLocks noGrp="1"/>
          </p:cNvSpPr>
          <p:nvPr>
            <p:ph idx="1"/>
          </p:nvPr>
        </p:nvSpPr>
        <p:spPr>
          <a:xfrm>
            <a:off x="304800" y="838200"/>
            <a:ext cx="8686800" cy="4495800"/>
          </a:xfrm>
          <a:ln/>
        </p:spPr>
        <p:txBody>
          <a:bodyPr vert="horz" wrap="square" lIns="91440" tIns="45720" rIns="91440" bIns="45720" anchor="t" anchorCtr="0"/>
          <a:p>
            <a:pPr eaLnBrk="1" hangingPunct="1"/>
            <a:r>
              <a:rPr sz="2800" dirty="0"/>
              <a:t>Once the logical view of the documents is defined, the database module </a:t>
            </a:r>
            <a:r>
              <a:rPr sz="2800" b="1" dirty="0">
                <a:solidFill>
                  <a:srgbClr val="CC3300"/>
                </a:solidFill>
              </a:rPr>
              <a:t>builds an index</a:t>
            </a:r>
            <a:r>
              <a:rPr sz="2800" dirty="0"/>
              <a:t> of the text</a:t>
            </a:r>
            <a:endParaRPr sz="2800" dirty="0"/>
          </a:p>
          <a:p>
            <a:pPr lvl="1" eaLnBrk="1" hangingPunct="1"/>
            <a:r>
              <a:rPr sz="2800" dirty="0"/>
              <a:t>An index is a critical data structure </a:t>
            </a:r>
            <a:endParaRPr sz="2800" dirty="0"/>
          </a:p>
          <a:p>
            <a:pPr lvl="1" eaLnBrk="1" hangingPunct="1"/>
            <a:r>
              <a:rPr sz="2800" dirty="0"/>
              <a:t>It allows fast searching over large volumes of data</a:t>
            </a:r>
            <a:endParaRPr sz="2800" dirty="0"/>
          </a:p>
          <a:p>
            <a:pPr eaLnBrk="1" hangingPunct="1"/>
            <a:r>
              <a:rPr sz="2800" dirty="0"/>
              <a:t>Different index structures might be used , but the most popular one is the inverted file</a:t>
            </a:r>
            <a:endParaRPr sz="2800" dirty="0"/>
          </a:p>
          <a:p>
            <a:pPr eaLnBrk="1" hangingPunct="1"/>
            <a:r>
              <a:rPr sz="2800" dirty="0"/>
              <a:t>Given that the document database is indexed, the </a:t>
            </a:r>
            <a:r>
              <a:rPr sz="2800" b="1" dirty="0">
                <a:solidFill>
                  <a:srgbClr val="CC3300"/>
                </a:solidFill>
              </a:rPr>
              <a:t>retrieval process can be initiated </a:t>
            </a:r>
            <a:endParaRPr sz="2800" b="1" dirty="0">
              <a:solidFill>
                <a:srgbClr val="CC3300"/>
              </a:solidFill>
            </a:endParaRPr>
          </a:p>
        </p:txBody>
      </p:sp>
      <p:sp>
        <p:nvSpPr>
          <p:cNvPr id="32771" name="Rectangle 3"/>
          <p:cNvSpPr>
            <a:spLocks noChangeArrowheads="1"/>
          </p:cNvSpPr>
          <p:nvPr/>
        </p:nvSpPr>
        <p:spPr bwMode="auto">
          <a:xfrm>
            <a:off x="533400" y="228600"/>
            <a:ext cx="7848600" cy="519113"/>
          </a:xfrm>
          <a:prstGeom prst="rect">
            <a:avLst/>
          </a:prstGeom>
          <a:solidFill>
            <a:schemeClr val="bg1">
              <a:lumMod val="85000"/>
            </a:schemeClr>
          </a:solidFill>
          <a:ln w="9525" algn="ctr">
            <a:noFill/>
            <a:miter lim="800000"/>
          </a:ln>
          <a:effectLst>
            <a:outerShdw dist="91581" dir="2021404" algn="ctr" rotWithShape="0">
              <a:schemeClr val="bg2"/>
            </a:outerShdw>
          </a:effectLst>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sz="4000" b="1" i="0" u="none" strike="noStrike" kern="1200" cap="none" spc="0" normalizeH="0" baseline="0" noProof="0">
                <a:ln>
                  <a:noFill/>
                </a:ln>
                <a:solidFill>
                  <a:schemeClr val="tx2"/>
                </a:solidFill>
                <a:effectLst/>
                <a:uLnTx/>
                <a:uFillTx/>
                <a:latin typeface="Times New Roman" panose="02020603050405020304" pitchFamily="18" charset="0"/>
                <a:ea typeface="PMingLiU" pitchFamily="18" charset="-120"/>
                <a:cs typeface="+mn-cs"/>
              </a:rPr>
              <a:t>Retrieval Process ….</a:t>
            </a:r>
            <a:endParaRPr kumimoji="1" lang="en-GB" sz="4000" b="1" i="0" u="none" strike="noStrike" kern="1200" cap="none" spc="0" normalizeH="0" baseline="0" noProof="0">
              <a:ln>
                <a:noFill/>
              </a:ln>
              <a:solidFill>
                <a:schemeClr val="tx2"/>
              </a:solidFill>
              <a:effectLst/>
              <a:uLnTx/>
              <a:uFillTx/>
              <a:latin typeface="Times New Roman" panose="02020603050405020304" pitchFamily="18" charset="0"/>
              <a:ea typeface="PMingLiU" pitchFamily="18" charset="-120"/>
              <a:cs typeface="+mn-c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2"/>
          <p:cNvSpPr>
            <a:spLocks noGrp="1"/>
          </p:cNvSpPr>
          <p:nvPr>
            <p:ph type="title"/>
          </p:nvPr>
        </p:nvSpPr>
        <p:spPr>
          <a:xfrm>
            <a:off x="304800" y="152400"/>
            <a:ext cx="8153400" cy="533400"/>
          </a:xfrm>
          <a:ln/>
        </p:spPr>
        <p:txBody>
          <a:bodyPr vert="horz" wrap="square" lIns="0" tIns="45720" rIns="0" bIns="0" anchor="b" anchorCtr="0"/>
          <a:p>
            <a:pPr eaLnBrk="1" hangingPunct="1"/>
            <a:r>
              <a:rPr sz="4000" b="1" dirty="0"/>
              <a:t>The Retrieval Process …</a:t>
            </a:r>
            <a:endParaRPr sz="4000" b="1" dirty="0"/>
          </a:p>
        </p:txBody>
      </p:sp>
      <p:sp>
        <p:nvSpPr>
          <p:cNvPr id="23555" name="Rectangle 3"/>
          <p:cNvSpPr>
            <a:spLocks noGrp="1" noChangeArrowheads="1"/>
          </p:cNvSpPr>
          <p:nvPr>
            <p:ph idx="1"/>
          </p:nvPr>
        </p:nvSpPr>
        <p:spPr>
          <a:xfrm>
            <a:off x="76200" y="609600"/>
            <a:ext cx="8915400" cy="6096000"/>
          </a:xfrm>
        </p:spPr>
        <p:txBody>
          <a:bodyPr vert="horz" wrap="square" lIns="91440" tIns="45720" rIns="91440" bIns="45720" numCol="1" anchor="t" anchorCtr="0" compatLnSpc="1">
            <a:normAutofit lnSpcReduction="10000"/>
          </a:bodyPr>
          <a:lstStyle/>
          <a:p>
            <a:pPr marL="168275" marR="0" lvl="0" indent="-168275" algn="l" defTabSz="914400" rtl="0" eaLnBrk="1" fontAlgn="auto" latinLnBrk="0" hangingPunct="1">
              <a:lnSpc>
                <a:spcPct val="100000"/>
              </a:lnSpc>
              <a:spcBef>
                <a:spcPct val="20000"/>
              </a:spcBef>
              <a:spcAft>
                <a:spcPts val="0"/>
              </a:spcAft>
              <a:buClr>
                <a:schemeClr val="accent3"/>
              </a:buClr>
              <a:buSzPct val="95000"/>
              <a:buFont typeface="Wingdings 2"/>
              <a:buChar char=""/>
              <a:defRPr/>
            </a:pPr>
            <a:r>
              <a:rPr kumimoji="0" lang="en-US" sz="2200" b="0" i="0" u="none" strike="noStrike" kern="1200" cap="none" spc="0" normalizeH="0" baseline="0" noProof="0" dirty="0" smtClean="0">
                <a:ln>
                  <a:noFill/>
                </a:ln>
                <a:solidFill>
                  <a:schemeClr val="tx1"/>
                </a:solidFill>
                <a:effectLst/>
                <a:uLnTx/>
                <a:uFillTx/>
                <a:latin typeface="+mn-lt"/>
                <a:ea typeface="+mn-ea"/>
                <a:cs typeface="+mn-cs"/>
              </a:rPr>
              <a:t>The user first </a:t>
            </a:r>
            <a:r>
              <a:rPr kumimoji="0" lang="en-US" sz="2200" b="1" i="0" u="none" strike="noStrike" kern="1200" cap="none" spc="0" normalizeH="0" baseline="0" noProof="0" dirty="0" smtClean="0">
                <a:ln>
                  <a:noFill/>
                </a:ln>
                <a:solidFill>
                  <a:srgbClr val="CC3300"/>
                </a:solidFill>
                <a:effectLst/>
                <a:uLnTx/>
                <a:uFillTx/>
                <a:latin typeface="+mn-lt"/>
                <a:ea typeface="+mn-ea"/>
                <a:cs typeface="+mn-cs"/>
              </a:rPr>
              <a:t>specifies a user need</a:t>
            </a:r>
            <a:r>
              <a:rPr kumimoji="0" lang="en-US" sz="2200" b="0" i="0" u="none" strike="noStrike" kern="1200" cap="none" spc="0" normalizeH="0" baseline="0" noProof="0" dirty="0" smtClean="0">
                <a:ln>
                  <a:noFill/>
                </a:ln>
                <a:solidFill>
                  <a:schemeClr val="tx1"/>
                </a:solidFill>
                <a:effectLst/>
                <a:uLnTx/>
                <a:uFillTx/>
                <a:latin typeface="+mn-lt"/>
                <a:ea typeface="+mn-ea"/>
                <a:cs typeface="+mn-cs"/>
              </a:rPr>
              <a:t> which is then </a:t>
            </a:r>
            <a:r>
              <a:rPr kumimoji="0" lang="en-US" sz="2200" b="1" i="0" u="none" strike="noStrike" kern="1200" cap="none" spc="0" normalizeH="0" baseline="0" noProof="0" dirty="0" smtClean="0">
                <a:ln>
                  <a:noFill/>
                </a:ln>
                <a:solidFill>
                  <a:srgbClr val="CC3300"/>
                </a:solidFill>
                <a:effectLst/>
                <a:uLnTx/>
                <a:uFillTx/>
                <a:latin typeface="+mn-lt"/>
                <a:ea typeface="+mn-ea"/>
                <a:cs typeface="+mn-cs"/>
              </a:rPr>
              <a:t>parsed</a:t>
            </a:r>
            <a:r>
              <a:rPr kumimoji="0" lang="en-US" sz="2200" b="0" i="0" u="none" strike="noStrike" kern="1200" cap="none" spc="0" normalizeH="0" baseline="0" noProof="0" dirty="0" smtClean="0">
                <a:ln>
                  <a:noFill/>
                </a:ln>
                <a:solidFill>
                  <a:schemeClr val="tx1"/>
                </a:solidFill>
                <a:effectLst/>
                <a:uLnTx/>
                <a:uFillTx/>
                <a:latin typeface="+mn-lt"/>
                <a:ea typeface="+mn-ea"/>
                <a:cs typeface="+mn-cs"/>
              </a:rPr>
              <a:t> and </a:t>
            </a:r>
            <a:r>
              <a:rPr kumimoji="0" lang="en-US" sz="2200" b="1" i="0" u="none" strike="noStrike" kern="1200" cap="none" spc="0" normalizeH="0" baseline="0" noProof="0" dirty="0" smtClean="0">
                <a:ln>
                  <a:noFill/>
                </a:ln>
                <a:solidFill>
                  <a:srgbClr val="CC3300"/>
                </a:solidFill>
                <a:effectLst/>
                <a:uLnTx/>
                <a:uFillTx/>
                <a:latin typeface="+mn-lt"/>
                <a:ea typeface="+mn-ea"/>
                <a:cs typeface="+mn-cs"/>
              </a:rPr>
              <a:t>transformed</a:t>
            </a:r>
            <a:r>
              <a:rPr kumimoji="0" lang="en-US" sz="2200" b="0" i="0" u="none" strike="noStrike" kern="1200" cap="none" spc="0" normalizeH="0" baseline="0" noProof="0" dirty="0" smtClean="0">
                <a:ln>
                  <a:noFill/>
                </a:ln>
                <a:solidFill>
                  <a:schemeClr val="tx1"/>
                </a:solidFill>
                <a:effectLst/>
                <a:uLnTx/>
                <a:uFillTx/>
                <a:latin typeface="+mn-lt"/>
                <a:ea typeface="+mn-ea"/>
                <a:cs typeface="+mn-cs"/>
              </a:rPr>
              <a:t> by the same text operation applied to the text</a:t>
            </a:r>
            <a:endParaRPr kumimoji="0" lang="en-US" sz="2200" b="0" i="0" u="none" strike="noStrike" kern="1200" cap="none" spc="0" normalizeH="0" baseline="0" noProof="0" dirty="0" smtClean="0">
              <a:ln>
                <a:noFill/>
              </a:ln>
              <a:solidFill>
                <a:schemeClr val="tx1"/>
              </a:solidFill>
              <a:effectLst/>
              <a:uLnTx/>
              <a:uFillTx/>
              <a:latin typeface="+mn-lt"/>
              <a:ea typeface="+mn-ea"/>
              <a:cs typeface="+mn-cs"/>
            </a:endParaRPr>
          </a:p>
          <a:p>
            <a:pPr marL="168275" marR="0" lvl="0" indent="-168275" algn="l" defTabSz="914400" rtl="0" eaLnBrk="1" fontAlgn="auto" latinLnBrk="0" hangingPunct="1">
              <a:lnSpc>
                <a:spcPct val="100000"/>
              </a:lnSpc>
              <a:spcBef>
                <a:spcPct val="20000"/>
              </a:spcBef>
              <a:spcAft>
                <a:spcPts val="0"/>
              </a:spcAft>
              <a:buClr>
                <a:schemeClr val="accent3"/>
              </a:buClr>
              <a:buSzPct val="95000"/>
              <a:buFont typeface="Wingdings 2"/>
              <a:buChar char=""/>
              <a:defRPr/>
            </a:pPr>
            <a:r>
              <a:rPr kumimoji="0" lang="en-US" sz="2200" b="0" i="0" u="none" strike="noStrike" kern="1200" cap="none" spc="0" normalizeH="0" baseline="0" noProof="0" dirty="0" smtClean="0">
                <a:ln>
                  <a:noFill/>
                </a:ln>
                <a:solidFill>
                  <a:schemeClr val="tx1"/>
                </a:solidFill>
                <a:effectLst/>
                <a:uLnTx/>
                <a:uFillTx/>
                <a:latin typeface="+mn-lt"/>
                <a:ea typeface="+mn-ea"/>
                <a:cs typeface="+mn-cs"/>
              </a:rPr>
              <a:t>Next the </a:t>
            </a:r>
            <a:r>
              <a:rPr kumimoji="0" lang="en-US" sz="2200" b="0" i="0" u="none" strike="noStrike" kern="1200" cap="none" spc="0" normalizeH="0" baseline="0" noProof="0" dirty="0" smtClean="0">
                <a:ln>
                  <a:noFill/>
                </a:ln>
                <a:solidFill>
                  <a:srgbClr val="CC3300"/>
                </a:solidFill>
                <a:effectLst/>
                <a:uLnTx/>
                <a:uFillTx/>
                <a:latin typeface="+mn-lt"/>
                <a:ea typeface="+mn-ea"/>
                <a:cs typeface="+mn-cs"/>
              </a:rPr>
              <a:t>query operations is applied</a:t>
            </a:r>
            <a:r>
              <a:rPr kumimoji="0" lang="en-US" sz="2200" b="0" i="0" u="none" strike="noStrike" kern="1200" cap="none" spc="0" normalizeH="0" baseline="0" noProof="0" dirty="0" smtClean="0">
                <a:ln>
                  <a:noFill/>
                </a:ln>
                <a:solidFill>
                  <a:schemeClr val="tx1"/>
                </a:solidFill>
                <a:effectLst/>
                <a:uLnTx/>
                <a:uFillTx/>
                <a:latin typeface="+mn-lt"/>
                <a:ea typeface="+mn-ea"/>
                <a:cs typeface="+mn-cs"/>
              </a:rPr>
              <a:t> before the actual query, which provides a system representation for the user need, is generated</a:t>
            </a:r>
            <a:endParaRPr kumimoji="0" lang="en-US" sz="2200" b="0" i="0" u="none" strike="noStrike" kern="1200" cap="none" spc="0" normalizeH="0" baseline="0" noProof="0" dirty="0" smtClean="0">
              <a:ln>
                <a:noFill/>
              </a:ln>
              <a:solidFill>
                <a:schemeClr val="tx1"/>
              </a:solidFill>
              <a:effectLst/>
              <a:uLnTx/>
              <a:uFillTx/>
              <a:latin typeface="+mn-lt"/>
              <a:ea typeface="+mn-ea"/>
              <a:cs typeface="+mn-cs"/>
            </a:endParaRPr>
          </a:p>
          <a:p>
            <a:pPr marL="168275" marR="0" lvl="0" indent="-168275" algn="l" defTabSz="914400" rtl="0" eaLnBrk="1" fontAlgn="auto" latinLnBrk="0" hangingPunct="1">
              <a:lnSpc>
                <a:spcPct val="100000"/>
              </a:lnSpc>
              <a:spcBef>
                <a:spcPct val="20000"/>
              </a:spcBef>
              <a:spcAft>
                <a:spcPts val="0"/>
              </a:spcAft>
              <a:buClr>
                <a:schemeClr val="accent3"/>
              </a:buClr>
              <a:buSzPct val="95000"/>
              <a:buFont typeface="Wingdings 2"/>
              <a:buChar char=""/>
              <a:defRPr/>
            </a:pPr>
            <a:r>
              <a:rPr kumimoji="0" lang="en-US" sz="2200" b="0" i="0" u="none" strike="noStrike" kern="1200" cap="none" spc="0" normalizeH="0" baseline="0" noProof="0" dirty="0" smtClean="0">
                <a:ln>
                  <a:noFill/>
                </a:ln>
                <a:solidFill>
                  <a:schemeClr val="tx1"/>
                </a:solidFill>
                <a:effectLst/>
                <a:uLnTx/>
                <a:uFillTx/>
                <a:latin typeface="+mn-lt"/>
                <a:ea typeface="+mn-ea"/>
                <a:cs typeface="+mn-cs"/>
              </a:rPr>
              <a:t>The query is then </a:t>
            </a:r>
            <a:r>
              <a:rPr kumimoji="0" lang="en-US" sz="2200" b="1" i="0" u="none" strike="noStrike" kern="1200" cap="none" spc="0" normalizeH="0" baseline="0" noProof="0" dirty="0" smtClean="0">
                <a:ln>
                  <a:noFill/>
                </a:ln>
                <a:solidFill>
                  <a:srgbClr val="CC3300"/>
                </a:solidFill>
                <a:effectLst/>
                <a:uLnTx/>
                <a:uFillTx/>
                <a:latin typeface="+mn-lt"/>
                <a:ea typeface="+mn-ea"/>
                <a:cs typeface="+mn-cs"/>
              </a:rPr>
              <a:t>processed</a:t>
            </a:r>
            <a:r>
              <a:rPr kumimoji="0" lang="en-US" sz="2200" b="0" i="0" u="none" strike="noStrike" kern="1200" cap="none" spc="0" normalizeH="0" baseline="0" noProof="0" dirty="0" smtClean="0">
                <a:ln>
                  <a:noFill/>
                </a:ln>
                <a:solidFill>
                  <a:schemeClr val="tx1"/>
                </a:solidFill>
                <a:effectLst/>
                <a:uLnTx/>
                <a:uFillTx/>
                <a:latin typeface="+mn-lt"/>
                <a:ea typeface="+mn-ea"/>
                <a:cs typeface="+mn-cs"/>
              </a:rPr>
              <a:t> to obtain the retrieved documents</a:t>
            </a:r>
            <a:endParaRPr kumimoji="0" lang="en-US" sz="2200" b="0" i="0" u="none" strike="noStrike" kern="1200" cap="none" spc="0" normalizeH="0" baseline="0" noProof="0" dirty="0" smtClean="0">
              <a:ln>
                <a:noFill/>
              </a:ln>
              <a:solidFill>
                <a:schemeClr val="tx1"/>
              </a:solidFill>
              <a:effectLst/>
              <a:uLnTx/>
              <a:uFillTx/>
              <a:latin typeface="+mn-lt"/>
              <a:ea typeface="+mn-ea"/>
              <a:cs typeface="+mn-cs"/>
            </a:endParaRPr>
          </a:p>
          <a:p>
            <a:pPr marL="568325" marR="0" lvl="1" indent="-168275" algn="l" defTabSz="914400" rtl="0" eaLnBrk="1" fontAlgn="auto" latinLnBrk="0" hangingPunct="1">
              <a:lnSpc>
                <a:spcPct val="100000"/>
              </a:lnSpc>
              <a:spcBef>
                <a:spcPct val="20000"/>
              </a:spcBef>
              <a:spcAft>
                <a:spcPts val="0"/>
              </a:spcAft>
              <a:buClr>
                <a:schemeClr val="accent1"/>
              </a:buClr>
              <a:buSzPct val="85000"/>
              <a:buFont typeface="Wingdings 2"/>
              <a:buChar char=""/>
              <a:defRPr/>
            </a:pPr>
            <a:r>
              <a:rPr kumimoji="0" lang="en-US" sz="2000" b="0" i="0" u="none" strike="noStrike" kern="1200" cap="none" spc="0" normalizeH="0" baseline="0" noProof="0" dirty="0" smtClean="0">
                <a:ln>
                  <a:noFill/>
                </a:ln>
                <a:solidFill>
                  <a:schemeClr val="tx1"/>
                </a:solidFill>
                <a:effectLst/>
                <a:uLnTx/>
                <a:uFillTx/>
                <a:latin typeface="+mn-lt"/>
                <a:ea typeface="+mn-ea"/>
                <a:cs typeface="+mn-cs"/>
              </a:rPr>
              <a:t>Before the retrieved documents are sent to the user, the retrieved documents are </a:t>
            </a:r>
            <a:r>
              <a:rPr kumimoji="0" lang="en-US" sz="2000" b="1" i="0" u="none" strike="noStrike" kern="1200" cap="none" spc="0" normalizeH="0" baseline="0" noProof="0" dirty="0" smtClean="0">
                <a:ln>
                  <a:noFill/>
                </a:ln>
                <a:solidFill>
                  <a:srgbClr val="CC3300"/>
                </a:solidFill>
                <a:effectLst/>
                <a:uLnTx/>
                <a:uFillTx/>
                <a:latin typeface="+mn-lt"/>
                <a:ea typeface="+mn-ea"/>
                <a:cs typeface="+mn-cs"/>
              </a:rPr>
              <a:t>ranked</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 according to the likelihood of relevance</a:t>
            </a:r>
            <a:endParaRPr kumimoji="0" lang="en-US" sz="2000" b="0" i="0" u="none" strike="noStrike" kern="1200" cap="none" spc="0" normalizeH="0" baseline="0" noProof="0" dirty="0" smtClean="0">
              <a:ln>
                <a:noFill/>
              </a:ln>
              <a:solidFill>
                <a:schemeClr val="tx1"/>
              </a:solidFill>
              <a:effectLst/>
              <a:uLnTx/>
              <a:uFillTx/>
              <a:latin typeface="+mn-lt"/>
              <a:ea typeface="+mn-ea"/>
              <a:cs typeface="+mn-cs"/>
            </a:endParaRPr>
          </a:p>
          <a:p>
            <a:pPr marL="168275" marR="0" lvl="0" indent="-168275" algn="l" defTabSz="914400" rtl="0" eaLnBrk="1" fontAlgn="auto" latinLnBrk="0" hangingPunct="1">
              <a:lnSpc>
                <a:spcPct val="100000"/>
              </a:lnSpc>
              <a:spcBef>
                <a:spcPct val="20000"/>
              </a:spcBef>
              <a:spcAft>
                <a:spcPts val="0"/>
              </a:spcAft>
              <a:buClr>
                <a:schemeClr val="accent3"/>
              </a:buClr>
              <a:buSzPct val="95000"/>
              <a:buFont typeface="Wingdings 2"/>
              <a:buChar char=""/>
              <a:defRPr/>
            </a:pPr>
            <a:r>
              <a:rPr kumimoji="0" lang="en-US" sz="2200" b="0" i="0" u="none" strike="noStrike" kern="1200" cap="none" spc="0" normalizeH="0" baseline="0" noProof="0" dirty="0" smtClean="0">
                <a:ln>
                  <a:noFill/>
                </a:ln>
                <a:solidFill>
                  <a:schemeClr val="tx1"/>
                </a:solidFill>
                <a:effectLst/>
                <a:uLnTx/>
                <a:uFillTx/>
                <a:latin typeface="+mn-lt"/>
                <a:ea typeface="+mn-ea"/>
                <a:cs typeface="+mn-cs"/>
              </a:rPr>
              <a:t>The user then </a:t>
            </a:r>
            <a:r>
              <a:rPr kumimoji="0" lang="en-US" sz="2200" b="1" i="0" u="none" strike="noStrike" kern="1200" cap="none" spc="0" normalizeH="0" baseline="0" noProof="0" dirty="0" smtClean="0">
                <a:ln>
                  <a:noFill/>
                </a:ln>
                <a:solidFill>
                  <a:srgbClr val="CC3300"/>
                </a:solidFill>
                <a:effectLst/>
                <a:uLnTx/>
                <a:uFillTx/>
                <a:latin typeface="+mn-lt"/>
                <a:ea typeface="+mn-ea"/>
                <a:cs typeface="+mn-cs"/>
              </a:rPr>
              <a:t>examines</a:t>
            </a:r>
            <a:r>
              <a:rPr kumimoji="0" lang="en-US" sz="2200" b="0" i="0" u="none" strike="noStrike" kern="1200" cap="none" spc="0" normalizeH="0" baseline="0" noProof="0" dirty="0" smtClean="0">
                <a:ln>
                  <a:noFill/>
                </a:ln>
                <a:solidFill>
                  <a:schemeClr val="tx1"/>
                </a:solidFill>
                <a:effectLst/>
                <a:uLnTx/>
                <a:uFillTx/>
                <a:latin typeface="+mn-lt"/>
                <a:ea typeface="+mn-ea"/>
                <a:cs typeface="+mn-cs"/>
              </a:rPr>
              <a:t> the set of ranked documents in the search for useful information. Two choices for the user: </a:t>
            </a:r>
            <a:endParaRPr kumimoji="0" lang="en-US" sz="2200" b="0" i="0" u="none" strike="noStrike" kern="1200" cap="none" spc="0" normalizeH="0" baseline="0" noProof="0" dirty="0" smtClean="0">
              <a:ln>
                <a:noFill/>
              </a:ln>
              <a:solidFill>
                <a:schemeClr val="tx1"/>
              </a:solidFill>
              <a:effectLst/>
              <a:uLnTx/>
              <a:uFillTx/>
              <a:latin typeface="+mn-lt"/>
              <a:ea typeface="+mn-ea"/>
              <a:cs typeface="+mn-cs"/>
            </a:endParaRPr>
          </a:p>
          <a:p>
            <a:pPr marL="568325" marR="0" lvl="1" indent="-168275" algn="l" defTabSz="914400" rtl="0" eaLnBrk="1" fontAlgn="auto" latinLnBrk="0" hangingPunct="1">
              <a:lnSpc>
                <a:spcPct val="100000"/>
              </a:lnSpc>
              <a:spcBef>
                <a:spcPct val="20000"/>
              </a:spcBef>
              <a:spcAft>
                <a:spcPts val="0"/>
              </a:spcAft>
              <a:buClr>
                <a:schemeClr val="accent1"/>
              </a:buClr>
              <a:buSzPct val="85000"/>
              <a:buFont typeface="Wingdings 2"/>
              <a:buChar char=""/>
              <a:defRPr/>
            </a:pPr>
            <a:r>
              <a:rPr kumimoji="0" lang="en-US" sz="2000" b="0" i="0" u="none" strike="noStrike" kern="1200" cap="none" spc="0" normalizeH="0" baseline="0" noProof="0" dirty="0" smtClean="0">
                <a:ln>
                  <a:noFill/>
                </a:ln>
                <a:solidFill>
                  <a:schemeClr val="tx1"/>
                </a:solidFill>
                <a:effectLst/>
                <a:uLnTx/>
                <a:uFillTx/>
                <a:latin typeface="+mn-lt"/>
                <a:ea typeface="+mn-ea"/>
                <a:cs typeface="+mn-cs"/>
              </a:rPr>
              <a:t>(</a:t>
            </a:r>
            <a:r>
              <a:rPr kumimoji="0" lang="en-US" sz="2000" b="0" i="0" u="none" strike="noStrike" kern="1200" cap="none" spc="0" normalizeH="0" baseline="0" noProof="0" dirty="0" err="1" smtClean="0">
                <a:ln>
                  <a:noFill/>
                </a:ln>
                <a:solidFill>
                  <a:schemeClr val="tx1"/>
                </a:solidFill>
                <a:effectLst/>
                <a:uLnTx/>
                <a:uFillTx/>
                <a:latin typeface="+mn-lt"/>
                <a:ea typeface="+mn-ea"/>
                <a:cs typeface="+mn-cs"/>
              </a:rPr>
              <a:t>i</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 reformulate query, run on entire collection or (ii) reformulate query, run on result set</a:t>
            </a:r>
            <a:endParaRPr kumimoji="0" lang="en-US" sz="2000" b="0" i="0" u="none" strike="noStrike" kern="1200" cap="none" spc="0" normalizeH="0" baseline="0" noProof="0" dirty="0" smtClean="0">
              <a:ln>
                <a:noFill/>
              </a:ln>
              <a:solidFill>
                <a:schemeClr val="tx1"/>
              </a:solidFill>
              <a:effectLst/>
              <a:uLnTx/>
              <a:uFillTx/>
              <a:latin typeface="+mn-lt"/>
              <a:ea typeface="+mn-ea"/>
              <a:cs typeface="+mn-cs"/>
            </a:endParaRPr>
          </a:p>
          <a:p>
            <a:pPr marL="168275" marR="0" lvl="0" indent="-168275" algn="l" defTabSz="914400" rtl="0" eaLnBrk="1" fontAlgn="auto" latinLnBrk="0" hangingPunct="1">
              <a:lnSpc>
                <a:spcPct val="100000"/>
              </a:lnSpc>
              <a:spcBef>
                <a:spcPct val="20000"/>
              </a:spcBef>
              <a:spcAft>
                <a:spcPts val="0"/>
              </a:spcAft>
              <a:buClr>
                <a:schemeClr val="accent3"/>
              </a:buClr>
              <a:buSzPct val="95000"/>
              <a:buFont typeface="Wingdings 2"/>
              <a:buChar char=""/>
              <a:defRPr/>
            </a:pPr>
            <a:r>
              <a:rPr kumimoji="0" lang="en-US" sz="2200" b="0" i="0" u="none" strike="noStrike" kern="1200" cap="none" spc="0" normalizeH="0" baseline="0" noProof="0" dirty="0" smtClean="0">
                <a:ln>
                  <a:noFill/>
                </a:ln>
                <a:solidFill>
                  <a:schemeClr val="tx1"/>
                </a:solidFill>
                <a:effectLst/>
                <a:uLnTx/>
                <a:uFillTx/>
                <a:latin typeface="+mn-lt"/>
                <a:ea typeface="+mn-ea"/>
                <a:cs typeface="+mn-cs"/>
              </a:rPr>
              <a:t>At this point, s/he might pinpoint a subset of the documents seen as definitely of interest and initiate a user </a:t>
            </a:r>
            <a:r>
              <a:rPr kumimoji="0" lang="en-US" sz="2200" b="1" i="0" u="none" strike="noStrike" kern="1200" cap="none" spc="0" normalizeH="0" baseline="0" noProof="0" dirty="0" smtClean="0">
                <a:ln>
                  <a:noFill/>
                </a:ln>
                <a:solidFill>
                  <a:srgbClr val="CC3300"/>
                </a:solidFill>
                <a:effectLst/>
                <a:uLnTx/>
                <a:uFillTx/>
                <a:latin typeface="+mn-lt"/>
                <a:ea typeface="+mn-ea"/>
                <a:cs typeface="+mn-cs"/>
              </a:rPr>
              <a:t>feedback</a:t>
            </a:r>
            <a:r>
              <a:rPr kumimoji="0" lang="en-US" sz="2200" b="0" i="0" u="none" strike="noStrike" kern="1200" cap="none" spc="0" normalizeH="0" baseline="0" noProof="0" dirty="0" smtClean="0">
                <a:ln>
                  <a:noFill/>
                </a:ln>
                <a:solidFill>
                  <a:schemeClr val="tx1"/>
                </a:solidFill>
                <a:effectLst/>
                <a:uLnTx/>
                <a:uFillTx/>
                <a:latin typeface="+mn-lt"/>
                <a:ea typeface="+mn-ea"/>
                <a:cs typeface="+mn-cs"/>
              </a:rPr>
              <a:t> cycle</a:t>
            </a:r>
            <a:endParaRPr kumimoji="0" lang="en-US" sz="2200" b="0" i="0" u="none" strike="noStrike" kern="1200" cap="none" spc="0" normalizeH="0" baseline="0" noProof="0" dirty="0" smtClean="0">
              <a:ln>
                <a:noFill/>
              </a:ln>
              <a:solidFill>
                <a:schemeClr val="tx1"/>
              </a:solidFill>
              <a:effectLst/>
              <a:uLnTx/>
              <a:uFillTx/>
              <a:latin typeface="+mn-lt"/>
              <a:ea typeface="+mn-ea"/>
              <a:cs typeface="+mn-cs"/>
            </a:endParaRPr>
          </a:p>
          <a:p>
            <a:pPr marL="463550" marR="0" lvl="1" indent="-180975" algn="l" defTabSz="914400" rtl="0" eaLnBrk="1" fontAlgn="auto" latinLnBrk="0" hangingPunct="1">
              <a:lnSpc>
                <a:spcPct val="100000"/>
              </a:lnSpc>
              <a:spcBef>
                <a:spcPct val="20000"/>
              </a:spcBef>
              <a:spcAft>
                <a:spcPts val="0"/>
              </a:spcAft>
              <a:buClr>
                <a:schemeClr val="accent1"/>
              </a:buClr>
              <a:buSzPct val="85000"/>
              <a:buFont typeface="Wingdings 2"/>
              <a:buChar char=""/>
              <a:defRPr/>
            </a:pPr>
            <a:r>
              <a:rPr kumimoji="0" lang="en-US" sz="2200" b="0" i="0" u="none" strike="noStrike" kern="1200" cap="none" spc="0" normalizeH="0" baseline="0" noProof="0" dirty="0" smtClean="0">
                <a:ln>
                  <a:noFill/>
                </a:ln>
                <a:solidFill>
                  <a:schemeClr val="tx1"/>
                </a:solidFill>
                <a:effectLst/>
                <a:uLnTx/>
                <a:uFillTx/>
                <a:latin typeface="+mn-lt"/>
                <a:ea typeface="+mn-ea"/>
                <a:cs typeface="+mn-cs"/>
              </a:rPr>
              <a:t>In such a cycle, the system uses the documents selected by the user to change the query formulation. </a:t>
            </a:r>
            <a:endParaRPr kumimoji="0" lang="en-US" sz="2200" b="0" i="0" u="none" strike="noStrike" kern="1200" cap="none" spc="0" normalizeH="0" baseline="0" noProof="0" dirty="0" smtClean="0">
              <a:ln>
                <a:noFill/>
              </a:ln>
              <a:solidFill>
                <a:schemeClr val="tx1"/>
              </a:solidFill>
              <a:effectLst/>
              <a:uLnTx/>
              <a:uFillTx/>
              <a:latin typeface="+mn-lt"/>
              <a:ea typeface="+mn-ea"/>
              <a:cs typeface="+mn-cs"/>
            </a:endParaRPr>
          </a:p>
          <a:p>
            <a:pPr marL="463550" marR="0" lvl="1" indent="-180975" algn="l" defTabSz="914400" rtl="0" eaLnBrk="1" fontAlgn="auto" latinLnBrk="0" hangingPunct="1">
              <a:lnSpc>
                <a:spcPct val="100000"/>
              </a:lnSpc>
              <a:spcBef>
                <a:spcPct val="20000"/>
              </a:spcBef>
              <a:spcAft>
                <a:spcPts val="0"/>
              </a:spcAft>
              <a:buClr>
                <a:schemeClr val="accent1"/>
              </a:buClr>
              <a:buSzPct val="85000"/>
              <a:buFont typeface="Wingdings 2"/>
              <a:buChar char=""/>
              <a:defRPr/>
            </a:pPr>
            <a:r>
              <a:rPr kumimoji="0" lang="en-US" sz="2200" b="0" i="0" u="none" strike="noStrike" kern="1200" cap="none" spc="0" normalizeH="0" baseline="0" noProof="0" dirty="0" smtClean="0">
                <a:ln>
                  <a:noFill/>
                </a:ln>
                <a:solidFill>
                  <a:schemeClr val="tx1"/>
                </a:solidFill>
                <a:effectLst/>
                <a:uLnTx/>
                <a:uFillTx/>
                <a:latin typeface="+mn-lt"/>
                <a:ea typeface="+mn-ea"/>
                <a:cs typeface="+mn-cs"/>
              </a:rPr>
              <a:t>Hopefully, this modified query is a better representation of the real user need</a:t>
            </a:r>
            <a:endParaRPr kumimoji="0" lang="en-US" sz="22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1202" name="Group 44"/>
          <p:cNvGrpSpPr/>
          <p:nvPr/>
        </p:nvGrpSpPr>
        <p:grpSpPr>
          <a:xfrm>
            <a:off x="152400" y="1014413"/>
            <a:ext cx="8780463" cy="5614987"/>
            <a:chOff x="211138" y="1195388"/>
            <a:chExt cx="8780462" cy="5614987"/>
          </a:xfrm>
        </p:grpSpPr>
        <p:sp>
          <p:nvSpPr>
            <p:cNvPr id="51204" name="Text Box 3"/>
            <p:cNvSpPr txBox="1"/>
            <p:nvPr/>
          </p:nvSpPr>
          <p:spPr>
            <a:xfrm>
              <a:off x="3738563" y="1203325"/>
              <a:ext cx="1443037" cy="777875"/>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lgn="ctr" defTabSz="914400">
                <a:spcBef>
                  <a:spcPct val="0"/>
                </a:spcBef>
                <a:buClr>
                  <a:srgbClr val="009999"/>
                </a:buClr>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pt-BR" altLang="x-none" sz="2000" b="1" dirty="0">
                  <a:latin typeface="Arial" panose="020B0604020202020204" pitchFamily="34" charset="0"/>
                </a:rPr>
                <a:t>User</a:t>
              </a:r>
              <a:endParaRPr lang="pt-BR" altLang="x-none" sz="2000" b="1" dirty="0">
                <a:latin typeface="Arial" panose="020B0604020202020204" pitchFamily="34" charset="0"/>
              </a:endParaRPr>
            </a:p>
            <a:p>
              <a:pPr marL="0" lvl="0" indent="0" algn="ctr" defTabSz="914400">
                <a:spcBef>
                  <a:spcPct val="0"/>
                </a:spcBef>
                <a:buClr>
                  <a:srgbClr val="009999"/>
                </a:buClr>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pt-BR" altLang="x-none" sz="2000" b="1" dirty="0">
                  <a:latin typeface="Arial" panose="020B0604020202020204" pitchFamily="34" charset="0"/>
                </a:rPr>
                <a:t>Interface</a:t>
              </a:r>
              <a:endParaRPr lang="pt-BR" altLang="x-none" sz="2000" b="1" dirty="0">
                <a:latin typeface="Arial" panose="020B0604020202020204" pitchFamily="34" charset="0"/>
              </a:endParaRPr>
            </a:p>
          </p:txBody>
        </p:sp>
        <p:sp>
          <p:nvSpPr>
            <p:cNvPr id="51205" name="Text Box 4"/>
            <p:cNvSpPr txBox="1"/>
            <p:nvPr/>
          </p:nvSpPr>
          <p:spPr>
            <a:xfrm>
              <a:off x="1835150" y="2459038"/>
              <a:ext cx="4719638" cy="436562"/>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lgn="ctr">
                <a:spcBef>
                  <a:spcPct val="0"/>
                </a:spcBef>
                <a:buClrTx/>
                <a:buSzTx/>
                <a:buFontTx/>
                <a:buNone/>
              </a:pPr>
              <a:r>
                <a:rPr lang="pt-BR" altLang="x-none" sz="1000" dirty="0">
                  <a:latin typeface="Times New Roman" panose="02020603050405020304" pitchFamily="18" charset="0"/>
                  <a:ea typeface="PMingLiU" pitchFamily="18" charset="-120"/>
                </a:rPr>
                <a:t>                             </a:t>
              </a:r>
              <a:r>
                <a:rPr lang="pt-BR" altLang="x-none" sz="2000" b="1" dirty="0">
                  <a:latin typeface="Arial" panose="020B0604020202020204" pitchFamily="34" charset="0"/>
                </a:rPr>
                <a:t>Text   Operations</a:t>
              </a:r>
              <a:endParaRPr lang="pt-BR" altLang="x-none" sz="2000" b="1" dirty="0">
                <a:latin typeface="Arial" panose="020B0604020202020204" pitchFamily="34" charset="0"/>
              </a:endParaRPr>
            </a:p>
          </p:txBody>
        </p:sp>
        <p:sp>
          <p:nvSpPr>
            <p:cNvPr id="51206" name="Text Box 5"/>
            <p:cNvSpPr txBox="1"/>
            <p:nvPr/>
          </p:nvSpPr>
          <p:spPr>
            <a:xfrm>
              <a:off x="1917700" y="3479800"/>
              <a:ext cx="2273300" cy="863600"/>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lgn="ctr" defTabSz="914400">
                <a:spcBef>
                  <a:spcPct val="0"/>
                </a:spcBef>
                <a:buClr>
                  <a:srgbClr val="009999"/>
                </a:buClr>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pt-BR" altLang="x-none" sz="2000" b="1" dirty="0">
                  <a:latin typeface="Arial" panose="020B0604020202020204" pitchFamily="34" charset="0"/>
                </a:rPr>
                <a:t>Query Language &amp; Operations</a:t>
              </a:r>
              <a:endParaRPr lang="pt-BR" altLang="x-none" sz="2000" b="1" dirty="0">
                <a:latin typeface="Arial" panose="020B0604020202020204" pitchFamily="34" charset="0"/>
              </a:endParaRPr>
            </a:p>
          </p:txBody>
        </p:sp>
        <p:sp>
          <p:nvSpPr>
            <p:cNvPr id="51207" name="Text Box 6"/>
            <p:cNvSpPr txBox="1"/>
            <p:nvPr/>
          </p:nvSpPr>
          <p:spPr>
            <a:xfrm>
              <a:off x="5105400" y="3636963"/>
              <a:ext cx="1449388" cy="549275"/>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lgn="ctr" defTabSz="914400">
                <a:spcBef>
                  <a:spcPct val="0"/>
                </a:spcBef>
                <a:buClr>
                  <a:srgbClr val="009999"/>
                </a:buClr>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pt-BR" altLang="x-none" sz="2000" b="1" dirty="0">
                  <a:latin typeface="Arial" panose="020B0604020202020204" pitchFamily="34" charset="0"/>
                </a:rPr>
                <a:t>Indexing</a:t>
              </a:r>
              <a:endParaRPr lang="pt-BR" altLang="x-none" sz="2000" b="1" dirty="0">
                <a:latin typeface="Arial" panose="020B0604020202020204" pitchFamily="34" charset="0"/>
              </a:endParaRPr>
            </a:p>
          </p:txBody>
        </p:sp>
        <p:sp>
          <p:nvSpPr>
            <p:cNvPr id="51208" name="Text Box 7"/>
            <p:cNvSpPr txBox="1"/>
            <p:nvPr/>
          </p:nvSpPr>
          <p:spPr>
            <a:xfrm>
              <a:off x="1447800" y="4892675"/>
              <a:ext cx="1711325" cy="549275"/>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lgn="ctr" defTabSz="914400">
                <a:spcBef>
                  <a:spcPct val="0"/>
                </a:spcBef>
                <a:buClr>
                  <a:srgbClr val="009999"/>
                </a:buClr>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pt-BR" altLang="x-none" sz="2000" b="1" dirty="0">
                  <a:latin typeface="Arial" panose="020B0604020202020204" pitchFamily="34" charset="0"/>
                </a:rPr>
                <a:t>Searching</a:t>
              </a:r>
              <a:endParaRPr lang="pt-BR" altLang="x-none" sz="2000" b="1" dirty="0">
                <a:latin typeface="Arial" panose="020B0604020202020204" pitchFamily="34" charset="0"/>
              </a:endParaRPr>
            </a:p>
          </p:txBody>
        </p:sp>
        <p:sp>
          <p:nvSpPr>
            <p:cNvPr id="51209" name="Text Box 8"/>
            <p:cNvSpPr txBox="1"/>
            <p:nvPr/>
          </p:nvSpPr>
          <p:spPr>
            <a:xfrm>
              <a:off x="1917700" y="6226175"/>
              <a:ext cx="1587500" cy="47148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lgn="ctr" defTabSz="914400">
                <a:spcBef>
                  <a:spcPct val="0"/>
                </a:spcBef>
                <a:buClr>
                  <a:srgbClr val="009999"/>
                </a:buClr>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pt-BR" altLang="x-none" sz="2000" b="1" dirty="0">
                  <a:latin typeface="Arial" panose="020B0604020202020204" pitchFamily="34" charset="0"/>
                </a:rPr>
                <a:t>Ranking</a:t>
              </a:r>
              <a:endParaRPr lang="pt-BR" altLang="x-none" sz="2000" b="1" dirty="0">
                <a:latin typeface="Arial" panose="020B0604020202020204" pitchFamily="34" charset="0"/>
              </a:endParaRPr>
            </a:p>
          </p:txBody>
        </p:sp>
        <p:sp>
          <p:nvSpPr>
            <p:cNvPr id="51210" name="Text Box 9"/>
            <p:cNvSpPr txBox="1"/>
            <p:nvPr/>
          </p:nvSpPr>
          <p:spPr>
            <a:xfrm>
              <a:off x="5486400" y="4970463"/>
              <a:ext cx="901700" cy="471487"/>
            </a:xfrm>
            <a:prstGeom prst="rect">
              <a:avLst/>
            </a:prstGeom>
            <a:solidFill>
              <a:srgbClr val="FFFFFF"/>
            </a:solid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lgn="ctr" defTabSz="914400">
                <a:spcBef>
                  <a:spcPct val="0"/>
                </a:spcBef>
                <a:buClr>
                  <a:srgbClr val="009999"/>
                </a:buClr>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pt-BR" altLang="x-none" sz="2000" b="1" dirty="0">
                  <a:latin typeface="Arial" panose="020B0604020202020204" pitchFamily="34" charset="0"/>
                </a:rPr>
                <a:t>Index</a:t>
              </a:r>
              <a:endParaRPr lang="pt-BR" altLang="x-none" sz="2000" b="1" dirty="0">
                <a:latin typeface="Arial" panose="020B0604020202020204" pitchFamily="34" charset="0"/>
              </a:endParaRPr>
            </a:p>
          </p:txBody>
        </p:sp>
        <p:sp>
          <p:nvSpPr>
            <p:cNvPr id="51211" name="Oval 10"/>
            <p:cNvSpPr/>
            <p:nvPr/>
          </p:nvSpPr>
          <p:spPr>
            <a:xfrm>
              <a:off x="5311775" y="4735513"/>
              <a:ext cx="1325563" cy="86360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sz="1800" dirty="0">
                <a:latin typeface="Arial" panose="020B0604020202020204" pitchFamily="34" charset="0"/>
              </a:endParaRPr>
            </a:p>
          </p:txBody>
        </p:sp>
        <p:sp>
          <p:nvSpPr>
            <p:cNvPr id="51212" name="Line 11"/>
            <p:cNvSpPr/>
            <p:nvPr/>
          </p:nvSpPr>
          <p:spPr>
            <a:xfrm flipH="1">
              <a:off x="2994025" y="1665288"/>
              <a:ext cx="744538" cy="0"/>
            </a:xfrm>
            <a:prstGeom prst="line">
              <a:avLst/>
            </a:prstGeom>
            <a:ln w="9525" cap="flat" cmpd="sng">
              <a:solidFill>
                <a:srgbClr val="000000"/>
              </a:solidFill>
              <a:prstDash val="solid"/>
              <a:headEnd type="none" w="med" len="med"/>
              <a:tailEnd type="none" w="med" len="med"/>
            </a:ln>
          </p:spPr>
        </p:sp>
        <p:sp>
          <p:nvSpPr>
            <p:cNvPr id="51213" name="Line 12"/>
            <p:cNvSpPr/>
            <p:nvPr/>
          </p:nvSpPr>
          <p:spPr>
            <a:xfrm>
              <a:off x="2438400" y="2819400"/>
              <a:ext cx="0" cy="660400"/>
            </a:xfrm>
            <a:prstGeom prst="line">
              <a:avLst/>
            </a:prstGeom>
            <a:ln w="9525" cap="flat" cmpd="sng">
              <a:solidFill>
                <a:srgbClr val="000000"/>
              </a:solidFill>
              <a:prstDash val="solid"/>
              <a:headEnd type="none" w="med" len="med"/>
              <a:tailEnd type="triangle" w="lg" len="med"/>
            </a:ln>
          </p:spPr>
        </p:sp>
        <p:sp>
          <p:nvSpPr>
            <p:cNvPr id="51214" name="Line 13"/>
            <p:cNvSpPr/>
            <p:nvPr/>
          </p:nvSpPr>
          <p:spPr>
            <a:xfrm>
              <a:off x="5819775" y="2851150"/>
              <a:ext cx="0" cy="785813"/>
            </a:xfrm>
            <a:prstGeom prst="line">
              <a:avLst/>
            </a:prstGeom>
            <a:ln w="9525" cap="flat" cmpd="sng">
              <a:solidFill>
                <a:srgbClr val="000000"/>
              </a:solidFill>
              <a:prstDash val="solid"/>
              <a:headEnd type="none" w="med" len="med"/>
              <a:tailEnd type="triangle" w="lg" len="med"/>
            </a:ln>
          </p:spPr>
        </p:sp>
        <p:sp>
          <p:nvSpPr>
            <p:cNvPr id="51215" name="Line 14"/>
            <p:cNvSpPr/>
            <p:nvPr/>
          </p:nvSpPr>
          <p:spPr>
            <a:xfrm>
              <a:off x="2438400" y="4186238"/>
              <a:ext cx="0" cy="706437"/>
            </a:xfrm>
            <a:prstGeom prst="line">
              <a:avLst/>
            </a:prstGeom>
            <a:ln w="9525" cap="flat" cmpd="sng">
              <a:solidFill>
                <a:srgbClr val="000000"/>
              </a:solidFill>
              <a:prstDash val="solid"/>
              <a:headEnd type="none" w="med" len="med"/>
              <a:tailEnd type="triangle" w="lg" len="med"/>
            </a:ln>
          </p:spPr>
        </p:sp>
        <p:sp>
          <p:nvSpPr>
            <p:cNvPr id="51216" name="Line 15"/>
            <p:cNvSpPr/>
            <p:nvPr/>
          </p:nvSpPr>
          <p:spPr>
            <a:xfrm>
              <a:off x="5819775" y="4186238"/>
              <a:ext cx="0" cy="549275"/>
            </a:xfrm>
            <a:prstGeom prst="line">
              <a:avLst/>
            </a:prstGeom>
            <a:ln w="9525" cap="flat" cmpd="sng">
              <a:solidFill>
                <a:srgbClr val="000000"/>
              </a:solidFill>
              <a:prstDash val="solid"/>
              <a:headEnd type="none" w="med" len="med"/>
              <a:tailEnd type="triangle" w="lg" len="med"/>
            </a:ln>
          </p:spPr>
        </p:sp>
        <p:sp>
          <p:nvSpPr>
            <p:cNvPr id="51217" name="Line 16"/>
            <p:cNvSpPr/>
            <p:nvPr/>
          </p:nvSpPr>
          <p:spPr>
            <a:xfrm>
              <a:off x="2438400" y="5441950"/>
              <a:ext cx="0" cy="784225"/>
            </a:xfrm>
            <a:prstGeom prst="line">
              <a:avLst/>
            </a:prstGeom>
            <a:ln w="9525" cap="flat" cmpd="sng">
              <a:solidFill>
                <a:srgbClr val="000000"/>
              </a:solidFill>
              <a:prstDash val="solid"/>
              <a:headEnd type="none" w="med" len="med"/>
              <a:tailEnd type="triangle" w="lg" len="med"/>
            </a:ln>
          </p:spPr>
        </p:sp>
        <p:sp>
          <p:nvSpPr>
            <p:cNvPr id="51218" name="Line 17"/>
            <p:cNvSpPr/>
            <p:nvPr/>
          </p:nvSpPr>
          <p:spPr>
            <a:xfrm flipH="1">
              <a:off x="3159125" y="5141913"/>
              <a:ext cx="2152650" cy="0"/>
            </a:xfrm>
            <a:prstGeom prst="line">
              <a:avLst/>
            </a:prstGeom>
            <a:ln w="9525" cap="flat" cmpd="sng">
              <a:solidFill>
                <a:srgbClr val="000000"/>
              </a:solidFill>
              <a:prstDash val="lgDash"/>
              <a:headEnd type="none" w="med" len="med"/>
              <a:tailEnd type="triangle" w="lg" len="med"/>
            </a:ln>
          </p:spPr>
        </p:sp>
        <p:sp>
          <p:nvSpPr>
            <p:cNvPr id="51219" name="Line 18"/>
            <p:cNvSpPr/>
            <p:nvPr/>
          </p:nvSpPr>
          <p:spPr>
            <a:xfrm flipH="1">
              <a:off x="228600" y="6440488"/>
              <a:ext cx="1689100" cy="0"/>
            </a:xfrm>
            <a:prstGeom prst="line">
              <a:avLst/>
            </a:prstGeom>
            <a:ln w="9525" cap="flat" cmpd="sng">
              <a:solidFill>
                <a:srgbClr val="000000"/>
              </a:solidFill>
              <a:prstDash val="lgDash"/>
              <a:headEnd type="none" w="med" len="med"/>
              <a:tailEnd type="none" w="lg" len="med"/>
            </a:ln>
          </p:spPr>
        </p:sp>
        <p:sp>
          <p:nvSpPr>
            <p:cNvPr id="51220" name="Line 19"/>
            <p:cNvSpPr/>
            <p:nvPr/>
          </p:nvSpPr>
          <p:spPr>
            <a:xfrm flipV="1">
              <a:off x="228600" y="1349375"/>
              <a:ext cx="0" cy="5091113"/>
            </a:xfrm>
            <a:prstGeom prst="line">
              <a:avLst/>
            </a:prstGeom>
            <a:ln w="9525" cap="flat" cmpd="sng">
              <a:solidFill>
                <a:srgbClr val="000000"/>
              </a:solidFill>
              <a:prstDash val="lgDash"/>
              <a:headEnd type="none" w="med" len="med"/>
              <a:tailEnd type="none" w="lg" len="med"/>
            </a:ln>
          </p:spPr>
        </p:sp>
        <p:sp>
          <p:nvSpPr>
            <p:cNvPr id="51221" name="Line 20"/>
            <p:cNvSpPr/>
            <p:nvPr/>
          </p:nvSpPr>
          <p:spPr>
            <a:xfrm>
              <a:off x="228600" y="1349375"/>
              <a:ext cx="3509963" cy="0"/>
            </a:xfrm>
            <a:prstGeom prst="line">
              <a:avLst/>
            </a:prstGeom>
            <a:ln w="9525" cap="flat" cmpd="sng">
              <a:solidFill>
                <a:srgbClr val="000000"/>
              </a:solidFill>
              <a:prstDash val="lgDash"/>
              <a:headEnd type="none" w="med" len="med"/>
              <a:tailEnd type="triangle" w="lg" len="med"/>
            </a:ln>
          </p:spPr>
        </p:sp>
        <p:sp>
          <p:nvSpPr>
            <p:cNvPr id="51222" name="Line 21"/>
            <p:cNvSpPr/>
            <p:nvPr/>
          </p:nvSpPr>
          <p:spPr>
            <a:xfrm flipH="1">
              <a:off x="1068388" y="1517650"/>
              <a:ext cx="2670175" cy="0"/>
            </a:xfrm>
            <a:prstGeom prst="line">
              <a:avLst/>
            </a:prstGeom>
            <a:ln w="9525" cap="flat" cmpd="sng">
              <a:solidFill>
                <a:srgbClr val="000000"/>
              </a:solidFill>
              <a:prstDash val="lgDash"/>
              <a:headEnd type="none" w="med" len="med"/>
              <a:tailEnd type="none" w="lg" len="med"/>
            </a:ln>
          </p:spPr>
        </p:sp>
        <p:sp>
          <p:nvSpPr>
            <p:cNvPr id="51223" name="Line 22"/>
            <p:cNvSpPr/>
            <p:nvPr/>
          </p:nvSpPr>
          <p:spPr>
            <a:xfrm>
              <a:off x="1068388" y="3822700"/>
              <a:ext cx="849312" cy="0"/>
            </a:xfrm>
            <a:prstGeom prst="line">
              <a:avLst/>
            </a:prstGeom>
            <a:ln w="9525" cap="flat" cmpd="sng">
              <a:solidFill>
                <a:srgbClr val="000000"/>
              </a:solidFill>
              <a:prstDash val="lgDash"/>
              <a:headEnd type="none" w="med" len="med"/>
              <a:tailEnd type="triangle" w="lg" len="med"/>
            </a:ln>
          </p:spPr>
        </p:sp>
        <p:sp>
          <p:nvSpPr>
            <p:cNvPr id="51224" name="Line 23"/>
            <p:cNvSpPr/>
            <p:nvPr/>
          </p:nvSpPr>
          <p:spPr>
            <a:xfrm>
              <a:off x="1068388" y="1517650"/>
              <a:ext cx="0" cy="2305050"/>
            </a:xfrm>
            <a:prstGeom prst="line">
              <a:avLst/>
            </a:prstGeom>
            <a:ln w="9525" cap="flat" cmpd="sng">
              <a:solidFill>
                <a:srgbClr val="000000"/>
              </a:solidFill>
              <a:prstDash val="lgDash"/>
              <a:headEnd type="none" w="med" len="med"/>
              <a:tailEnd type="none" w="lg" len="med"/>
            </a:ln>
          </p:spPr>
        </p:sp>
        <p:sp>
          <p:nvSpPr>
            <p:cNvPr id="51225" name="Line 24"/>
            <p:cNvSpPr/>
            <p:nvPr/>
          </p:nvSpPr>
          <p:spPr>
            <a:xfrm>
              <a:off x="2994025" y="1665288"/>
              <a:ext cx="0" cy="793750"/>
            </a:xfrm>
            <a:prstGeom prst="line">
              <a:avLst/>
            </a:prstGeom>
            <a:ln w="9525" cap="flat" cmpd="sng">
              <a:solidFill>
                <a:srgbClr val="000000"/>
              </a:solidFill>
              <a:prstDash val="solid"/>
              <a:headEnd type="none" w="med" len="med"/>
              <a:tailEnd type="triangle" w="lg" len="med"/>
            </a:ln>
          </p:spPr>
        </p:sp>
        <p:sp>
          <p:nvSpPr>
            <p:cNvPr id="51226" name="Text Box 25"/>
            <p:cNvSpPr txBox="1"/>
            <p:nvPr/>
          </p:nvSpPr>
          <p:spPr>
            <a:xfrm>
              <a:off x="6845300" y="1800225"/>
              <a:ext cx="839788" cy="461963"/>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defTabSz="914400">
                <a:lnSpc>
                  <a:spcPct val="95000"/>
                </a:lnSpc>
                <a:spcBef>
                  <a:spcPct val="0"/>
                </a:spcBef>
                <a:buClr>
                  <a:srgbClr val="009999"/>
                </a:buClr>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pt-BR" altLang="x-none" sz="1800" b="1" dirty="0">
                  <a:latin typeface="Arial" panose="020B0604020202020204" pitchFamily="34" charset="0"/>
                </a:rPr>
                <a:t>Text</a:t>
              </a:r>
              <a:endParaRPr lang="pt-BR" altLang="x-none" sz="1800" b="1" dirty="0">
                <a:latin typeface="Arial" panose="020B0604020202020204" pitchFamily="34" charset="0"/>
              </a:endParaRPr>
            </a:p>
          </p:txBody>
        </p:sp>
        <p:sp>
          <p:nvSpPr>
            <p:cNvPr id="51227" name="Text Box 26"/>
            <p:cNvSpPr txBox="1"/>
            <p:nvPr/>
          </p:nvSpPr>
          <p:spPr>
            <a:xfrm>
              <a:off x="1676400" y="4356100"/>
              <a:ext cx="895350" cy="369888"/>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defTabSz="914400">
                <a:lnSpc>
                  <a:spcPct val="95000"/>
                </a:lnSpc>
                <a:spcBef>
                  <a:spcPct val="0"/>
                </a:spcBef>
                <a:buClr>
                  <a:srgbClr val="009999"/>
                </a:buClr>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pt-BR" altLang="x-none" sz="1800" b="1" dirty="0">
                  <a:latin typeface="Arial" panose="020B0604020202020204" pitchFamily="34" charset="0"/>
                </a:rPr>
                <a:t>Query </a:t>
              </a:r>
              <a:endParaRPr lang="pt-BR" altLang="x-none" sz="1800" b="1" dirty="0">
                <a:latin typeface="Arial" panose="020B0604020202020204" pitchFamily="34" charset="0"/>
              </a:endParaRPr>
            </a:p>
          </p:txBody>
        </p:sp>
        <p:sp>
          <p:nvSpPr>
            <p:cNvPr id="51228" name="Text Box 27"/>
            <p:cNvSpPr txBox="1"/>
            <p:nvPr/>
          </p:nvSpPr>
          <p:spPr>
            <a:xfrm>
              <a:off x="2338388" y="1751013"/>
              <a:ext cx="822325" cy="46672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defTabSz="914400">
                <a:lnSpc>
                  <a:spcPct val="95000"/>
                </a:lnSpc>
                <a:spcBef>
                  <a:spcPct val="0"/>
                </a:spcBef>
                <a:buClr>
                  <a:srgbClr val="009999"/>
                </a:buClr>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pt-BR" altLang="x-none" sz="1800" b="1" dirty="0">
                  <a:latin typeface="Arial" panose="020B0604020202020204" pitchFamily="34" charset="0"/>
                </a:rPr>
                <a:t>User need</a:t>
              </a:r>
              <a:endParaRPr lang="pt-BR" altLang="x-none" sz="1800" b="1" dirty="0">
                <a:latin typeface="Arial" panose="020B0604020202020204" pitchFamily="34" charset="0"/>
              </a:endParaRPr>
            </a:p>
          </p:txBody>
        </p:sp>
        <p:sp>
          <p:nvSpPr>
            <p:cNvPr id="51229" name="Text Box 28"/>
            <p:cNvSpPr txBox="1"/>
            <p:nvPr/>
          </p:nvSpPr>
          <p:spPr>
            <a:xfrm>
              <a:off x="441325" y="3551238"/>
              <a:ext cx="1292225" cy="487362"/>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defTabSz="914400">
                <a:lnSpc>
                  <a:spcPct val="95000"/>
                </a:lnSpc>
                <a:spcBef>
                  <a:spcPct val="0"/>
                </a:spcBef>
                <a:buClr>
                  <a:srgbClr val="009999"/>
                </a:buClr>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pt-BR" altLang="x-none" sz="1800" b="1" dirty="0">
                  <a:latin typeface="Arial" panose="020B0604020202020204" pitchFamily="34" charset="0"/>
                </a:rPr>
                <a:t>User feedback</a:t>
              </a:r>
              <a:endParaRPr lang="pt-BR" altLang="x-none" sz="1800" b="1" dirty="0">
                <a:latin typeface="Arial" panose="020B0604020202020204" pitchFamily="34" charset="0"/>
              </a:endParaRPr>
            </a:p>
          </p:txBody>
        </p:sp>
        <p:sp>
          <p:nvSpPr>
            <p:cNvPr id="51230" name="Text Box 29"/>
            <p:cNvSpPr txBox="1"/>
            <p:nvPr/>
          </p:nvSpPr>
          <p:spPr>
            <a:xfrm>
              <a:off x="211138" y="6392863"/>
              <a:ext cx="1979612" cy="417512"/>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defTabSz="914400">
                <a:lnSpc>
                  <a:spcPct val="95000"/>
                </a:lnSpc>
                <a:spcBef>
                  <a:spcPct val="0"/>
                </a:spcBef>
                <a:buClr>
                  <a:srgbClr val="009999"/>
                </a:buClr>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pt-BR" altLang="x-none" sz="1800" b="1" dirty="0">
                  <a:latin typeface="Arial" panose="020B0604020202020204" pitchFamily="34" charset="0"/>
                </a:rPr>
                <a:t>Ranked docs </a:t>
              </a:r>
              <a:endParaRPr lang="pt-BR" altLang="x-none" sz="1800" b="1" dirty="0">
                <a:latin typeface="Arial" panose="020B0604020202020204" pitchFamily="34" charset="0"/>
              </a:endParaRPr>
            </a:p>
          </p:txBody>
        </p:sp>
        <p:sp>
          <p:nvSpPr>
            <p:cNvPr id="51231" name="Text Box 30"/>
            <p:cNvSpPr txBox="1"/>
            <p:nvPr/>
          </p:nvSpPr>
          <p:spPr>
            <a:xfrm>
              <a:off x="1289050" y="5599113"/>
              <a:ext cx="1960563" cy="471487"/>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defTabSz="914400">
                <a:lnSpc>
                  <a:spcPct val="95000"/>
                </a:lnSpc>
                <a:spcBef>
                  <a:spcPct val="0"/>
                </a:spcBef>
                <a:buClr>
                  <a:srgbClr val="009999"/>
                </a:buClr>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pt-BR" altLang="x-none" sz="1800" b="1" dirty="0">
                  <a:latin typeface="Arial" panose="020B0604020202020204" pitchFamily="34" charset="0"/>
                </a:rPr>
                <a:t>Retrieved docs</a:t>
              </a:r>
              <a:endParaRPr lang="pt-BR" altLang="x-none" sz="1800" b="1" dirty="0">
                <a:latin typeface="Arial" panose="020B0604020202020204" pitchFamily="34" charset="0"/>
              </a:endParaRPr>
            </a:p>
          </p:txBody>
        </p:sp>
        <p:sp>
          <p:nvSpPr>
            <p:cNvPr id="51232" name="Text Box 31"/>
            <p:cNvSpPr txBox="1"/>
            <p:nvPr/>
          </p:nvSpPr>
          <p:spPr>
            <a:xfrm>
              <a:off x="4927600" y="3019425"/>
              <a:ext cx="1598613" cy="41910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defTabSz="914400">
                <a:lnSpc>
                  <a:spcPct val="95000"/>
                </a:lnSpc>
                <a:spcBef>
                  <a:spcPct val="0"/>
                </a:spcBef>
                <a:buClr>
                  <a:srgbClr val="009999"/>
                </a:buClr>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pt-BR" altLang="x-none" sz="1800" b="1" dirty="0">
                  <a:latin typeface="Arial" panose="020B0604020202020204" pitchFamily="34" charset="0"/>
                </a:rPr>
                <a:t>Logical view</a:t>
              </a:r>
              <a:endParaRPr lang="pt-BR" altLang="x-none" sz="1800" b="1" dirty="0">
                <a:latin typeface="Arial" panose="020B0604020202020204" pitchFamily="34" charset="0"/>
              </a:endParaRPr>
            </a:p>
          </p:txBody>
        </p:sp>
        <p:sp>
          <p:nvSpPr>
            <p:cNvPr id="51233" name="Text Box 32"/>
            <p:cNvSpPr txBox="1"/>
            <p:nvPr/>
          </p:nvSpPr>
          <p:spPr>
            <a:xfrm>
              <a:off x="1643063" y="2913063"/>
              <a:ext cx="1924050" cy="41910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defTabSz="914400">
                <a:lnSpc>
                  <a:spcPct val="95000"/>
                </a:lnSpc>
                <a:spcBef>
                  <a:spcPct val="0"/>
                </a:spcBef>
                <a:buClr>
                  <a:srgbClr val="009999"/>
                </a:buClr>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pt-BR" altLang="x-none" sz="1800" b="1" dirty="0">
                  <a:latin typeface="Arial" panose="020B0604020202020204" pitchFamily="34" charset="0"/>
                </a:rPr>
                <a:t>logical view</a:t>
              </a:r>
              <a:endParaRPr lang="pt-BR" altLang="x-none" sz="1800" b="1" dirty="0">
                <a:latin typeface="Arial" panose="020B0604020202020204" pitchFamily="34" charset="0"/>
              </a:endParaRPr>
            </a:p>
          </p:txBody>
        </p:sp>
        <p:sp>
          <p:nvSpPr>
            <p:cNvPr id="51234" name="Text Box 33"/>
            <p:cNvSpPr txBox="1"/>
            <p:nvPr/>
          </p:nvSpPr>
          <p:spPr>
            <a:xfrm>
              <a:off x="4826000" y="4276725"/>
              <a:ext cx="1497013" cy="41592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defTabSz="914400">
                <a:lnSpc>
                  <a:spcPct val="95000"/>
                </a:lnSpc>
                <a:spcBef>
                  <a:spcPct val="0"/>
                </a:spcBef>
                <a:buClr>
                  <a:srgbClr val="009999"/>
                </a:buClr>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pt-BR" altLang="x-none" sz="1800" b="1" dirty="0">
                  <a:latin typeface="Arial" panose="020B0604020202020204" pitchFamily="34" charset="0"/>
                </a:rPr>
                <a:t>Inverted file</a:t>
              </a:r>
              <a:endParaRPr lang="pt-BR" altLang="x-none" sz="1800" b="1" dirty="0">
                <a:latin typeface="Arial" panose="020B0604020202020204" pitchFamily="34" charset="0"/>
              </a:endParaRPr>
            </a:p>
          </p:txBody>
        </p:sp>
        <p:sp>
          <p:nvSpPr>
            <p:cNvPr id="51235" name="Text Box 34"/>
            <p:cNvSpPr txBox="1"/>
            <p:nvPr/>
          </p:nvSpPr>
          <p:spPr>
            <a:xfrm>
              <a:off x="7315200" y="3124200"/>
              <a:ext cx="1676400" cy="1219200"/>
            </a:xfrm>
            <a:prstGeom prst="rect">
              <a:avLst/>
            </a:prstGeom>
            <a:noFill/>
            <a:ln w="9525"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lgn="ctr" defTabSz="914400">
                <a:spcBef>
                  <a:spcPct val="0"/>
                </a:spcBef>
                <a:buClr>
                  <a:srgbClr val="009999"/>
                </a:buClr>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pt-BR" altLang="x-none" sz="2000" b="1" dirty="0">
                  <a:latin typeface="Arial" panose="020B0604020202020204" pitchFamily="34" charset="0"/>
                </a:rPr>
                <a:t>DB manager</a:t>
              </a:r>
              <a:endParaRPr lang="pt-BR" altLang="x-none" sz="2000" b="1" dirty="0">
                <a:latin typeface="Arial" panose="020B0604020202020204" pitchFamily="34" charset="0"/>
              </a:endParaRPr>
            </a:p>
            <a:p>
              <a:pPr marL="0" lvl="0" indent="0" algn="ctr" defTabSz="914400">
                <a:spcBef>
                  <a:spcPct val="0"/>
                </a:spcBef>
                <a:buClr>
                  <a:srgbClr val="009999"/>
                </a:buClr>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pt-BR" altLang="x-none" sz="2000" b="1" dirty="0">
                  <a:latin typeface="Arial" panose="020B0604020202020204" pitchFamily="34" charset="0"/>
                </a:rPr>
                <a:t>Module</a:t>
              </a:r>
              <a:endParaRPr lang="pt-BR" altLang="x-none" sz="2000" b="1" dirty="0">
                <a:latin typeface="Arial" panose="020B0604020202020204" pitchFamily="34" charset="0"/>
              </a:endParaRPr>
            </a:p>
          </p:txBody>
        </p:sp>
        <p:sp>
          <p:nvSpPr>
            <p:cNvPr id="51236" name="Line 35"/>
            <p:cNvSpPr/>
            <p:nvPr/>
          </p:nvSpPr>
          <p:spPr>
            <a:xfrm flipH="1">
              <a:off x="6554788" y="3822700"/>
              <a:ext cx="760412" cy="0"/>
            </a:xfrm>
            <a:prstGeom prst="line">
              <a:avLst/>
            </a:prstGeom>
            <a:ln w="9525" cap="flat" cmpd="sng">
              <a:solidFill>
                <a:srgbClr val="000000"/>
              </a:solidFill>
              <a:prstDash val="solid"/>
              <a:headEnd type="none" w="med" len="med"/>
              <a:tailEnd type="triangle" w="lg" len="med"/>
            </a:ln>
          </p:spPr>
        </p:sp>
        <p:sp>
          <p:nvSpPr>
            <p:cNvPr id="51237" name="AutoShape 42"/>
            <p:cNvSpPr/>
            <p:nvPr/>
          </p:nvSpPr>
          <p:spPr>
            <a:xfrm>
              <a:off x="7578725" y="5211763"/>
              <a:ext cx="1374775" cy="1485900"/>
            </a:xfrm>
            <a:prstGeom prst="can">
              <a:avLst>
                <a:gd name="adj" fmla="val 28532"/>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sz="1800" dirty="0">
                <a:latin typeface="Arial" panose="020B0604020202020204" pitchFamily="34" charset="0"/>
              </a:endParaRPr>
            </a:p>
          </p:txBody>
        </p:sp>
        <p:sp>
          <p:nvSpPr>
            <p:cNvPr id="51238" name="Text Box 43"/>
            <p:cNvSpPr txBox="1"/>
            <p:nvPr/>
          </p:nvSpPr>
          <p:spPr>
            <a:xfrm>
              <a:off x="7620000" y="5638800"/>
              <a:ext cx="1371600" cy="83502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lgn="ctr" defTabSz="914400">
                <a:spcBef>
                  <a:spcPct val="0"/>
                </a:spcBef>
                <a:buClr>
                  <a:srgbClr val="009999"/>
                </a:buClr>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pt-BR" altLang="x-none" sz="2000" b="1" dirty="0">
                  <a:latin typeface="Arial" panose="020B0604020202020204" pitchFamily="34" charset="0"/>
                </a:rPr>
                <a:t>Text Database</a:t>
              </a:r>
              <a:endParaRPr lang="pt-BR" altLang="x-none" sz="2000" b="1" dirty="0">
                <a:latin typeface="Arial" panose="020B0604020202020204" pitchFamily="34" charset="0"/>
              </a:endParaRPr>
            </a:p>
          </p:txBody>
        </p:sp>
        <p:sp>
          <p:nvSpPr>
            <p:cNvPr id="51239" name="Line 44"/>
            <p:cNvSpPr/>
            <p:nvPr/>
          </p:nvSpPr>
          <p:spPr>
            <a:xfrm flipV="1">
              <a:off x="8250238" y="4343400"/>
              <a:ext cx="0" cy="868363"/>
            </a:xfrm>
            <a:prstGeom prst="line">
              <a:avLst/>
            </a:prstGeom>
            <a:ln w="9525" cap="flat" cmpd="sng">
              <a:solidFill>
                <a:srgbClr val="000000"/>
              </a:solidFill>
              <a:prstDash val="solid"/>
              <a:headEnd type="triangle" w="lg" len="med"/>
              <a:tailEnd type="triangle" w="lg" len="med"/>
            </a:ln>
          </p:spPr>
        </p:sp>
        <p:sp>
          <p:nvSpPr>
            <p:cNvPr id="51240" name="Line 45"/>
            <p:cNvSpPr/>
            <p:nvPr/>
          </p:nvSpPr>
          <p:spPr>
            <a:xfrm>
              <a:off x="5819775" y="1830388"/>
              <a:ext cx="0" cy="628650"/>
            </a:xfrm>
            <a:prstGeom prst="line">
              <a:avLst/>
            </a:prstGeom>
            <a:ln w="9525" cap="flat" cmpd="sng">
              <a:solidFill>
                <a:srgbClr val="000000"/>
              </a:solidFill>
              <a:prstDash val="solid"/>
              <a:headEnd type="none" w="med" len="med"/>
              <a:tailEnd type="triangle" w="lg" len="med"/>
            </a:ln>
          </p:spPr>
        </p:sp>
        <p:sp>
          <p:nvSpPr>
            <p:cNvPr id="51241" name="Line 46"/>
            <p:cNvSpPr/>
            <p:nvPr/>
          </p:nvSpPr>
          <p:spPr>
            <a:xfrm flipH="1">
              <a:off x="8229600" y="1517650"/>
              <a:ext cx="20638" cy="1606550"/>
            </a:xfrm>
            <a:prstGeom prst="line">
              <a:avLst/>
            </a:prstGeom>
            <a:ln w="9525" cap="flat" cmpd="sng">
              <a:solidFill>
                <a:srgbClr val="000000"/>
              </a:solidFill>
              <a:prstDash val="solid"/>
              <a:headEnd type="none" w="med" len="med"/>
              <a:tailEnd type="none" w="med" len="med"/>
            </a:ln>
          </p:spPr>
        </p:sp>
        <p:sp>
          <p:nvSpPr>
            <p:cNvPr id="51242" name="Line 47"/>
            <p:cNvSpPr/>
            <p:nvPr/>
          </p:nvSpPr>
          <p:spPr>
            <a:xfrm flipH="1">
              <a:off x="5181600" y="1517650"/>
              <a:ext cx="3068638" cy="6350"/>
            </a:xfrm>
            <a:prstGeom prst="line">
              <a:avLst/>
            </a:prstGeom>
            <a:ln w="9525" cap="flat" cmpd="sng">
              <a:solidFill>
                <a:srgbClr val="000000"/>
              </a:solidFill>
              <a:prstDash val="solid"/>
              <a:headEnd type="none" w="med" len="med"/>
              <a:tailEnd type="triangle" w="lg" len="med"/>
            </a:ln>
          </p:spPr>
        </p:sp>
        <p:sp>
          <p:nvSpPr>
            <p:cNvPr id="51243" name="Line 48"/>
            <p:cNvSpPr/>
            <p:nvPr/>
          </p:nvSpPr>
          <p:spPr>
            <a:xfrm>
              <a:off x="5819775" y="1830388"/>
              <a:ext cx="1938338" cy="0"/>
            </a:xfrm>
            <a:prstGeom prst="line">
              <a:avLst/>
            </a:prstGeom>
            <a:ln w="9525" cap="flat" cmpd="sng">
              <a:solidFill>
                <a:srgbClr val="000000"/>
              </a:solidFill>
              <a:prstDash val="solid"/>
              <a:headEnd type="none" w="med" len="med"/>
              <a:tailEnd type="none" w="med" len="med"/>
            </a:ln>
          </p:spPr>
        </p:sp>
        <p:sp>
          <p:nvSpPr>
            <p:cNvPr id="51244" name="Line 49"/>
            <p:cNvSpPr/>
            <p:nvPr/>
          </p:nvSpPr>
          <p:spPr>
            <a:xfrm>
              <a:off x="7758113" y="1830388"/>
              <a:ext cx="14287" cy="1293812"/>
            </a:xfrm>
            <a:prstGeom prst="line">
              <a:avLst/>
            </a:prstGeom>
            <a:ln w="9525" cap="flat" cmpd="sng">
              <a:solidFill>
                <a:srgbClr val="000000"/>
              </a:solidFill>
              <a:prstDash val="solid"/>
              <a:headEnd type="none" w="med" len="med"/>
              <a:tailEnd type="none" w="med" len="med"/>
            </a:ln>
          </p:spPr>
        </p:sp>
        <p:sp>
          <p:nvSpPr>
            <p:cNvPr id="51245" name="Text Box 50"/>
            <p:cNvSpPr txBox="1"/>
            <p:nvPr/>
          </p:nvSpPr>
          <p:spPr>
            <a:xfrm>
              <a:off x="6856413" y="1195388"/>
              <a:ext cx="839787" cy="461962"/>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defTabSz="914400">
                <a:lnSpc>
                  <a:spcPct val="95000"/>
                </a:lnSpc>
                <a:spcBef>
                  <a:spcPct val="0"/>
                </a:spcBef>
                <a:buClr>
                  <a:srgbClr val="009999"/>
                </a:buClr>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pt-BR" altLang="x-none" sz="1800" b="1" dirty="0">
                  <a:latin typeface="Arial" panose="020B0604020202020204" pitchFamily="34" charset="0"/>
                </a:rPr>
                <a:t>Text</a:t>
              </a:r>
              <a:endParaRPr lang="pt-BR" altLang="x-none" sz="1800" b="1" dirty="0">
                <a:latin typeface="Arial" panose="020B0604020202020204" pitchFamily="34" charset="0"/>
              </a:endParaRPr>
            </a:p>
          </p:txBody>
        </p:sp>
      </p:grpSp>
      <p:sp>
        <p:nvSpPr>
          <p:cNvPr id="24579" name="Rectangle 56"/>
          <p:cNvSpPr>
            <a:spLocks noGrp="1" noChangeArrowheads="1"/>
          </p:cNvSpPr>
          <p:nvPr>
            <p:ph type="title"/>
          </p:nvPr>
        </p:nvSpPr>
        <p:spPr>
          <a:xfrm>
            <a:off x="381000" y="427038"/>
            <a:ext cx="8229600" cy="411163"/>
          </a:xfrm>
        </p:spPr>
        <p:txBody>
          <a:bodyPr vert="horz" wrap="square" lIns="0" tIns="45720" rIns="0" bIns="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1" lang="en-US" sz="3600" b="0" i="0" u="none" strike="noStrike" kern="1200" cap="none" spc="0" normalizeH="0" baseline="0" noProof="0" smtClean="0">
                <a:ln>
                  <a:noFill/>
                </a:ln>
                <a:solidFill>
                  <a:schemeClr val="tx2"/>
                </a:solidFill>
                <a:effectLst/>
                <a:uLnTx/>
                <a:uFillTx/>
                <a:latin typeface="+mj-lt"/>
                <a:ea typeface="+mj-ea"/>
                <a:cs typeface="+mj-cs"/>
              </a:rPr>
              <a:t>Detail view of the Retrieval Process</a:t>
            </a:r>
            <a:endParaRPr kumimoji="1" lang="en-US" sz="3600" b="0" i="0" u="none" strike="noStrike" kern="1200" cap="none" spc="0" normalizeH="0" baseline="0" noProof="0" smtClean="0">
              <a:ln>
                <a:noFill/>
              </a:ln>
              <a:solidFill>
                <a:schemeClr val="tx2"/>
              </a:solidFill>
              <a:effectLst/>
              <a:uLnTx/>
              <a:uFillTx/>
              <a:latin typeface="+mj-lt"/>
              <a:ea typeface="+mj-ea"/>
              <a:cs typeface="+mj-c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2"/>
          <p:cNvSpPr>
            <a:spLocks noGrp="1" noChangeArrowheads="1"/>
          </p:cNvSpPr>
          <p:nvPr>
            <p:ph type="title"/>
          </p:nvPr>
        </p:nvSpPr>
        <p:spPr>
          <a:xfrm>
            <a:off x="457200" y="152400"/>
            <a:ext cx="8229600" cy="563563"/>
          </a:xfrm>
        </p:spPr>
        <p:txBody>
          <a:bodyPr vert="horz" wrap="square" lIns="0" tIns="45720" rIns="0" bIns="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000" b="0" i="0" u="none" strike="noStrike" kern="1200" cap="none" spc="0" normalizeH="0" baseline="0" noProof="0" smtClean="0">
                <a:ln>
                  <a:noFill/>
                </a:ln>
                <a:solidFill>
                  <a:schemeClr val="tx2"/>
                </a:solidFill>
                <a:effectLst/>
                <a:uLnTx/>
                <a:uFillTx/>
                <a:latin typeface="+mj-lt"/>
                <a:ea typeface="+mj-ea"/>
                <a:cs typeface="+mj-cs"/>
              </a:rPr>
              <a:t>Issues that arise in IR</a:t>
            </a:r>
            <a:endParaRPr kumimoji="0" lang="en-US" sz="4000" b="0" i="0" u="none" strike="noStrike" kern="1200" cap="none" spc="0" normalizeH="0" baseline="0" noProof="0" smtClean="0">
              <a:ln>
                <a:noFill/>
              </a:ln>
              <a:solidFill>
                <a:schemeClr val="tx2"/>
              </a:solidFill>
              <a:effectLst/>
              <a:uLnTx/>
              <a:uFillTx/>
              <a:latin typeface="+mj-lt"/>
              <a:ea typeface="+mj-ea"/>
              <a:cs typeface="+mj-cs"/>
            </a:endParaRPr>
          </a:p>
        </p:txBody>
      </p:sp>
      <p:sp>
        <p:nvSpPr>
          <p:cNvPr id="52227" name="Rectangle 3"/>
          <p:cNvSpPr>
            <a:spLocks noGrp="1"/>
          </p:cNvSpPr>
          <p:nvPr>
            <p:ph idx="1"/>
          </p:nvPr>
        </p:nvSpPr>
        <p:spPr>
          <a:xfrm>
            <a:off x="111125" y="762000"/>
            <a:ext cx="8839200" cy="5867400"/>
          </a:xfrm>
          <a:ln/>
        </p:spPr>
        <p:txBody>
          <a:bodyPr vert="horz" wrap="square" lIns="91440" tIns="45720" rIns="91440" bIns="45720" anchor="t" anchorCtr="0"/>
          <a:p>
            <a:pPr eaLnBrk="1" hangingPunct="1">
              <a:lnSpc>
                <a:spcPct val="80000"/>
              </a:lnSpc>
            </a:pPr>
            <a:r>
              <a:rPr sz="2800" dirty="0"/>
              <a:t>Text representation</a:t>
            </a:r>
            <a:endParaRPr sz="2800" dirty="0"/>
          </a:p>
          <a:p>
            <a:pPr lvl="1" eaLnBrk="1" hangingPunct="1">
              <a:lnSpc>
                <a:spcPct val="80000"/>
              </a:lnSpc>
            </a:pPr>
            <a:r>
              <a:rPr dirty="0"/>
              <a:t>what makes a “good” representation?</a:t>
            </a:r>
            <a:endParaRPr dirty="0"/>
          </a:p>
          <a:p>
            <a:pPr lvl="1" eaLnBrk="1" hangingPunct="1">
              <a:lnSpc>
                <a:spcPct val="80000"/>
              </a:lnSpc>
            </a:pPr>
            <a:r>
              <a:rPr dirty="0"/>
              <a:t>how is a representation generated from text? </a:t>
            </a:r>
            <a:endParaRPr dirty="0"/>
          </a:p>
          <a:p>
            <a:pPr lvl="1" eaLnBrk="1" hangingPunct="1">
              <a:lnSpc>
                <a:spcPct val="80000"/>
              </a:lnSpc>
            </a:pPr>
            <a:r>
              <a:rPr dirty="0"/>
              <a:t>what are retrievable objects and how are they organized?</a:t>
            </a:r>
            <a:endParaRPr dirty="0"/>
          </a:p>
          <a:p>
            <a:pPr eaLnBrk="1" hangingPunct="1">
              <a:lnSpc>
                <a:spcPct val="80000"/>
              </a:lnSpc>
            </a:pPr>
            <a:r>
              <a:rPr sz="2800" dirty="0"/>
              <a:t>information needs representation </a:t>
            </a:r>
            <a:endParaRPr sz="2800" dirty="0"/>
          </a:p>
          <a:p>
            <a:pPr lvl="1" eaLnBrk="1" hangingPunct="1">
              <a:lnSpc>
                <a:spcPct val="80000"/>
              </a:lnSpc>
            </a:pPr>
            <a:r>
              <a:rPr dirty="0"/>
              <a:t>what is an appropriate query language?</a:t>
            </a:r>
            <a:endParaRPr dirty="0"/>
          </a:p>
          <a:p>
            <a:pPr lvl="1" eaLnBrk="1" hangingPunct="1">
              <a:lnSpc>
                <a:spcPct val="80000"/>
              </a:lnSpc>
            </a:pPr>
            <a:r>
              <a:rPr dirty="0"/>
              <a:t>how can interactive query formulation and refinement be supported?</a:t>
            </a:r>
            <a:endParaRPr dirty="0"/>
          </a:p>
          <a:p>
            <a:pPr eaLnBrk="1" hangingPunct="1">
              <a:lnSpc>
                <a:spcPct val="80000"/>
              </a:lnSpc>
            </a:pPr>
            <a:r>
              <a:rPr sz="2800" dirty="0"/>
              <a:t>Comparing representations (to identify relevant documents)</a:t>
            </a:r>
            <a:endParaRPr sz="2800" dirty="0"/>
          </a:p>
          <a:p>
            <a:pPr lvl="1" eaLnBrk="1" hangingPunct="1">
              <a:lnSpc>
                <a:spcPct val="80000"/>
              </a:lnSpc>
            </a:pPr>
            <a:r>
              <a:rPr dirty="0"/>
              <a:t>What weighting scheme and similarity measure to be used? </a:t>
            </a:r>
            <a:endParaRPr dirty="0"/>
          </a:p>
          <a:p>
            <a:pPr lvl="1" eaLnBrk="1" hangingPunct="1">
              <a:lnSpc>
                <a:spcPct val="80000"/>
              </a:lnSpc>
            </a:pPr>
            <a:r>
              <a:rPr dirty="0"/>
              <a:t>what is a “good” model of retrieval?</a:t>
            </a:r>
            <a:endParaRPr dirty="0"/>
          </a:p>
          <a:p>
            <a:pPr eaLnBrk="1" hangingPunct="1">
              <a:lnSpc>
                <a:spcPct val="80000"/>
              </a:lnSpc>
            </a:pPr>
            <a:r>
              <a:rPr sz="2800" dirty="0"/>
              <a:t>Evaluating effectiveness of retrieval</a:t>
            </a:r>
            <a:endParaRPr sz="2800" dirty="0"/>
          </a:p>
          <a:p>
            <a:pPr lvl="1" eaLnBrk="1" hangingPunct="1">
              <a:lnSpc>
                <a:spcPct val="80000"/>
              </a:lnSpc>
            </a:pPr>
            <a:r>
              <a:rPr dirty="0"/>
              <a:t>what are good metrics?</a:t>
            </a:r>
            <a:endParaRPr dirty="0"/>
          </a:p>
          <a:p>
            <a:pPr lvl="1" eaLnBrk="1" hangingPunct="1">
              <a:lnSpc>
                <a:spcPct val="80000"/>
              </a:lnSpc>
            </a:pPr>
            <a:r>
              <a:rPr dirty="0"/>
              <a:t>what constitutes a good experimental test bed?</a:t>
            </a:r>
            <a:endParaRPr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2"/>
          <p:cNvSpPr>
            <a:spLocks noGrp="1" noChangeArrowheads="1"/>
          </p:cNvSpPr>
          <p:nvPr>
            <p:ph type="title"/>
          </p:nvPr>
        </p:nvSpPr>
        <p:spPr>
          <a:xfrm>
            <a:off x="457200" y="152400"/>
            <a:ext cx="8229600" cy="457200"/>
          </a:xfrm>
        </p:spPr>
        <p:txBody>
          <a:bodyPr vert="horz" wrap="square" lIns="0" tIns="45720" rIns="0" bIns="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000" b="0" i="0" u="none" strike="noStrike" kern="1200" cap="none" spc="0" normalizeH="0" baseline="0" noProof="0" smtClean="0">
                <a:ln>
                  <a:noFill/>
                </a:ln>
                <a:solidFill>
                  <a:schemeClr val="tx2"/>
                </a:solidFill>
                <a:effectLst/>
                <a:uLnTx/>
                <a:uFillTx/>
                <a:latin typeface="+mj-lt"/>
                <a:ea typeface="+mj-ea"/>
                <a:cs typeface="+mj-cs"/>
              </a:rPr>
              <a:t>Focus in IR System Design</a:t>
            </a:r>
            <a:endParaRPr kumimoji="0" lang="en-US" sz="4000" b="0" i="0" u="none" strike="noStrike" kern="1200" cap="none" spc="0" normalizeH="0" baseline="0" noProof="0" smtClean="0">
              <a:ln>
                <a:noFill/>
              </a:ln>
              <a:solidFill>
                <a:schemeClr val="tx2"/>
              </a:solidFill>
              <a:effectLst/>
              <a:uLnTx/>
              <a:uFillTx/>
              <a:latin typeface="+mj-lt"/>
              <a:ea typeface="+mj-ea"/>
              <a:cs typeface="+mj-cs"/>
            </a:endParaRPr>
          </a:p>
        </p:txBody>
      </p:sp>
      <p:sp>
        <p:nvSpPr>
          <p:cNvPr id="121859" name="Rectangle 3"/>
          <p:cNvSpPr>
            <a:spLocks noGrp="1"/>
          </p:cNvSpPr>
          <p:nvPr>
            <p:ph idx="1"/>
          </p:nvPr>
        </p:nvSpPr>
        <p:spPr>
          <a:xfrm>
            <a:off x="533400" y="1066800"/>
            <a:ext cx="8382000" cy="4724400"/>
          </a:xfrm>
          <a:ln/>
        </p:spPr>
        <p:txBody>
          <a:bodyPr vert="horz" wrap="square" lIns="91440" tIns="45720" rIns="91440" bIns="45720" anchor="t" anchorCtr="0"/>
          <a:p>
            <a:pPr marL="228600" indent="-228600" eaLnBrk="1" hangingPunct="1">
              <a:lnSpc>
                <a:spcPct val="80000"/>
              </a:lnSpc>
              <a:buFontTx/>
              <a:buNone/>
            </a:pPr>
            <a:r>
              <a:rPr dirty="0"/>
              <a:t>Our focus during IR system design is:</a:t>
            </a:r>
            <a:endParaRPr dirty="0"/>
          </a:p>
          <a:p>
            <a:pPr marL="228600" indent="-228600" eaLnBrk="1" hangingPunct="1">
              <a:lnSpc>
                <a:spcPct val="80000"/>
              </a:lnSpc>
              <a:spcBef>
                <a:spcPts val="1200"/>
              </a:spcBef>
            </a:pPr>
            <a:r>
              <a:rPr sz="2800" dirty="0"/>
              <a:t>In improving performance effectiveness of the system</a:t>
            </a:r>
            <a:endParaRPr sz="2800" dirty="0"/>
          </a:p>
          <a:p>
            <a:pPr marL="520700" lvl="1" indent="-177800" eaLnBrk="1" hangingPunct="1">
              <a:lnSpc>
                <a:spcPct val="80000"/>
              </a:lnSpc>
            </a:pPr>
            <a:r>
              <a:rPr dirty="0"/>
              <a:t>Effectiveness of the system is measured in terms of precision, recall, …</a:t>
            </a:r>
            <a:endParaRPr dirty="0"/>
          </a:p>
          <a:p>
            <a:pPr marL="520700" lvl="1" indent="-177800" eaLnBrk="1" hangingPunct="1">
              <a:lnSpc>
                <a:spcPct val="80000"/>
              </a:lnSpc>
            </a:pPr>
            <a:r>
              <a:rPr dirty="0"/>
              <a:t>Stemming, stop words, weighting schemes, matching algorithms</a:t>
            </a:r>
            <a:endParaRPr sz="800" dirty="0"/>
          </a:p>
          <a:p>
            <a:pPr marL="228600" indent="-228600" eaLnBrk="1" hangingPunct="1">
              <a:lnSpc>
                <a:spcPct val="80000"/>
              </a:lnSpc>
            </a:pPr>
            <a:r>
              <a:rPr sz="2800" dirty="0"/>
              <a:t>In improving performance efficiency </a:t>
            </a:r>
            <a:endParaRPr sz="2800" dirty="0"/>
          </a:p>
          <a:p>
            <a:pPr marL="520700" lvl="1" indent="-177800" eaLnBrk="1" hangingPunct="1">
              <a:lnSpc>
                <a:spcPct val="80000"/>
              </a:lnSpc>
            </a:pPr>
            <a:r>
              <a:rPr dirty="0"/>
              <a:t>The concern here is storage space usage, access time, searching time, data transfer time …</a:t>
            </a:r>
            <a:endParaRPr dirty="0"/>
          </a:p>
          <a:p>
            <a:pPr marL="520700" lvl="1" indent="-177800" eaLnBrk="1" hangingPunct="1">
              <a:lnSpc>
                <a:spcPct val="80000"/>
              </a:lnSpc>
            </a:pPr>
            <a:r>
              <a:rPr dirty="0"/>
              <a:t>Concern regarding  space – time tradeoffs !!</a:t>
            </a:r>
            <a:endParaRPr dirty="0"/>
          </a:p>
          <a:p>
            <a:pPr marL="520700" lvl="1" indent="-177800" eaLnBrk="1" hangingPunct="1">
              <a:lnSpc>
                <a:spcPct val="80000"/>
              </a:lnSpc>
            </a:pPr>
            <a:r>
              <a:rPr dirty="0"/>
              <a:t>Use Compression techniques, data/file structures, etc.</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121859">
                                            <p:txEl>
                                              <p:charRg st="38" end="91"/>
                                            </p:txEl>
                                          </p:spTgt>
                                        </p:tgtEl>
                                        <p:attrNameLst>
                                          <p:attrName>style.visibility</p:attrName>
                                        </p:attrNameLst>
                                      </p:cBhvr>
                                      <p:to>
                                        <p:strVal val="visible"/>
                                      </p:to>
                                    </p:set>
                                    <p:animEffect transition="in" filter="diamond(in)">
                                      <p:cBhvr>
                                        <p:cTn id="7" dur="1000"/>
                                        <p:tgtEl>
                                          <p:spTgt spid="121859">
                                            <p:txEl>
                                              <p:charRg st="38" end="91"/>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21859">
                                            <p:txEl>
                                              <p:charRg st="225" end="262"/>
                                            </p:txEl>
                                          </p:spTgt>
                                        </p:tgtEl>
                                        <p:attrNameLst>
                                          <p:attrName>style.visibility</p:attrName>
                                        </p:attrNameLst>
                                      </p:cBhvr>
                                      <p:to>
                                        <p:strVal val="visible"/>
                                      </p:to>
                                    </p:set>
                                    <p:animEffect transition="in" filter="checkerboard(across)">
                                      <p:cBhvr>
                                        <p:cTn id="12" dur="1000"/>
                                        <p:tgtEl>
                                          <p:spTgt spid="121859">
                                            <p:txEl>
                                              <p:charRg st="225" end="26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21859">
                                            <p:txEl>
                                              <p:charRg st="262" end="353"/>
                                            </p:txEl>
                                          </p:spTgt>
                                        </p:tgtEl>
                                        <p:attrNameLst>
                                          <p:attrName>style.visibility</p:attrName>
                                        </p:attrNameLst>
                                      </p:cBhvr>
                                      <p:to>
                                        <p:strVal val="visible"/>
                                      </p:to>
                                    </p:set>
                                    <p:animEffect transition="in" filter="checkerboard(across)">
                                      <p:cBhvr>
                                        <p:cTn id="17" dur="1000"/>
                                        <p:tgtEl>
                                          <p:spTgt spid="121859">
                                            <p:txEl>
                                              <p:charRg st="262" end="35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121859">
                                            <p:txEl>
                                              <p:charRg st="353" end="398"/>
                                            </p:txEl>
                                          </p:spTgt>
                                        </p:tgtEl>
                                        <p:attrNameLst>
                                          <p:attrName>style.visibility</p:attrName>
                                        </p:attrNameLst>
                                      </p:cBhvr>
                                      <p:to>
                                        <p:strVal val="visible"/>
                                      </p:to>
                                    </p:set>
                                    <p:animEffect transition="in" filter="checkerboard(across)">
                                      <p:cBhvr>
                                        <p:cTn id="22" dur="1000"/>
                                        <p:tgtEl>
                                          <p:spTgt spid="121859">
                                            <p:txEl>
                                              <p:charRg st="353" end="39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121859">
                                            <p:txEl>
                                              <p:charRg st="91" end="164"/>
                                            </p:txEl>
                                          </p:spTgt>
                                        </p:tgtEl>
                                        <p:attrNameLst>
                                          <p:attrName>style.visibility</p:attrName>
                                        </p:attrNameLst>
                                      </p:cBhvr>
                                      <p:to>
                                        <p:strVal val="visible"/>
                                      </p:to>
                                    </p:set>
                                    <p:animEffect transition="in" filter="checkerboard(across)">
                                      <p:cBhvr>
                                        <p:cTn id="27" dur="1000"/>
                                        <p:tgtEl>
                                          <p:spTgt spid="121859">
                                            <p:txEl>
                                              <p:charRg st="91" end="164"/>
                                            </p:txEl>
                                          </p:spTgt>
                                        </p:tgtEl>
                                      </p:cBhvr>
                                    </p:animEffect>
                                  </p:childTnLst>
                                </p:cTn>
                              </p:par>
                              <p:par>
                                <p:cTn id="28" presetID="5" presetClass="entr" presetSubtype="10" fill="hold" nodeType="withEffect">
                                  <p:stCondLst>
                                    <p:cond delay="0"/>
                                  </p:stCondLst>
                                  <p:childTnLst>
                                    <p:set>
                                      <p:cBhvr>
                                        <p:cTn id="29" dur="1" fill="hold">
                                          <p:stCondLst>
                                            <p:cond delay="0"/>
                                          </p:stCondLst>
                                        </p:cTn>
                                        <p:tgtEl>
                                          <p:spTgt spid="121859">
                                            <p:txEl>
                                              <p:charRg st="164" end="225"/>
                                            </p:txEl>
                                          </p:spTgt>
                                        </p:tgtEl>
                                        <p:attrNameLst>
                                          <p:attrName>style.visibility</p:attrName>
                                        </p:attrNameLst>
                                      </p:cBhvr>
                                      <p:to>
                                        <p:strVal val="visible"/>
                                      </p:to>
                                    </p:set>
                                    <p:animEffect transition="in" filter="checkerboard(across)">
                                      <p:cBhvr>
                                        <p:cTn id="30" dur="1000"/>
                                        <p:tgtEl>
                                          <p:spTgt spid="121859">
                                            <p:txEl>
                                              <p:charRg st="164" end="225"/>
                                            </p:txEl>
                                          </p:spTgt>
                                        </p:tgtEl>
                                      </p:cBhvr>
                                    </p:animEffect>
                                  </p:childTnLst>
                                </p:cTn>
                              </p:par>
                              <p:par>
                                <p:cTn id="31" presetID="8" presetClass="entr" presetSubtype="16" fill="hold" nodeType="withEffect">
                                  <p:stCondLst>
                                    <p:cond delay="0"/>
                                  </p:stCondLst>
                                  <p:childTnLst>
                                    <p:set>
                                      <p:cBhvr>
                                        <p:cTn id="32" dur="1" fill="hold">
                                          <p:stCondLst>
                                            <p:cond delay="0"/>
                                          </p:stCondLst>
                                        </p:cTn>
                                        <p:tgtEl>
                                          <p:spTgt spid="121859">
                                            <p:txEl>
                                              <p:charRg st="398" end="453"/>
                                            </p:txEl>
                                          </p:spTgt>
                                        </p:tgtEl>
                                        <p:attrNameLst>
                                          <p:attrName>style.visibility</p:attrName>
                                        </p:attrNameLst>
                                      </p:cBhvr>
                                      <p:to>
                                        <p:strVal val="visible"/>
                                      </p:to>
                                    </p:set>
                                    <p:animEffect transition="in" filter="diamond(in)">
                                      <p:cBhvr>
                                        <p:cTn id="33" dur="1000"/>
                                        <p:tgtEl>
                                          <p:spTgt spid="121859">
                                            <p:txEl>
                                              <p:charRg st="398" end="45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2"/>
          <p:cNvSpPr>
            <a:spLocks noGrp="1" noChangeArrowheads="1"/>
          </p:cNvSpPr>
          <p:nvPr>
            <p:ph type="title"/>
          </p:nvPr>
        </p:nvSpPr>
        <p:spPr>
          <a:xfrm>
            <a:off x="457200" y="228600"/>
            <a:ext cx="8229600" cy="487363"/>
          </a:xfrm>
        </p:spPr>
        <p:txBody>
          <a:bodyPr vert="horz" wrap="square" lIns="0" tIns="45720" rIns="0" bIns="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000" b="0" i="0" u="none" strike="noStrike" kern="1200" cap="none" spc="0" normalizeH="0" baseline="0" noProof="0" smtClean="0">
                <a:ln>
                  <a:noFill/>
                </a:ln>
                <a:solidFill>
                  <a:schemeClr val="tx2"/>
                </a:solidFill>
                <a:effectLst/>
                <a:uLnTx/>
                <a:uFillTx/>
                <a:latin typeface="+mj-lt"/>
                <a:ea typeface="+mj-ea"/>
                <a:cs typeface="+mj-cs"/>
              </a:rPr>
              <a:t>Subsystems of an IR system</a:t>
            </a:r>
            <a:endParaRPr kumimoji="0" lang="en-US" sz="4000" b="0" i="0" u="none" strike="noStrike" kern="1200" cap="none" spc="0" normalizeH="0" baseline="0" noProof="0" smtClean="0">
              <a:ln>
                <a:noFill/>
              </a:ln>
              <a:solidFill>
                <a:schemeClr val="tx2"/>
              </a:solidFill>
              <a:effectLst/>
              <a:uLnTx/>
              <a:uFillTx/>
              <a:latin typeface="+mj-lt"/>
              <a:ea typeface="+mj-ea"/>
              <a:cs typeface="+mj-cs"/>
            </a:endParaRPr>
          </a:p>
        </p:txBody>
      </p:sp>
      <p:sp>
        <p:nvSpPr>
          <p:cNvPr id="54275" name="Rectangle 3"/>
          <p:cNvSpPr>
            <a:spLocks noGrp="1"/>
          </p:cNvSpPr>
          <p:nvPr>
            <p:ph idx="1"/>
          </p:nvPr>
        </p:nvSpPr>
        <p:spPr>
          <a:xfrm>
            <a:off x="76200" y="762000"/>
            <a:ext cx="8915400" cy="5943600"/>
          </a:xfrm>
          <a:ln/>
        </p:spPr>
        <p:txBody>
          <a:bodyPr vert="horz" wrap="square" lIns="91440" tIns="45720" rIns="91440" bIns="45720" anchor="t" anchorCtr="0"/>
          <a:p>
            <a:pPr marL="228600" indent="-228600" eaLnBrk="1" hangingPunct="1">
              <a:lnSpc>
                <a:spcPct val="80000"/>
              </a:lnSpc>
            </a:pPr>
            <a:r>
              <a:rPr sz="2800" dirty="0"/>
              <a:t>The two subsystems of an IR system: </a:t>
            </a:r>
            <a:endParaRPr sz="2800" dirty="0"/>
          </a:p>
          <a:p>
            <a:pPr marL="520700" lvl="1" indent="-177800" eaLnBrk="1" hangingPunct="1">
              <a:lnSpc>
                <a:spcPct val="80000"/>
              </a:lnSpc>
            </a:pPr>
            <a:r>
              <a:rPr dirty="0"/>
              <a:t>Searching: </a:t>
            </a:r>
            <a:r>
              <a:rPr sz="2600" dirty="0"/>
              <a:t>is an online process of finding relevant documents in the index list as per users query</a:t>
            </a:r>
            <a:endParaRPr sz="2600" dirty="0"/>
          </a:p>
          <a:p>
            <a:pPr marL="520700" lvl="1" indent="-177800" eaLnBrk="1" hangingPunct="1">
              <a:lnSpc>
                <a:spcPct val="80000"/>
              </a:lnSpc>
            </a:pPr>
            <a:r>
              <a:rPr dirty="0"/>
              <a:t>Indexing: </a:t>
            </a:r>
            <a:r>
              <a:rPr sz="2600" dirty="0"/>
              <a:t>is an offline process of organizing documents using keywords extracted from the collection</a:t>
            </a:r>
            <a:endParaRPr sz="2600" dirty="0">
              <a:solidFill>
                <a:srgbClr val="FF3300"/>
              </a:solidFill>
            </a:endParaRPr>
          </a:p>
          <a:p>
            <a:pPr marL="228600" indent="-228600" eaLnBrk="1" hangingPunct="1">
              <a:lnSpc>
                <a:spcPct val="90000"/>
              </a:lnSpc>
            </a:pPr>
            <a:r>
              <a:rPr sz="2800" dirty="0">
                <a:solidFill>
                  <a:srgbClr val="FF3300"/>
                </a:solidFill>
              </a:rPr>
              <a:t>Indexing and searching: </a:t>
            </a:r>
            <a:r>
              <a:rPr sz="2800" dirty="0"/>
              <a:t>are unavoidably connected </a:t>
            </a:r>
            <a:endParaRPr sz="2800" dirty="0"/>
          </a:p>
          <a:p>
            <a:pPr marL="520700" lvl="1" indent="-177800" eaLnBrk="1" hangingPunct="1">
              <a:lnSpc>
                <a:spcPct val="90000"/>
              </a:lnSpc>
            </a:pPr>
            <a:r>
              <a:rPr dirty="0"/>
              <a:t>you cannot search what was not first indexed in some manner or other</a:t>
            </a:r>
            <a:endParaRPr dirty="0"/>
          </a:p>
          <a:p>
            <a:pPr marL="520700" lvl="1" indent="-177800" eaLnBrk="1" hangingPunct="1">
              <a:lnSpc>
                <a:spcPct val="90000"/>
              </a:lnSpc>
            </a:pPr>
            <a:r>
              <a:rPr dirty="0"/>
              <a:t>indexing of documents or objects is done in order to be searchable </a:t>
            </a:r>
            <a:endParaRPr dirty="0"/>
          </a:p>
          <a:p>
            <a:pPr marL="1087755" lvl="3" indent="-163830" eaLnBrk="1" hangingPunct="1">
              <a:lnSpc>
                <a:spcPct val="90000"/>
              </a:lnSpc>
            </a:pPr>
            <a:r>
              <a:rPr dirty="0"/>
              <a:t>there are many ways to do indexing</a:t>
            </a:r>
            <a:endParaRPr dirty="0"/>
          </a:p>
          <a:p>
            <a:pPr marL="520700" lvl="1" indent="-177800" eaLnBrk="1" hangingPunct="1">
              <a:lnSpc>
                <a:spcPct val="90000"/>
              </a:lnSpc>
            </a:pPr>
            <a:r>
              <a:rPr dirty="0"/>
              <a:t>to index one needs an indexing language</a:t>
            </a:r>
            <a:endParaRPr dirty="0"/>
          </a:p>
          <a:p>
            <a:pPr marL="1087755" lvl="3" indent="-163830" eaLnBrk="1" hangingPunct="1">
              <a:lnSpc>
                <a:spcPct val="90000"/>
              </a:lnSpc>
            </a:pPr>
            <a:r>
              <a:rPr dirty="0"/>
              <a:t>there are many indexing languages</a:t>
            </a:r>
            <a:endParaRPr dirty="0"/>
          </a:p>
          <a:p>
            <a:pPr marL="1087755" lvl="3" indent="-163830" eaLnBrk="1" hangingPunct="1">
              <a:lnSpc>
                <a:spcPct val="90000"/>
              </a:lnSpc>
            </a:pPr>
            <a:r>
              <a:rPr dirty="0"/>
              <a:t>even taking every word in a document is an indexing language</a:t>
            </a:r>
            <a:endParaRPr dirty="0"/>
          </a:p>
          <a:p>
            <a:pPr marL="228600" indent="-228600" eaLnBrk="1" hangingPunct="1">
              <a:lnSpc>
                <a:spcPct val="90000"/>
              </a:lnSpc>
            </a:pPr>
            <a:r>
              <a:rPr sz="2800" dirty="0">
                <a:solidFill>
                  <a:srgbClr val="FF3300"/>
                </a:solidFill>
              </a:rPr>
              <a:t>Knowing searching is knowing indexing</a:t>
            </a:r>
            <a:endParaRPr sz="2800" dirty="0">
              <a:solidFill>
                <a:srgbClr val="FF3300"/>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2"/>
          <p:cNvSpPr>
            <a:spLocks noGrp="1" noChangeArrowheads="1"/>
          </p:cNvSpPr>
          <p:nvPr>
            <p:ph type="title"/>
          </p:nvPr>
        </p:nvSpPr>
        <p:spPr bwMode="auto">
          <a:xfrm>
            <a:off x="457200" y="228600"/>
            <a:ext cx="8229600" cy="639763"/>
          </a:xfrm>
          <a:ln>
            <a:miter lim="800000"/>
          </a:ln>
          <a:effectLst/>
          <a:sp3d prstMaterial="plastic"/>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0" numCol="1" anchor="b" anchorCtr="0" compatLnSpc="1">
            <a:normAutofit fontScale="90000"/>
            <a:scene3d>
              <a:camera prst="orthographicFront"/>
              <a:lightRig rig="freezing" dir="t">
                <a:rot lat="0" lon="0" rev="5640000"/>
              </a:lightRig>
            </a:scene3d>
            <a:sp3d prstMaterial="flat">
              <a:contourClr>
                <a:schemeClr val="tx2"/>
              </a:contourClr>
            </a:sp3d>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5000" b="0" i="0" u="none" strike="noStrike" kern="1200" cap="none" spc="0" normalizeH="0" baseline="0" noProof="0" smtClean="0">
                <a:ln>
                  <a:noFill/>
                </a:ln>
                <a:solidFill>
                  <a:schemeClr val="tx2"/>
                </a:solidFill>
                <a:effectLst/>
                <a:uLnTx/>
                <a:uFillTx/>
                <a:latin typeface="+mj-lt"/>
                <a:ea typeface="+mj-ea"/>
                <a:cs typeface="+mj-cs"/>
              </a:rPr>
              <a:t>Indexing Subsystem</a:t>
            </a:r>
            <a:endParaRPr kumimoji="0" lang="en-US" sz="5000" b="0" i="0" u="none" strike="noStrike" kern="1200" cap="none" spc="0" normalizeH="0" baseline="0" noProof="0" smtClean="0">
              <a:ln>
                <a:noFill/>
              </a:ln>
              <a:solidFill>
                <a:schemeClr val="tx2"/>
              </a:solidFill>
              <a:effectLst/>
              <a:uLnTx/>
              <a:uFillTx/>
              <a:latin typeface="+mj-lt"/>
              <a:ea typeface="+mj-ea"/>
              <a:cs typeface="+mj-cs"/>
            </a:endParaRPr>
          </a:p>
        </p:txBody>
      </p:sp>
      <p:sp>
        <p:nvSpPr>
          <p:cNvPr id="55299" name="AutoShape 3"/>
          <p:cNvSpPr/>
          <p:nvPr/>
        </p:nvSpPr>
        <p:spPr>
          <a:xfrm>
            <a:off x="152400" y="1600200"/>
            <a:ext cx="1981200" cy="762000"/>
          </a:xfrm>
          <a:prstGeom prst="hexagon">
            <a:avLst>
              <a:gd name="adj" fmla="val 65000"/>
              <a:gd name="vf" fmla="val 115470"/>
            </a:avLst>
          </a:prstGeom>
          <a:solidFill>
            <a:srgbClr val="DDDDDD"/>
          </a:solidFill>
          <a:ln w="9525" cap="flat" cmpd="sng">
            <a:solidFill>
              <a:schemeClr val="tx1"/>
            </a:solidFill>
            <a:prstDash val="solid"/>
            <a:miter/>
            <a:headEnd type="none" w="med" len="med"/>
            <a:tailEnd type="none" w="med" len="med"/>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sz="1800" dirty="0">
              <a:latin typeface="Arial" panose="020B0604020202020204" pitchFamily="34" charset="0"/>
            </a:endParaRPr>
          </a:p>
        </p:txBody>
      </p:sp>
      <p:sp>
        <p:nvSpPr>
          <p:cNvPr id="55300" name="Text Box 4"/>
          <p:cNvSpPr txBox="1"/>
          <p:nvPr/>
        </p:nvSpPr>
        <p:spPr>
          <a:xfrm>
            <a:off x="381000" y="1752600"/>
            <a:ext cx="1828800" cy="457200"/>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spcBef>
                <a:spcPct val="50000"/>
              </a:spcBef>
              <a:buClrTx/>
              <a:buSzTx/>
              <a:buFontTx/>
              <a:buNone/>
            </a:pPr>
            <a:r>
              <a:rPr sz="2400" dirty="0">
                <a:latin typeface="Times New Roman" panose="02020603050405020304" pitchFamily="18" charset="0"/>
              </a:rPr>
              <a:t>Documents</a:t>
            </a:r>
            <a:endParaRPr sz="2400" dirty="0">
              <a:latin typeface="Times New Roman" panose="02020603050405020304" pitchFamily="18" charset="0"/>
            </a:endParaRPr>
          </a:p>
        </p:txBody>
      </p:sp>
      <p:sp>
        <p:nvSpPr>
          <p:cNvPr id="55301" name="Text Box 5"/>
          <p:cNvSpPr txBox="1"/>
          <p:nvPr/>
        </p:nvSpPr>
        <p:spPr>
          <a:xfrm>
            <a:off x="1752600" y="2590800"/>
            <a:ext cx="2362200" cy="466725"/>
          </a:xfrm>
          <a:prstGeom prst="rect">
            <a:avLst/>
          </a:prstGeom>
          <a:solidFill>
            <a:srgbClr val="DDDDDD"/>
          </a:solidFill>
          <a:ln w="9525" cap="flat" cmpd="sng">
            <a:solidFill>
              <a:schemeClr val="tx1"/>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spcBef>
                <a:spcPct val="50000"/>
              </a:spcBef>
              <a:buClrTx/>
              <a:buSzTx/>
              <a:buFontTx/>
              <a:buNone/>
            </a:pPr>
            <a:r>
              <a:rPr sz="2400" dirty="0">
                <a:latin typeface="Times New Roman" panose="02020603050405020304" pitchFamily="18" charset="0"/>
              </a:rPr>
              <a:t>Tokenize</a:t>
            </a:r>
            <a:endParaRPr sz="2400" dirty="0">
              <a:latin typeface="Times New Roman" panose="02020603050405020304" pitchFamily="18" charset="0"/>
            </a:endParaRPr>
          </a:p>
        </p:txBody>
      </p:sp>
      <p:sp>
        <p:nvSpPr>
          <p:cNvPr id="55302" name="Text Box 6"/>
          <p:cNvSpPr txBox="1"/>
          <p:nvPr/>
        </p:nvSpPr>
        <p:spPr>
          <a:xfrm>
            <a:off x="3200400" y="3276600"/>
            <a:ext cx="1600200" cy="466725"/>
          </a:xfrm>
          <a:prstGeom prst="rect">
            <a:avLst/>
          </a:prstGeom>
          <a:solidFill>
            <a:srgbClr val="DDDDDD"/>
          </a:solidFill>
          <a:ln w="9525" cap="flat" cmpd="sng">
            <a:solidFill>
              <a:schemeClr val="tx1"/>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spcBef>
                <a:spcPct val="50000"/>
              </a:spcBef>
              <a:buClrTx/>
              <a:buSzTx/>
              <a:buFontTx/>
              <a:buNone/>
            </a:pPr>
            <a:r>
              <a:rPr sz="2400" dirty="0">
                <a:latin typeface="Times New Roman" panose="02020603050405020304" pitchFamily="18" charset="0"/>
              </a:rPr>
              <a:t>Stop list</a:t>
            </a:r>
            <a:endParaRPr sz="2400" dirty="0">
              <a:latin typeface="Times New Roman" panose="02020603050405020304" pitchFamily="18" charset="0"/>
            </a:endParaRPr>
          </a:p>
        </p:txBody>
      </p:sp>
      <p:sp>
        <p:nvSpPr>
          <p:cNvPr id="55303" name="Text Box 7"/>
          <p:cNvSpPr txBox="1"/>
          <p:nvPr/>
        </p:nvSpPr>
        <p:spPr>
          <a:xfrm>
            <a:off x="4419600" y="3886200"/>
            <a:ext cx="3276600" cy="466725"/>
          </a:xfrm>
          <a:prstGeom prst="rect">
            <a:avLst/>
          </a:prstGeom>
          <a:solidFill>
            <a:srgbClr val="DDDDDD"/>
          </a:solidFill>
          <a:ln w="9525" cap="flat" cmpd="sng">
            <a:solidFill>
              <a:schemeClr val="tx1"/>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spcBef>
                <a:spcPct val="50000"/>
              </a:spcBef>
              <a:buClrTx/>
              <a:buSzTx/>
              <a:buFontTx/>
              <a:buNone/>
            </a:pPr>
            <a:r>
              <a:rPr sz="2400" dirty="0">
                <a:latin typeface="Times New Roman" panose="02020603050405020304" pitchFamily="18" charset="0"/>
              </a:rPr>
              <a:t>Stemming &amp; Normalize</a:t>
            </a:r>
            <a:endParaRPr sz="2400" dirty="0">
              <a:latin typeface="Times New Roman" panose="02020603050405020304" pitchFamily="18" charset="0"/>
            </a:endParaRPr>
          </a:p>
        </p:txBody>
      </p:sp>
      <p:sp>
        <p:nvSpPr>
          <p:cNvPr id="55304" name="Text Box 8"/>
          <p:cNvSpPr txBox="1"/>
          <p:nvPr/>
        </p:nvSpPr>
        <p:spPr>
          <a:xfrm>
            <a:off x="5410200" y="4572000"/>
            <a:ext cx="2286000" cy="466725"/>
          </a:xfrm>
          <a:prstGeom prst="rect">
            <a:avLst/>
          </a:prstGeom>
          <a:solidFill>
            <a:srgbClr val="DDDDDD"/>
          </a:solidFill>
          <a:ln w="9525" cap="flat" cmpd="sng">
            <a:solidFill>
              <a:schemeClr val="tx1"/>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spcBef>
                <a:spcPct val="50000"/>
              </a:spcBef>
              <a:buClrTx/>
              <a:buSzTx/>
              <a:buFontTx/>
              <a:buNone/>
            </a:pPr>
            <a:r>
              <a:rPr sz="2400" dirty="0">
                <a:latin typeface="Times New Roman" panose="02020603050405020304" pitchFamily="18" charset="0"/>
              </a:rPr>
              <a:t>Term weighting</a:t>
            </a:r>
            <a:endParaRPr sz="2400" dirty="0">
              <a:latin typeface="Times New Roman" panose="02020603050405020304" pitchFamily="18" charset="0"/>
            </a:endParaRPr>
          </a:p>
        </p:txBody>
      </p:sp>
      <p:sp>
        <p:nvSpPr>
          <p:cNvPr id="55305" name="AutoShape 9"/>
          <p:cNvSpPr/>
          <p:nvPr/>
        </p:nvSpPr>
        <p:spPr>
          <a:xfrm>
            <a:off x="6781800" y="5334000"/>
            <a:ext cx="1905000" cy="1143000"/>
          </a:xfrm>
          <a:prstGeom prst="can">
            <a:avLst>
              <a:gd name="adj" fmla="val 25000"/>
            </a:avLst>
          </a:prstGeom>
          <a:solidFill>
            <a:srgbClr val="CCFFFF"/>
          </a:solidFill>
          <a:ln w="9525" cap="flat" cmpd="sng">
            <a:solidFill>
              <a:schemeClr val="tx1"/>
            </a:solidFill>
            <a:prstDash val="solid"/>
            <a:headEnd type="none" w="med" len="med"/>
            <a:tailEnd type="none" w="med" len="med"/>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sz="1800" dirty="0">
              <a:latin typeface="Arial" panose="020B0604020202020204" pitchFamily="34" charset="0"/>
            </a:endParaRPr>
          </a:p>
        </p:txBody>
      </p:sp>
      <p:sp>
        <p:nvSpPr>
          <p:cNvPr id="55306" name="Text Box 10"/>
          <p:cNvSpPr txBox="1"/>
          <p:nvPr/>
        </p:nvSpPr>
        <p:spPr>
          <a:xfrm>
            <a:off x="6858000" y="5638800"/>
            <a:ext cx="1828800" cy="457200"/>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lgn="ctr">
              <a:spcBef>
                <a:spcPct val="50000"/>
              </a:spcBef>
              <a:buClrTx/>
              <a:buSzTx/>
              <a:buFontTx/>
              <a:buNone/>
            </a:pPr>
            <a:r>
              <a:rPr sz="2400" dirty="0">
                <a:latin typeface="Times New Roman" panose="02020603050405020304" pitchFamily="18" charset="0"/>
              </a:rPr>
              <a:t>Index</a:t>
            </a:r>
            <a:endParaRPr sz="2400" dirty="0">
              <a:latin typeface="Times New Roman" panose="02020603050405020304" pitchFamily="18" charset="0"/>
            </a:endParaRPr>
          </a:p>
        </p:txBody>
      </p:sp>
      <p:sp>
        <p:nvSpPr>
          <p:cNvPr id="55307" name="Line 11"/>
          <p:cNvSpPr/>
          <p:nvPr/>
        </p:nvSpPr>
        <p:spPr>
          <a:xfrm>
            <a:off x="1066800" y="2362200"/>
            <a:ext cx="0" cy="457200"/>
          </a:xfrm>
          <a:prstGeom prst="line">
            <a:avLst/>
          </a:prstGeom>
          <a:ln w="9525" cap="flat" cmpd="sng">
            <a:solidFill>
              <a:schemeClr val="tx1"/>
            </a:solidFill>
            <a:prstDash val="solid"/>
            <a:headEnd type="none" w="med" len="med"/>
            <a:tailEnd type="none" w="med" len="med"/>
          </a:ln>
        </p:spPr>
      </p:sp>
      <p:sp>
        <p:nvSpPr>
          <p:cNvPr id="55308" name="Line 12"/>
          <p:cNvSpPr/>
          <p:nvPr/>
        </p:nvSpPr>
        <p:spPr>
          <a:xfrm>
            <a:off x="1066800" y="2819400"/>
            <a:ext cx="685800" cy="0"/>
          </a:xfrm>
          <a:prstGeom prst="line">
            <a:avLst/>
          </a:prstGeom>
          <a:ln w="9525" cap="flat" cmpd="sng">
            <a:solidFill>
              <a:schemeClr val="tx1"/>
            </a:solidFill>
            <a:prstDash val="solid"/>
            <a:headEnd type="none" w="med" len="med"/>
            <a:tailEnd type="triangle" w="med" len="med"/>
          </a:ln>
        </p:spPr>
      </p:sp>
      <p:sp>
        <p:nvSpPr>
          <p:cNvPr id="55309" name="Text Box 13"/>
          <p:cNvSpPr txBox="1"/>
          <p:nvPr/>
        </p:nvSpPr>
        <p:spPr>
          <a:xfrm>
            <a:off x="381000" y="2438400"/>
            <a:ext cx="914400" cy="457200"/>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spcBef>
                <a:spcPct val="50000"/>
              </a:spcBef>
              <a:buClrTx/>
              <a:buSzTx/>
              <a:buFontTx/>
              <a:buNone/>
            </a:pPr>
            <a:r>
              <a:rPr sz="2400" dirty="0">
                <a:latin typeface="Times New Roman" panose="02020603050405020304" pitchFamily="18" charset="0"/>
              </a:rPr>
              <a:t>text</a:t>
            </a:r>
            <a:endParaRPr sz="2400" dirty="0">
              <a:latin typeface="Times New Roman" panose="02020603050405020304" pitchFamily="18" charset="0"/>
            </a:endParaRPr>
          </a:p>
        </p:txBody>
      </p:sp>
      <p:sp>
        <p:nvSpPr>
          <p:cNvPr id="55310" name="Line 14"/>
          <p:cNvSpPr/>
          <p:nvPr/>
        </p:nvSpPr>
        <p:spPr>
          <a:xfrm>
            <a:off x="2438400" y="3048000"/>
            <a:ext cx="0" cy="457200"/>
          </a:xfrm>
          <a:prstGeom prst="line">
            <a:avLst/>
          </a:prstGeom>
          <a:ln w="9525" cap="flat" cmpd="sng">
            <a:solidFill>
              <a:schemeClr val="tx1"/>
            </a:solidFill>
            <a:prstDash val="solid"/>
            <a:headEnd type="none" w="med" len="med"/>
            <a:tailEnd type="none" w="med" len="med"/>
          </a:ln>
        </p:spPr>
      </p:sp>
      <p:sp>
        <p:nvSpPr>
          <p:cNvPr id="55311" name="Line 15"/>
          <p:cNvSpPr/>
          <p:nvPr/>
        </p:nvSpPr>
        <p:spPr>
          <a:xfrm>
            <a:off x="2438400" y="3505200"/>
            <a:ext cx="762000" cy="0"/>
          </a:xfrm>
          <a:prstGeom prst="line">
            <a:avLst/>
          </a:prstGeom>
          <a:ln w="9525" cap="flat" cmpd="sng">
            <a:solidFill>
              <a:schemeClr val="tx1"/>
            </a:solidFill>
            <a:prstDash val="solid"/>
            <a:headEnd type="none" w="med" len="med"/>
            <a:tailEnd type="triangle" w="med" len="med"/>
          </a:ln>
        </p:spPr>
      </p:sp>
      <p:sp>
        <p:nvSpPr>
          <p:cNvPr id="55312" name="Text Box 16"/>
          <p:cNvSpPr txBox="1"/>
          <p:nvPr/>
        </p:nvSpPr>
        <p:spPr>
          <a:xfrm>
            <a:off x="2133600" y="3733800"/>
            <a:ext cx="1676400" cy="822325"/>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lgn="r">
              <a:spcBef>
                <a:spcPct val="50000"/>
              </a:spcBef>
              <a:buClrTx/>
              <a:buSzTx/>
              <a:buFontTx/>
              <a:buNone/>
            </a:pPr>
            <a:r>
              <a:rPr sz="2400" dirty="0">
                <a:latin typeface="Times New Roman" panose="02020603050405020304" pitchFamily="18" charset="0"/>
              </a:rPr>
              <a:t>non-stoplist tokens</a:t>
            </a:r>
            <a:endParaRPr sz="2400" dirty="0">
              <a:latin typeface="Times New Roman" panose="02020603050405020304" pitchFamily="18" charset="0"/>
            </a:endParaRPr>
          </a:p>
        </p:txBody>
      </p:sp>
      <p:sp>
        <p:nvSpPr>
          <p:cNvPr id="55313" name="Line 17"/>
          <p:cNvSpPr/>
          <p:nvPr/>
        </p:nvSpPr>
        <p:spPr>
          <a:xfrm>
            <a:off x="3733800" y="3733800"/>
            <a:ext cx="0" cy="381000"/>
          </a:xfrm>
          <a:prstGeom prst="line">
            <a:avLst/>
          </a:prstGeom>
          <a:ln w="9525" cap="flat" cmpd="sng">
            <a:solidFill>
              <a:schemeClr val="tx1"/>
            </a:solidFill>
            <a:prstDash val="solid"/>
            <a:headEnd type="none" w="med" len="med"/>
            <a:tailEnd type="none" w="med" len="med"/>
          </a:ln>
        </p:spPr>
      </p:sp>
      <p:sp>
        <p:nvSpPr>
          <p:cNvPr id="55314" name="Line 18"/>
          <p:cNvSpPr/>
          <p:nvPr/>
        </p:nvSpPr>
        <p:spPr>
          <a:xfrm>
            <a:off x="3733800" y="4114800"/>
            <a:ext cx="685800" cy="0"/>
          </a:xfrm>
          <a:prstGeom prst="line">
            <a:avLst/>
          </a:prstGeom>
          <a:ln w="9525" cap="flat" cmpd="sng">
            <a:solidFill>
              <a:schemeClr val="tx1"/>
            </a:solidFill>
            <a:prstDash val="solid"/>
            <a:headEnd type="none" w="med" len="med"/>
            <a:tailEnd type="triangle" w="med" len="med"/>
          </a:ln>
        </p:spPr>
      </p:sp>
      <p:sp>
        <p:nvSpPr>
          <p:cNvPr id="55315" name="Text Box 19"/>
          <p:cNvSpPr txBox="1"/>
          <p:nvPr/>
        </p:nvSpPr>
        <p:spPr>
          <a:xfrm>
            <a:off x="1524000" y="3124200"/>
            <a:ext cx="1066800" cy="457200"/>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spcBef>
                <a:spcPct val="50000"/>
              </a:spcBef>
              <a:buClrTx/>
              <a:buSzTx/>
              <a:buFontTx/>
              <a:buNone/>
            </a:pPr>
            <a:r>
              <a:rPr sz="2400" dirty="0">
                <a:latin typeface="Times New Roman" panose="02020603050405020304" pitchFamily="18" charset="0"/>
              </a:rPr>
              <a:t>tokens</a:t>
            </a:r>
            <a:endParaRPr sz="2400" dirty="0">
              <a:latin typeface="Times New Roman" panose="02020603050405020304" pitchFamily="18" charset="0"/>
            </a:endParaRPr>
          </a:p>
        </p:txBody>
      </p:sp>
      <p:sp>
        <p:nvSpPr>
          <p:cNvPr id="55316" name="Text Box 20"/>
          <p:cNvSpPr txBox="1"/>
          <p:nvPr/>
        </p:nvSpPr>
        <p:spPr>
          <a:xfrm>
            <a:off x="3276600" y="4419600"/>
            <a:ext cx="1752600" cy="822325"/>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lgn="r">
              <a:spcBef>
                <a:spcPct val="50000"/>
              </a:spcBef>
              <a:buClrTx/>
              <a:buSzTx/>
              <a:buFontTx/>
              <a:buNone/>
            </a:pPr>
            <a:r>
              <a:rPr sz="2400" dirty="0">
                <a:latin typeface="Times New Roman" panose="02020603050405020304" pitchFamily="18" charset="0"/>
              </a:rPr>
              <a:t>stemmed terms</a:t>
            </a:r>
            <a:endParaRPr sz="2400" dirty="0">
              <a:latin typeface="Times New Roman" panose="02020603050405020304" pitchFamily="18" charset="0"/>
            </a:endParaRPr>
          </a:p>
        </p:txBody>
      </p:sp>
      <p:sp>
        <p:nvSpPr>
          <p:cNvPr id="55317" name="Line 21"/>
          <p:cNvSpPr/>
          <p:nvPr/>
        </p:nvSpPr>
        <p:spPr>
          <a:xfrm>
            <a:off x="4953000" y="4343400"/>
            <a:ext cx="0" cy="457200"/>
          </a:xfrm>
          <a:prstGeom prst="line">
            <a:avLst/>
          </a:prstGeom>
          <a:ln w="9525" cap="flat" cmpd="sng">
            <a:solidFill>
              <a:schemeClr val="tx1"/>
            </a:solidFill>
            <a:prstDash val="solid"/>
            <a:headEnd type="none" w="med" len="med"/>
            <a:tailEnd type="none" w="med" len="med"/>
          </a:ln>
        </p:spPr>
      </p:sp>
      <p:sp>
        <p:nvSpPr>
          <p:cNvPr id="55318" name="Line 22"/>
          <p:cNvSpPr/>
          <p:nvPr/>
        </p:nvSpPr>
        <p:spPr>
          <a:xfrm>
            <a:off x="4953000" y="4800600"/>
            <a:ext cx="457200" cy="0"/>
          </a:xfrm>
          <a:prstGeom prst="line">
            <a:avLst/>
          </a:prstGeom>
          <a:ln w="9525" cap="flat" cmpd="sng">
            <a:solidFill>
              <a:schemeClr val="tx1"/>
            </a:solidFill>
            <a:prstDash val="solid"/>
            <a:headEnd type="none" w="med" len="med"/>
            <a:tailEnd type="triangle" w="med" len="med"/>
          </a:ln>
        </p:spPr>
      </p:sp>
      <p:sp>
        <p:nvSpPr>
          <p:cNvPr id="55319" name="Line 23"/>
          <p:cNvSpPr/>
          <p:nvPr/>
        </p:nvSpPr>
        <p:spPr>
          <a:xfrm>
            <a:off x="5943600" y="5029200"/>
            <a:ext cx="0" cy="685800"/>
          </a:xfrm>
          <a:prstGeom prst="line">
            <a:avLst/>
          </a:prstGeom>
          <a:ln w="9525" cap="flat" cmpd="sng">
            <a:solidFill>
              <a:schemeClr val="tx1"/>
            </a:solidFill>
            <a:prstDash val="solid"/>
            <a:headEnd type="none" w="med" len="med"/>
            <a:tailEnd type="none" w="med" len="med"/>
          </a:ln>
        </p:spPr>
      </p:sp>
      <p:sp>
        <p:nvSpPr>
          <p:cNvPr id="55320" name="Line 24"/>
          <p:cNvSpPr/>
          <p:nvPr/>
        </p:nvSpPr>
        <p:spPr>
          <a:xfrm>
            <a:off x="5943600" y="5715000"/>
            <a:ext cx="838200" cy="0"/>
          </a:xfrm>
          <a:prstGeom prst="line">
            <a:avLst/>
          </a:prstGeom>
          <a:ln w="9525" cap="flat" cmpd="sng">
            <a:solidFill>
              <a:schemeClr val="tx1"/>
            </a:solidFill>
            <a:prstDash val="solid"/>
            <a:headEnd type="none" w="med" len="med"/>
            <a:tailEnd type="triangle" w="med" len="med"/>
          </a:ln>
        </p:spPr>
      </p:sp>
      <p:sp>
        <p:nvSpPr>
          <p:cNvPr id="55321" name="Text Box 25"/>
          <p:cNvSpPr txBox="1"/>
          <p:nvPr/>
        </p:nvSpPr>
        <p:spPr>
          <a:xfrm>
            <a:off x="5091113" y="5300663"/>
            <a:ext cx="1524000" cy="822325"/>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lgn="r">
              <a:spcBef>
                <a:spcPct val="50000"/>
              </a:spcBef>
              <a:buClrTx/>
              <a:buSzTx/>
              <a:buFontTx/>
              <a:buNone/>
            </a:pPr>
            <a:r>
              <a:rPr sz="2400" dirty="0">
                <a:latin typeface="Times New Roman" panose="02020603050405020304" pitchFamily="18" charset="0"/>
              </a:rPr>
              <a:t>terms with weights</a:t>
            </a:r>
            <a:endParaRPr sz="2400" dirty="0">
              <a:latin typeface="Times New Roman" panose="02020603050405020304" pitchFamily="18" charset="0"/>
            </a:endParaRPr>
          </a:p>
        </p:txBody>
      </p:sp>
      <p:sp>
        <p:nvSpPr>
          <p:cNvPr id="55322" name="Text Box 26"/>
          <p:cNvSpPr txBox="1"/>
          <p:nvPr/>
        </p:nvSpPr>
        <p:spPr>
          <a:xfrm>
            <a:off x="5410200" y="1752600"/>
            <a:ext cx="3581400" cy="466725"/>
          </a:xfrm>
          <a:prstGeom prst="rect">
            <a:avLst/>
          </a:prstGeom>
          <a:solidFill>
            <a:srgbClr val="DDDDDD"/>
          </a:solidFill>
          <a:ln w="9525" cap="flat" cmpd="sng">
            <a:solidFill>
              <a:schemeClr val="tx1"/>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spcBef>
                <a:spcPct val="50000"/>
              </a:spcBef>
              <a:buClrTx/>
              <a:buSzTx/>
              <a:buFontTx/>
              <a:buNone/>
            </a:pPr>
            <a:r>
              <a:rPr sz="2400" dirty="0">
                <a:latin typeface="Times New Roman" panose="02020603050405020304" pitchFamily="18" charset="0"/>
              </a:rPr>
              <a:t>Assign document identifier</a:t>
            </a:r>
            <a:endParaRPr sz="2400" dirty="0">
              <a:latin typeface="Times New Roman" panose="02020603050405020304" pitchFamily="18" charset="0"/>
            </a:endParaRPr>
          </a:p>
        </p:txBody>
      </p:sp>
      <p:sp>
        <p:nvSpPr>
          <p:cNvPr id="55323" name="Line 27"/>
          <p:cNvSpPr/>
          <p:nvPr/>
        </p:nvSpPr>
        <p:spPr>
          <a:xfrm>
            <a:off x="2133600" y="1981200"/>
            <a:ext cx="3276600" cy="0"/>
          </a:xfrm>
          <a:prstGeom prst="line">
            <a:avLst/>
          </a:prstGeom>
          <a:ln w="9525" cap="flat" cmpd="sng">
            <a:solidFill>
              <a:schemeClr val="tx1"/>
            </a:solidFill>
            <a:prstDash val="solid"/>
            <a:headEnd type="none" w="med" len="med"/>
            <a:tailEnd type="triangle" w="med" len="med"/>
          </a:ln>
        </p:spPr>
      </p:sp>
      <p:sp>
        <p:nvSpPr>
          <p:cNvPr id="55324" name="Text Box 28"/>
          <p:cNvSpPr txBox="1"/>
          <p:nvPr/>
        </p:nvSpPr>
        <p:spPr>
          <a:xfrm>
            <a:off x="3048000" y="1524000"/>
            <a:ext cx="1828800" cy="457200"/>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spcBef>
                <a:spcPct val="50000"/>
              </a:spcBef>
              <a:buClrTx/>
              <a:buSzTx/>
              <a:buFontTx/>
              <a:buNone/>
            </a:pPr>
            <a:r>
              <a:rPr sz="2400" dirty="0">
                <a:latin typeface="Times New Roman" panose="02020603050405020304" pitchFamily="18" charset="0"/>
              </a:rPr>
              <a:t>documents</a:t>
            </a:r>
            <a:endParaRPr sz="2400" dirty="0">
              <a:latin typeface="Times New Roman" panose="02020603050405020304" pitchFamily="18" charset="0"/>
            </a:endParaRPr>
          </a:p>
        </p:txBody>
      </p:sp>
      <p:sp>
        <p:nvSpPr>
          <p:cNvPr id="55325" name="Line 29"/>
          <p:cNvSpPr/>
          <p:nvPr/>
        </p:nvSpPr>
        <p:spPr>
          <a:xfrm>
            <a:off x="7924800" y="2209800"/>
            <a:ext cx="0" cy="3200400"/>
          </a:xfrm>
          <a:prstGeom prst="line">
            <a:avLst/>
          </a:prstGeom>
          <a:ln w="9525" cap="flat" cmpd="sng">
            <a:solidFill>
              <a:schemeClr val="tx1"/>
            </a:solidFill>
            <a:prstDash val="solid"/>
            <a:headEnd type="none" w="med" len="med"/>
            <a:tailEnd type="triangle" w="med" len="med"/>
          </a:ln>
        </p:spPr>
      </p:sp>
      <p:sp>
        <p:nvSpPr>
          <p:cNvPr id="55326" name="Text Box 30"/>
          <p:cNvSpPr txBox="1"/>
          <p:nvPr/>
        </p:nvSpPr>
        <p:spPr>
          <a:xfrm>
            <a:off x="6400800" y="2438400"/>
            <a:ext cx="1447800" cy="822325"/>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lgn="r">
              <a:spcBef>
                <a:spcPct val="50000"/>
              </a:spcBef>
              <a:buClrTx/>
              <a:buSzTx/>
              <a:buFontTx/>
              <a:buNone/>
            </a:pPr>
            <a:r>
              <a:rPr sz="2400" dirty="0">
                <a:latin typeface="Times New Roman" panose="02020603050405020304" pitchFamily="18" charset="0"/>
              </a:rPr>
              <a:t>document IDs </a:t>
            </a:r>
            <a:endParaRPr sz="2400" dirty="0">
              <a:latin typeface="Times New Roman" panose="02020603050405020304"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2"/>
          <p:cNvSpPr>
            <a:spLocks noGrp="1" noChangeArrowheads="1"/>
          </p:cNvSpPr>
          <p:nvPr>
            <p:ph type="title"/>
          </p:nvPr>
        </p:nvSpPr>
        <p:spPr bwMode="auto">
          <a:xfrm>
            <a:off x="457200" y="274638"/>
            <a:ext cx="8229600" cy="639762"/>
          </a:xfrm>
          <a:ln>
            <a:miter lim="800000"/>
          </a:ln>
          <a:effectLst/>
          <a:sp3d prstMaterial="plastic"/>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0" numCol="1" anchor="b" anchorCtr="0" compatLnSpc="1">
            <a:normAutofit fontScale="90000"/>
            <a:scene3d>
              <a:camera prst="orthographicFront"/>
              <a:lightRig rig="freezing" dir="t">
                <a:rot lat="0" lon="0" rev="5640000"/>
              </a:lightRig>
            </a:scene3d>
            <a:sp3d prstMaterial="flat">
              <a:contourClr>
                <a:schemeClr val="tx2"/>
              </a:contourClr>
            </a:sp3d>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5000" b="0" i="0" u="none" strike="noStrike" kern="1200" cap="none" spc="0" normalizeH="0" baseline="0" noProof="0" smtClean="0">
                <a:ln>
                  <a:noFill/>
                </a:ln>
                <a:solidFill>
                  <a:schemeClr val="tx2"/>
                </a:solidFill>
                <a:effectLst/>
                <a:uLnTx/>
                <a:uFillTx/>
                <a:latin typeface="+mj-lt"/>
                <a:ea typeface="+mj-ea"/>
                <a:cs typeface="+mj-cs"/>
              </a:rPr>
              <a:t>Searching Subsystem</a:t>
            </a:r>
            <a:endParaRPr kumimoji="0" lang="en-US" sz="5000" b="0" i="0" u="none" strike="noStrike" kern="1200" cap="none" spc="0" normalizeH="0" baseline="0" noProof="0" smtClean="0">
              <a:ln>
                <a:noFill/>
              </a:ln>
              <a:solidFill>
                <a:schemeClr val="tx2"/>
              </a:solidFill>
              <a:effectLst/>
              <a:uLnTx/>
              <a:uFillTx/>
              <a:latin typeface="+mj-lt"/>
              <a:ea typeface="+mj-ea"/>
              <a:cs typeface="+mj-cs"/>
            </a:endParaRPr>
          </a:p>
        </p:txBody>
      </p:sp>
      <p:grpSp>
        <p:nvGrpSpPr>
          <p:cNvPr id="56323" name="Group 3"/>
          <p:cNvGrpSpPr/>
          <p:nvPr/>
        </p:nvGrpSpPr>
        <p:grpSpPr>
          <a:xfrm>
            <a:off x="457200" y="1371600"/>
            <a:ext cx="1365250" cy="927100"/>
            <a:chOff x="1688" y="2032"/>
            <a:chExt cx="860" cy="584"/>
          </a:xfrm>
        </p:grpSpPr>
        <p:sp>
          <p:nvSpPr>
            <p:cNvPr id="56354" name="Line 4"/>
            <p:cNvSpPr/>
            <p:nvPr/>
          </p:nvSpPr>
          <p:spPr>
            <a:xfrm>
              <a:off x="2004" y="2344"/>
              <a:ext cx="544" cy="0"/>
            </a:xfrm>
            <a:prstGeom prst="line">
              <a:avLst/>
            </a:prstGeom>
            <a:ln w="25400" cap="flat" cmpd="sng">
              <a:solidFill>
                <a:schemeClr val="bg2"/>
              </a:solidFill>
              <a:prstDash val="solid"/>
              <a:headEnd type="none" w="med" len="med"/>
              <a:tailEnd type="none" w="med" len="med"/>
            </a:ln>
          </p:spPr>
        </p:sp>
        <p:sp>
          <p:nvSpPr>
            <p:cNvPr id="56355" name="Line 5"/>
            <p:cNvSpPr/>
            <p:nvPr/>
          </p:nvSpPr>
          <p:spPr>
            <a:xfrm flipH="1">
              <a:off x="2076" y="2352"/>
              <a:ext cx="64" cy="240"/>
            </a:xfrm>
            <a:prstGeom prst="line">
              <a:avLst/>
            </a:prstGeom>
            <a:ln w="25400" cap="flat" cmpd="sng">
              <a:solidFill>
                <a:schemeClr val="bg2"/>
              </a:solidFill>
              <a:prstDash val="solid"/>
              <a:headEnd type="none" w="med" len="med"/>
              <a:tailEnd type="none" w="med" len="med"/>
            </a:ln>
          </p:spPr>
        </p:sp>
        <p:sp>
          <p:nvSpPr>
            <p:cNvPr id="56356" name="Line 6"/>
            <p:cNvSpPr/>
            <p:nvPr/>
          </p:nvSpPr>
          <p:spPr>
            <a:xfrm flipH="1" flipV="1">
              <a:off x="2412" y="2344"/>
              <a:ext cx="64" cy="272"/>
            </a:xfrm>
            <a:prstGeom prst="line">
              <a:avLst/>
            </a:prstGeom>
            <a:ln w="25400" cap="flat" cmpd="sng">
              <a:solidFill>
                <a:schemeClr val="bg2"/>
              </a:solidFill>
              <a:prstDash val="solid"/>
              <a:headEnd type="none" w="med" len="med"/>
              <a:tailEnd type="none" w="med" len="med"/>
            </a:ln>
          </p:spPr>
        </p:sp>
        <p:grpSp>
          <p:nvGrpSpPr>
            <p:cNvPr id="56357" name="Group 7"/>
            <p:cNvGrpSpPr/>
            <p:nvPr/>
          </p:nvGrpSpPr>
          <p:grpSpPr>
            <a:xfrm>
              <a:off x="1688" y="2032"/>
              <a:ext cx="341" cy="484"/>
              <a:chOff x="344" y="1456"/>
              <a:chExt cx="341" cy="484"/>
            </a:xfrm>
          </p:grpSpPr>
          <p:sp>
            <p:nvSpPr>
              <p:cNvPr id="56360" name="Oval 8"/>
              <p:cNvSpPr/>
              <p:nvPr/>
            </p:nvSpPr>
            <p:spPr>
              <a:xfrm>
                <a:off x="416" y="1456"/>
                <a:ext cx="64" cy="64"/>
              </a:xfrm>
              <a:prstGeom prst="ellipse">
                <a:avLst/>
              </a:prstGeom>
              <a:solidFill>
                <a:srgbClr val="000000"/>
              </a:solidFill>
              <a:ln w="12700" cap="flat" cmpd="sng">
                <a:solidFill>
                  <a:srgbClr val="000000"/>
                </a:solidFill>
                <a:prstDash val="solid"/>
                <a:headEnd type="none" w="med" len="med"/>
                <a:tailEnd type="none" w="med" len="med"/>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sz="1800" dirty="0">
                  <a:latin typeface="Arial" panose="020B0604020202020204" pitchFamily="34" charset="0"/>
                </a:endParaRPr>
              </a:p>
            </p:txBody>
          </p:sp>
          <p:sp>
            <p:nvSpPr>
              <p:cNvPr id="56361" name="Line 9"/>
              <p:cNvSpPr/>
              <p:nvPr/>
            </p:nvSpPr>
            <p:spPr>
              <a:xfrm>
                <a:off x="344" y="1540"/>
                <a:ext cx="0" cy="376"/>
              </a:xfrm>
              <a:prstGeom prst="line">
                <a:avLst/>
              </a:prstGeom>
              <a:ln w="25400" cap="flat" cmpd="sng">
                <a:solidFill>
                  <a:schemeClr val="bg2"/>
                </a:solidFill>
                <a:prstDash val="solid"/>
                <a:headEnd type="none" w="med" len="med"/>
                <a:tailEnd type="none" w="med" len="med"/>
              </a:ln>
            </p:spPr>
          </p:sp>
          <p:sp>
            <p:nvSpPr>
              <p:cNvPr id="56362" name="Line 10"/>
              <p:cNvSpPr/>
              <p:nvPr/>
            </p:nvSpPr>
            <p:spPr>
              <a:xfrm>
                <a:off x="356" y="1776"/>
                <a:ext cx="160" cy="8"/>
              </a:xfrm>
              <a:prstGeom prst="line">
                <a:avLst/>
              </a:prstGeom>
              <a:ln w="25400" cap="flat" cmpd="sng">
                <a:solidFill>
                  <a:schemeClr val="bg2"/>
                </a:solidFill>
                <a:prstDash val="solid"/>
                <a:headEnd type="none" w="med" len="med"/>
                <a:tailEnd type="none" w="med" len="med"/>
              </a:ln>
            </p:spPr>
          </p:sp>
          <p:sp>
            <p:nvSpPr>
              <p:cNvPr id="56363" name="Line 11"/>
              <p:cNvSpPr/>
              <p:nvPr/>
            </p:nvSpPr>
            <p:spPr>
              <a:xfrm>
                <a:off x="552" y="1788"/>
                <a:ext cx="0" cy="144"/>
              </a:xfrm>
              <a:prstGeom prst="line">
                <a:avLst/>
              </a:prstGeom>
              <a:ln w="25400" cap="flat" cmpd="sng">
                <a:solidFill>
                  <a:schemeClr val="bg2"/>
                </a:solidFill>
                <a:prstDash val="solid"/>
                <a:headEnd type="none" w="med" len="med"/>
                <a:tailEnd type="none" w="med" len="med"/>
              </a:ln>
            </p:spPr>
          </p:sp>
          <p:sp>
            <p:nvSpPr>
              <p:cNvPr id="56364" name="Freeform 12"/>
              <p:cNvSpPr/>
              <p:nvPr/>
            </p:nvSpPr>
            <p:spPr>
              <a:xfrm>
                <a:off x="388" y="1516"/>
                <a:ext cx="65" cy="217"/>
              </a:xfrm>
              <a:custGeom>
                <a:avLst/>
                <a:gdLst>
                  <a:gd name="txL" fmla="*/ 0 w 65"/>
                  <a:gd name="txT" fmla="*/ 0 h 217"/>
                  <a:gd name="txR" fmla="*/ 65 w 65"/>
                  <a:gd name="txB" fmla="*/ 217 h 217"/>
                </a:gdLst>
                <a:ahLst/>
                <a:cxnLst>
                  <a:cxn ang="0">
                    <a:pos x="64" y="0"/>
                  </a:cxn>
                  <a:cxn ang="0">
                    <a:pos x="0" y="104"/>
                  </a:cxn>
                  <a:cxn ang="0">
                    <a:pos x="0" y="216"/>
                  </a:cxn>
                </a:cxnLst>
                <a:rect l="txL" t="txT" r="txR" b="txB"/>
                <a:pathLst>
                  <a:path w="65" h="217">
                    <a:moveTo>
                      <a:pt x="64" y="0"/>
                    </a:moveTo>
                    <a:lnTo>
                      <a:pt x="0" y="104"/>
                    </a:lnTo>
                    <a:lnTo>
                      <a:pt x="0" y="216"/>
                    </a:lnTo>
                  </a:path>
                </a:pathLst>
              </a:custGeom>
              <a:noFill/>
              <a:ln w="25400" cap="rnd" cmpd="sng">
                <a:solidFill>
                  <a:srgbClr val="000000">
                    <a:alpha val="100000"/>
                  </a:srgbClr>
                </a:solidFill>
                <a:prstDash val="solid"/>
                <a:round/>
                <a:headEnd type="none" w="med" len="med"/>
                <a:tailEnd type="none" w="med" len="med"/>
              </a:ln>
            </p:spPr>
            <p:txBody>
              <a:bodyPr/>
              <a:p>
                <a:endParaRPr lang="en-US"/>
              </a:p>
            </p:txBody>
          </p:sp>
          <p:sp>
            <p:nvSpPr>
              <p:cNvPr id="56365" name="Line 13"/>
              <p:cNvSpPr/>
              <p:nvPr/>
            </p:nvSpPr>
            <p:spPr>
              <a:xfrm>
                <a:off x="396" y="1740"/>
                <a:ext cx="168" cy="0"/>
              </a:xfrm>
              <a:prstGeom prst="line">
                <a:avLst/>
              </a:prstGeom>
              <a:ln w="25400" cap="flat" cmpd="sng">
                <a:solidFill>
                  <a:srgbClr val="000000"/>
                </a:solidFill>
                <a:prstDash val="solid"/>
                <a:headEnd type="none" w="med" len="med"/>
                <a:tailEnd type="none" w="med" len="med"/>
              </a:ln>
            </p:spPr>
          </p:sp>
          <p:sp>
            <p:nvSpPr>
              <p:cNvPr id="56366" name="Line 14"/>
              <p:cNvSpPr/>
              <p:nvPr/>
            </p:nvSpPr>
            <p:spPr>
              <a:xfrm>
                <a:off x="588" y="1756"/>
                <a:ext cx="16" cy="184"/>
              </a:xfrm>
              <a:prstGeom prst="line">
                <a:avLst/>
              </a:prstGeom>
              <a:ln w="25400" cap="flat" cmpd="sng">
                <a:solidFill>
                  <a:srgbClr val="000000"/>
                </a:solidFill>
                <a:prstDash val="solid"/>
                <a:headEnd type="none" w="med" len="med"/>
                <a:tailEnd type="none" w="med" len="med"/>
              </a:ln>
            </p:spPr>
          </p:sp>
          <p:sp>
            <p:nvSpPr>
              <p:cNvPr id="56367" name="Line 15"/>
              <p:cNvSpPr/>
              <p:nvPr/>
            </p:nvSpPr>
            <p:spPr>
              <a:xfrm flipV="1">
                <a:off x="620" y="1916"/>
                <a:ext cx="32" cy="24"/>
              </a:xfrm>
              <a:prstGeom prst="line">
                <a:avLst/>
              </a:prstGeom>
              <a:ln w="25400" cap="flat" cmpd="sng">
                <a:solidFill>
                  <a:srgbClr val="000000"/>
                </a:solidFill>
                <a:prstDash val="solid"/>
                <a:headEnd type="none" w="med" len="med"/>
                <a:tailEnd type="none" w="med" len="med"/>
              </a:ln>
            </p:spPr>
          </p:sp>
          <p:sp>
            <p:nvSpPr>
              <p:cNvPr id="56368" name="Freeform 16"/>
              <p:cNvSpPr/>
              <p:nvPr/>
            </p:nvSpPr>
            <p:spPr>
              <a:xfrm>
                <a:off x="404" y="1596"/>
                <a:ext cx="281" cy="57"/>
              </a:xfrm>
              <a:custGeom>
                <a:avLst/>
                <a:gdLst>
                  <a:gd name="txL" fmla="*/ 0 w 281"/>
                  <a:gd name="txT" fmla="*/ 0 h 57"/>
                  <a:gd name="txR" fmla="*/ 281 w 281"/>
                  <a:gd name="txB" fmla="*/ 57 h 57"/>
                </a:gdLst>
                <a:ahLst/>
                <a:cxnLst>
                  <a:cxn ang="0">
                    <a:pos x="0" y="0"/>
                  </a:cxn>
                  <a:cxn ang="0">
                    <a:pos x="136" y="56"/>
                  </a:cxn>
                  <a:cxn ang="0">
                    <a:pos x="280" y="8"/>
                  </a:cxn>
                </a:cxnLst>
                <a:rect l="txL" t="txT" r="txR" b="txB"/>
                <a:pathLst>
                  <a:path w="281" h="57">
                    <a:moveTo>
                      <a:pt x="0" y="0"/>
                    </a:moveTo>
                    <a:lnTo>
                      <a:pt x="136" y="56"/>
                    </a:lnTo>
                    <a:lnTo>
                      <a:pt x="280" y="8"/>
                    </a:lnTo>
                  </a:path>
                </a:pathLst>
              </a:custGeom>
              <a:noFill/>
              <a:ln w="25400" cap="rnd" cmpd="sng">
                <a:solidFill>
                  <a:srgbClr val="000000">
                    <a:alpha val="100000"/>
                  </a:srgbClr>
                </a:solidFill>
                <a:prstDash val="solid"/>
                <a:round/>
                <a:headEnd type="none" w="med" len="med"/>
                <a:tailEnd type="none" w="med" len="med"/>
              </a:ln>
            </p:spPr>
            <p:txBody>
              <a:bodyPr/>
              <a:p>
                <a:endParaRPr lang="en-US"/>
              </a:p>
            </p:txBody>
          </p:sp>
        </p:grpSp>
        <p:sp>
          <p:nvSpPr>
            <p:cNvPr id="56358" name="Rectangle 17"/>
            <p:cNvSpPr/>
            <p:nvPr/>
          </p:nvSpPr>
          <p:spPr>
            <a:xfrm>
              <a:off x="2160" y="2064"/>
              <a:ext cx="240"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sz="1800" dirty="0">
                <a:latin typeface="Arial" panose="020B0604020202020204" pitchFamily="34" charset="0"/>
              </a:endParaRPr>
            </a:p>
          </p:txBody>
        </p:sp>
        <p:sp>
          <p:nvSpPr>
            <p:cNvPr id="56359" name="Rectangle 18"/>
            <p:cNvSpPr/>
            <p:nvPr/>
          </p:nvSpPr>
          <p:spPr>
            <a:xfrm>
              <a:off x="2194" y="2088"/>
              <a:ext cx="162" cy="15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sz="1800" dirty="0">
                <a:latin typeface="Arial" panose="020B0604020202020204" pitchFamily="34" charset="0"/>
              </a:endParaRPr>
            </a:p>
          </p:txBody>
        </p:sp>
      </p:grpSp>
      <p:sp>
        <p:nvSpPr>
          <p:cNvPr id="56324" name="AutoShape 19"/>
          <p:cNvSpPr/>
          <p:nvPr/>
        </p:nvSpPr>
        <p:spPr>
          <a:xfrm>
            <a:off x="6781800" y="5257800"/>
            <a:ext cx="1905000" cy="1143000"/>
          </a:xfrm>
          <a:prstGeom prst="can">
            <a:avLst>
              <a:gd name="adj" fmla="val 25000"/>
            </a:avLst>
          </a:prstGeom>
          <a:solidFill>
            <a:srgbClr val="CCFFFF"/>
          </a:solidFill>
          <a:ln w="9525" cap="flat" cmpd="sng">
            <a:solidFill>
              <a:schemeClr val="tx1"/>
            </a:solidFill>
            <a:prstDash val="solid"/>
            <a:headEnd type="none" w="med" len="med"/>
            <a:tailEnd type="none" w="med" len="med"/>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sz="1800" dirty="0">
              <a:latin typeface="Arial" panose="020B0604020202020204" pitchFamily="34" charset="0"/>
            </a:endParaRPr>
          </a:p>
        </p:txBody>
      </p:sp>
      <p:sp>
        <p:nvSpPr>
          <p:cNvPr id="56325" name="Text Box 20"/>
          <p:cNvSpPr txBox="1"/>
          <p:nvPr/>
        </p:nvSpPr>
        <p:spPr>
          <a:xfrm>
            <a:off x="6858000" y="5486400"/>
            <a:ext cx="1828800" cy="457200"/>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lgn="ctr">
              <a:spcBef>
                <a:spcPct val="50000"/>
              </a:spcBef>
              <a:buClrTx/>
              <a:buSzTx/>
              <a:buFontTx/>
              <a:buNone/>
            </a:pPr>
            <a:r>
              <a:rPr sz="2400" dirty="0">
                <a:latin typeface="Times New Roman" panose="02020603050405020304" pitchFamily="18" charset="0"/>
              </a:rPr>
              <a:t>Index</a:t>
            </a:r>
            <a:endParaRPr sz="2400" dirty="0">
              <a:latin typeface="Times New Roman" panose="02020603050405020304" pitchFamily="18" charset="0"/>
            </a:endParaRPr>
          </a:p>
        </p:txBody>
      </p:sp>
      <p:sp>
        <p:nvSpPr>
          <p:cNvPr id="56326" name="Text Box 21"/>
          <p:cNvSpPr txBox="1"/>
          <p:nvPr/>
        </p:nvSpPr>
        <p:spPr>
          <a:xfrm>
            <a:off x="1752600" y="1219200"/>
            <a:ext cx="914400" cy="457200"/>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spcBef>
                <a:spcPct val="50000"/>
              </a:spcBef>
              <a:buClrTx/>
              <a:buSzTx/>
              <a:buFontTx/>
              <a:buNone/>
            </a:pPr>
            <a:r>
              <a:rPr sz="2400" dirty="0">
                <a:latin typeface="Times New Roman" panose="02020603050405020304" pitchFamily="18" charset="0"/>
              </a:rPr>
              <a:t>query</a:t>
            </a:r>
            <a:endParaRPr sz="2400" dirty="0">
              <a:latin typeface="Times New Roman" panose="02020603050405020304" pitchFamily="18" charset="0"/>
            </a:endParaRPr>
          </a:p>
        </p:txBody>
      </p:sp>
      <p:sp>
        <p:nvSpPr>
          <p:cNvPr id="56327" name="Text Box 22"/>
          <p:cNvSpPr txBox="1"/>
          <p:nvPr/>
        </p:nvSpPr>
        <p:spPr>
          <a:xfrm>
            <a:off x="2667000" y="1371600"/>
            <a:ext cx="1676400" cy="466725"/>
          </a:xfrm>
          <a:prstGeom prst="rect">
            <a:avLst/>
          </a:prstGeom>
          <a:solidFill>
            <a:srgbClr val="DDDDDD"/>
          </a:solidFill>
          <a:ln w="9525" cap="flat" cmpd="sng">
            <a:solidFill>
              <a:schemeClr val="tx1"/>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spcBef>
                <a:spcPct val="50000"/>
              </a:spcBef>
              <a:buClrTx/>
              <a:buSzTx/>
              <a:buFontTx/>
              <a:buNone/>
            </a:pPr>
            <a:r>
              <a:rPr sz="2400" dirty="0">
                <a:latin typeface="Times New Roman" panose="02020603050405020304" pitchFamily="18" charset="0"/>
              </a:rPr>
              <a:t>parse query</a:t>
            </a:r>
            <a:endParaRPr sz="2400" dirty="0">
              <a:latin typeface="Times New Roman" panose="02020603050405020304" pitchFamily="18" charset="0"/>
            </a:endParaRPr>
          </a:p>
        </p:txBody>
      </p:sp>
      <p:sp>
        <p:nvSpPr>
          <p:cNvPr id="56328" name="Text Box 23"/>
          <p:cNvSpPr txBox="1"/>
          <p:nvPr/>
        </p:nvSpPr>
        <p:spPr>
          <a:xfrm>
            <a:off x="4572000" y="3486150"/>
            <a:ext cx="3124200" cy="460375"/>
          </a:xfrm>
          <a:prstGeom prst="rect">
            <a:avLst/>
          </a:prstGeom>
          <a:solidFill>
            <a:srgbClr val="DDDDDD"/>
          </a:solidFill>
          <a:ln w="9525" cap="flat" cmpd="sng">
            <a:solidFill>
              <a:schemeClr val="tx1"/>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spcBef>
                <a:spcPct val="50000"/>
              </a:spcBef>
              <a:buClrTx/>
              <a:buSzTx/>
              <a:buFontTx/>
              <a:buNone/>
            </a:pPr>
            <a:r>
              <a:rPr sz="2400" dirty="0">
                <a:latin typeface="Times New Roman" panose="02020603050405020304" pitchFamily="18" charset="0"/>
              </a:rPr>
              <a:t>Stemming &amp; Normalize</a:t>
            </a:r>
            <a:endParaRPr sz="2400" dirty="0">
              <a:latin typeface="Times New Roman" panose="02020603050405020304" pitchFamily="18" charset="0"/>
            </a:endParaRPr>
          </a:p>
        </p:txBody>
      </p:sp>
      <p:sp>
        <p:nvSpPr>
          <p:cNvPr id="56329" name="Text Box 24"/>
          <p:cNvSpPr txBox="1"/>
          <p:nvPr/>
        </p:nvSpPr>
        <p:spPr>
          <a:xfrm>
            <a:off x="6781800" y="3886200"/>
            <a:ext cx="2133600" cy="46196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spcBef>
                <a:spcPct val="0"/>
              </a:spcBef>
              <a:buClrTx/>
              <a:buSzTx/>
              <a:buFontTx/>
              <a:buNone/>
            </a:pPr>
            <a:r>
              <a:rPr sz="2400" dirty="0">
                <a:latin typeface="Times New Roman" panose="02020603050405020304" pitchFamily="18" charset="0"/>
              </a:rPr>
              <a:t>stemmed terms</a:t>
            </a:r>
            <a:endParaRPr sz="2400" dirty="0">
              <a:latin typeface="Times New Roman" panose="02020603050405020304" pitchFamily="18" charset="0"/>
            </a:endParaRPr>
          </a:p>
        </p:txBody>
      </p:sp>
      <p:sp>
        <p:nvSpPr>
          <p:cNvPr id="56330" name="Text Box 25"/>
          <p:cNvSpPr txBox="1"/>
          <p:nvPr/>
        </p:nvSpPr>
        <p:spPr>
          <a:xfrm>
            <a:off x="4038600" y="2514600"/>
            <a:ext cx="1447800" cy="466725"/>
          </a:xfrm>
          <a:prstGeom prst="rect">
            <a:avLst/>
          </a:prstGeom>
          <a:solidFill>
            <a:srgbClr val="DDDDDD"/>
          </a:solidFill>
          <a:ln w="9525" cap="flat" cmpd="sng">
            <a:solidFill>
              <a:schemeClr val="tx1"/>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spcBef>
                <a:spcPct val="50000"/>
              </a:spcBef>
              <a:buClrTx/>
              <a:buSzTx/>
              <a:buFontTx/>
              <a:buNone/>
            </a:pPr>
            <a:r>
              <a:rPr sz="2400" dirty="0">
                <a:latin typeface="Times New Roman" panose="02020603050405020304" pitchFamily="18" charset="0"/>
              </a:rPr>
              <a:t>Stop list</a:t>
            </a:r>
            <a:endParaRPr sz="2400" dirty="0">
              <a:latin typeface="Times New Roman" panose="02020603050405020304" pitchFamily="18" charset="0"/>
            </a:endParaRPr>
          </a:p>
        </p:txBody>
      </p:sp>
      <p:sp>
        <p:nvSpPr>
          <p:cNvPr id="56331" name="Text Box 26"/>
          <p:cNvSpPr txBox="1"/>
          <p:nvPr/>
        </p:nvSpPr>
        <p:spPr>
          <a:xfrm>
            <a:off x="5680075" y="2362200"/>
            <a:ext cx="1676400" cy="822325"/>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spcBef>
                <a:spcPct val="50000"/>
              </a:spcBef>
              <a:buClrTx/>
              <a:buSzTx/>
              <a:buFontTx/>
              <a:buNone/>
            </a:pPr>
            <a:r>
              <a:rPr sz="2400" dirty="0">
                <a:latin typeface="Times New Roman" panose="02020603050405020304" pitchFamily="18" charset="0"/>
              </a:rPr>
              <a:t>non-stoplist tokens</a:t>
            </a:r>
            <a:endParaRPr sz="2400" dirty="0">
              <a:latin typeface="Times New Roman" panose="02020603050405020304" pitchFamily="18" charset="0"/>
            </a:endParaRPr>
          </a:p>
        </p:txBody>
      </p:sp>
      <p:sp>
        <p:nvSpPr>
          <p:cNvPr id="56332" name="Text Box 27"/>
          <p:cNvSpPr txBox="1"/>
          <p:nvPr/>
        </p:nvSpPr>
        <p:spPr>
          <a:xfrm>
            <a:off x="3857625" y="1752600"/>
            <a:ext cx="2362200" cy="457200"/>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spcBef>
                <a:spcPct val="50000"/>
              </a:spcBef>
              <a:buClrTx/>
              <a:buSzTx/>
              <a:buFontTx/>
              <a:buNone/>
            </a:pPr>
            <a:r>
              <a:rPr sz="2400" dirty="0">
                <a:latin typeface="Times New Roman" panose="02020603050405020304" pitchFamily="18" charset="0"/>
              </a:rPr>
              <a:t>query tokens</a:t>
            </a:r>
            <a:endParaRPr sz="2400" dirty="0">
              <a:latin typeface="Times New Roman" panose="02020603050405020304" pitchFamily="18" charset="0"/>
            </a:endParaRPr>
          </a:p>
        </p:txBody>
      </p:sp>
      <p:sp>
        <p:nvSpPr>
          <p:cNvPr id="56333" name="Line 28"/>
          <p:cNvSpPr/>
          <p:nvPr/>
        </p:nvSpPr>
        <p:spPr>
          <a:xfrm>
            <a:off x="1600200" y="1676400"/>
            <a:ext cx="1066800" cy="0"/>
          </a:xfrm>
          <a:prstGeom prst="line">
            <a:avLst/>
          </a:prstGeom>
          <a:ln w="9525" cap="flat" cmpd="sng">
            <a:solidFill>
              <a:schemeClr val="tx1"/>
            </a:solidFill>
            <a:prstDash val="solid"/>
            <a:headEnd type="none" w="med" len="med"/>
            <a:tailEnd type="triangle" w="med" len="med"/>
          </a:ln>
        </p:spPr>
      </p:sp>
      <p:sp>
        <p:nvSpPr>
          <p:cNvPr id="56334" name="Line 29"/>
          <p:cNvSpPr/>
          <p:nvPr/>
        </p:nvSpPr>
        <p:spPr>
          <a:xfrm>
            <a:off x="4343400" y="1600200"/>
            <a:ext cx="304800" cy="0"/>
          </a:xfrm>
          <a:prstGeom prst="line">
            <a:avLst/>
          </a:prstGeom>
          <a:ln w="9525" cap="flat" cmpd="sng">
            <a:solidFill>
              <a:schemeClr val="tx1"/>
            </a:solidFill>
            <a:prstDash val="solid"/>
            <a:headEnd type="none" w="med" len="med"/>
            <a:tailEnd type="none" w="med" len="med"/>
          </a:ln>
        </p:spPr>
      </p:sp>
      <p:sp>
        <p:nvSpPr>
          <p:cNvPr id="56335" name="Line 30"/>
          <p:cNvSpPr/>
          <p:nvPr/>
        </p:nvSpPr>
        <p:spPr>
          <a:xfrm>
            <a:off x="4648200" y="1600200"/>
            <a:ext cx="0" cy="914400"/>
          </a:xfrm>
          <a:prstGeom prst="line">
            <a:avLst/>
          </a:prstGeom>
          <a:ln w="9525" cap="flat" cmpd="sng">
            <a:solidFill>
              <a:schemeClr val="tx1"/>
            </a:solidFill>
            <a:prstDash val="solid"/>
            <a:headEnd type="none" w="med" len="med"/>
            <a:tailEnd type="triangle" w="med" len="med"/>
          </a:ln>
        </p:spPr>
      </p:sp>
      <p:sp>
        <p:nvSpPr>
          <p:cNvPr id="56336" name="Line 31"/>
          <p:cNvSpPr/>
          <p:nvPr/>
        </p:nvSpPr>
        <p:spPr>
          <a:xfrm>
            <a:off x="5486400" y="2743200"/>
            <a:ext cx="685800" cy="0"/>
          </a:xfrm>
          <a:prstGeom prst="line">
            <a:avLst/>
          </a:prstGeom>
          <a:ln w="9525" cap="flat" cmpd="sng">
            <a:solidFill>
              <a:schemeClr val="tx1"/>
            </a:solidFill>
            <a:prstDash val="solid"/>
            <a:headEnd type="none" w="med" len="med"/>
            <a:tailEnd type="none" w="med" len="med"/>
          </a:ln>
        </p:spPr>
      </p:sp>
      <p:sp>
        <p:nvSpPr>
          <p:cNvPr id="56337" name="Line 32"/>
          <p:cNvSpPr/>
          <p:nvPr/>
        </p:nvSpPr>
        <p:spPr>
          <a:xfrm>
            <a:off x="6172200" y="2743200"/>
            <a:ext cx="0" cy="762000"/>
          </a:xfrm>
          <a:prstGeom prst="line">
            <a:avLst/>
          </a:prstGeom>
          <a:ln w="9525" cap="flat" cmpd="sng">
            <a:solidFill>
              <a:schemeClr val="tx1"/>
            </a:solidFill>
            <a:prstDash val="solid"/>
            <a:headEnd type="none" w="med" len="med"/>
            <a:tailEnd type="triangle" w="med" len="med"/>
          </a:ln>
        </p:spPr>
      </p:sp>
      <p:sp>
        <p:nvSpPr>
          <p:cNvPr id="56338" name="Line 34"/>
          <p:cNvSpPr/>
          <p:nvPr/>
        </p:nvSpPr>
        <p:spPr>
          <a:xfrm flipH="1">
            <a:off x="5562600" y="4754563"/>
            <a:ext cx="914400" cy="46037"/>
          </a:xfrm>
          <a:prstGeom prst="line">
            <a:avLst/>
          </a:prstGeom>
          <a:ln w="9525" cap="flat" cmpd="sng">
            <a:solidFill>
              <a:schemeClr val="tx1"/>
            </a:solidFill>
            <a:prstDash val="solid"/>
            <a:headEnd type="none" w="med" len="med"/>
            <a:tailEnd type="triangle" w="med" len="med"/>
          </a:ln>
        </p:spPr>
      </p:sp>
      <p:sp>
        <p:nvSpPr>
          <p:cNvPr id="56339" name="Text Box 35"/>
          <p:cNvSpPr txBox="1"/>
          <p:nvPr/>
        </p:nvSpPr>
        <p:spPr>
          <a:xfrm>
            <a:off x="3886200" y="4419600"/>
            <a:ext cx="1676400" cy="830263"/>
          </a:xfrm>
          <a:prstGeom prst="rect">
            <a:avLst/>
          </a:prstGeom>
          <a:solidFill>
            <a:srgbClr val="DDDDDD"/>
          </a:solidFill>
          <a:ln w="9525" cap="flat" cmpd="sng">
            <a:solidFill>
              <a:schemeClr val="tx1"/>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lgn="ctr">
              <a:spcBef>
                <a:spcPct val="50000"/>
              </a:spcBef>
              <a:buClrTx/>
              <a:buSzTx/>
              <a:buFontTx/>
              <a:buNone/>
            </a:pPr>
            <a:r>
              <a:rPr sz="2400" dirty="0">
                <a:latin typeface="Times New Roman" panose="02020603050405020304" pitchFamily="18" charset="0"/>
              </a:rPr>
              <a:t>Similarity Measure</a:t>
            </a:r>
            <a:endParaRPr sz="2400" dirty="0">
              <a:latin typeface="Times New Roman" panose="02020603050405020304" pitchFamily="18" charset="0"/>
            </a:endParaRPr>
          </a:p>
        </p:txBody>
      </p:sp>
      <p:sp>
        <p:nvSpPr>
          <p:cNvPr id="56340" name="Text Box 36"/>
          <p:cNvSpPr txBox="1"/>
          <p:nvPr/>
        </p:nvSpPr>
        <p:spPr>
          <a:xfrm>
            <a:off x="2667000" y="3124200"/>
            <a:ext cx="1295400" cy="466725"/>
          </a:xfrm>
          <a:prstGeom prst="rect">
            <a:avLst/>
          </a:prstGeom>
          <a:solidFill>
            <a:srgbClr val="DDDDDD"/>
          </a:solidFill>
          <a:ln w="9525" cap="flat" cmpd="sng">
            <a:solidFill>
              <a:schemeClr val="tx1"/>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spcBef>
                <a:spcPct val="50000"/>
              </a:spcBef>
              <a:buClrTx/>
              <a:buSzTx/>
              <a:buFontTx/>
              <a:buNone/>
            </a:pPr>
            <a:r>
              <a:rPr sz="2400" dirty="0">
                <a:latin typeface="Times New Roman" panose="02020603050405020304" pitchFamily="18" charset="0"/>
              </a:rPr>
              <a:t>ranking</a:t>
            </a:r>
            <a:endParaRPr sz="2400" dirty="0">
              <a:latin typeface="Times New Roman" panose="02020603050405020304" pitchFamily="18" charset="0"/>
            </a:endParaRPr>
          </a:p>
        </p:txBody>
      </p:sp>
      <p:sp>
        <p:nvSpPr>
          <p:cNvPr id="56341" name="Line 37"/>
          <p:cNvSpPr/>
          <p:nvPr/>
        </p:nvSpPr>
        <p:spPr>
          <a:xfrm flipH="1">
            <a:off x="4724400" y="5715000"/>
            <a:ext cx="2057400" cy="0"/>
          </a:xfrm>
          <a:prstGeom prst="line">
            <a:avLst/>
          </a:prstGeom>
          <a:ln w="9525" cap="flat" cmpd="sng">
            <a:solidFill>
              <a:schemeClr val="tx1"/>
            </a:solidFill>
            <a:prstDash val="solid"/>
            <a:headEnd type="none" w="med" len="med"/>
            <a:tailEnd type="none" w="med" len="med"/>
          </a:ln>
        </p:spPr>
      </p:sp>
      <p:sp>
        <p:nvSpPr>
          <p:cNvPr id="56342" name="Line 38"/>
          <p:cNvSpPr/>
          <p:nvPr/>
        </p:nvSpPr>
        <p:spPr>
          <a:xfrm flipV="1">
            <a:off x="4724400" y="5257800"/>
            <a:ext cx="0" cy="457200"/>
          </a:xfrm>
          <a:prstGeom prst="line">
            <a:avLst/>
          </a:prstGeom>
          <a:ln w="9525" cap="flat" cmpd="sng">
            <a:solidFill>
              <a:schemeClr val="tx1"/>
            </a:solidFill>
            <a:prstDash val="solid"/>
            <a:headEnd type="none" w="med" len="med"/>
            <a:tailEnd type="triangle" w="med" len="med"/>
          </a:ln>
        </p:spPr>
      </p:sp>
      <p:sp>
        <p:nvSpPr>
          <p:cNvPr id="56343" name="Line 39"/>
          <p:cNvSpPr/>
          <p:nvPr/>
        </p:nvSpPr>
        <p:spPr>
          <a:xfrm flipH="1">
            <a:off x="3352800" y="4800600"/>
            <a:ext cx="533400" cy="0"/>
          </a:xfrm>
          <a:prstGeom prst="line">
            <a:avLst/>
          </a:prstGeom>
          <a:ln w="9525" cap="flat" cmpd="sng">
            <a:solidFill>
              <a:schemeClr val="tx1"/>
            </a:solidFill>
            <a:prstDash val="solid"/>
            <a:headEnd type="none" w="med" len="med"/>
            <a:tailEnd type="none" w="med" len="med"/>
          </a:ln>
        </p:spPr>
      </p:sp>
      <p:sp>
        <p:nvSpPr>
          <p:cNvPr id="56344" name="Line 40"/>
          <p:cNvSpPr/>
          <p:nvPr/>
        </p:nvSpPr>
        <p:spPr>
          <a:xfrm flipH="1" flipV="1">
            <a:off x="3352800" y="3581400"/>
            <a:ext cx="0" cy="1219200"/>
          </a:xfrm>
          <a:prstGeom prst="line">
            <a:avLst/>
          </a:prstGeom>
          <a:ln w="9525" cap="flat" cmpd="sng">
            <a:solidFill>
              <a:schemeClr val="tx1"/>
            </a:solidFill>
            <a:prstDash val="solid"/>
            <a:headEnd type="none" w="med" len="med"/>
            <a:tailEnd type="triangle" w="med" len="med"/>
          </a:ln>
        </p:spPr>
      </p:sp>
      <p:sp>
        <p:nvSpPr>
          <p:cNvPr id="56345" name="Line 41"/>
          <p:cNvSpPr/>
          <p:nvPr/>
        </p:nvSpPr>
        <p:spPr>
          <a:xfrm flipH="1">
            <a:off x="1524000" y="3352800"/>
            <a:ext cx="1143000" cy="0"/>
          </a:xfrm>
          <a:prstGeom prst="line">
            <a:avLst/>
          </a:prstGeom>
          <a:ln w="9525" cap="flat" cmpd="sng">
            <a:solidFill>
              <a:schemeClr val="tx1"/>
            </a:solidFill>
            <a:prstDash val="solid"/>
            <a:headEnd type="none" w="med" len="med"/>
            <a:tailEnd type="none" w="med" len="med"/>
          </a:ln>
        </p:spPr>
      </p:sp>
      <p:sp>
        <p:nvSpPr>
          <p:cNvPr id="56346" name="Line 42"/>
          <p:cNvSpPr/>
          <p:nvPr/>
        </p:nvSpPr>
        <p:spPr>
          <a:xfrm flipH="1" flipV="1">
            <a:off x="1524000" y="1981200"/>
            <a:ext cx="0" cy="1371600"/>
          </a:xfrm>
          <a:prstGeom prst="line">
            <a:avLst/>
          </a:prstGeom>
          <a:ln w="9525" cap="flat" cmpd="sng">
            <a:solidFill>
              <a:schemeClr val="tx1"/>
            </a:solidFill>
            <a:prstDash val="solid"/>
            <a:headEnd type="none" w="med" len="med"/>
            <a:tailEnd type="triangle" w="med" len="med"/>
          </a:ln>
        </p:spPr>
      </p:sp>
      <p:sp>
        <p:nvSpPr>
          <p:cNvPr id="56347" name="Text Box 43"/>
          <p:cNvSpPr txBox="1"/>
          <p:nvPr/>
        </p:nvSpPr>
        <p:spPr>
          <a:xfrm>
            <a:off x="4648200" y="5329238"/>
            <a:ext cx="2057400" cy="461962"/>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lgn="ctr">
              <a:spcBef>
                <a:spcPct val="50000"/>
              </a:spcBef>
              <a:buClrTx/>
              <a:buSzTx/>
              <a:buFontTx/>
              <a:buNone/>
            </a:pPr>
            <a:r>
              <a:rPr sz="2400" dirty="0">
                <a:latin typeface="Times New Roman" panose="02020603050405020304" pitchFamily="18" charset="0"/>
              </a:rPr>
              <a:t>Index terms</a:t>
            </a:r>
            <a:endParaRPr sz="2400" dirty="0">
              <a:latin typeface="Times New Roman" panose="02020603050405020304" pitchFamily="18" charset="0"/>
            </a:endParaRPr>
          </a:p>
        </p:txBody>
      </p:sp>
      <p:sp>
        <p:nvSpPr>
          <p:cNvPr id="56348" name="Text Box 44"/>
          <p:cNvSpPr txBox="1"/>
          <p:nvPr/>
        </p:nvSpPr>
        <p:spPr>
          <a:xfrm>
            <a:off x="1524000" y="2209800"/>
            <a:ext cx="1524000" cy="1187450"/>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spcBef>
                <a:spcPct val="50000"/>
              </a:spcBef>
              <a:buClrTx/>
              <a:buSzTx/>
              <a:buFontTx/>
              <a:buNone/>
            </a:pPr>
            <a:r>
              <a:rPr sz="2400" dirty="0">
                <a:latin typeface="Times New Roman" panose="02020603050405020304" pitchFamily="18" charset="0"/>
              </a:rPr>
              <a:t>ranked document set</a:t>
            </a:r>
            <a:endParaRPr sz="2400" dirty="0">
              <a:latin typeface="Times New Roman" panose="02020603050405020304" pitchFamily="18" charset="0"/>
            </a:endParaRPr>
          </a:p>
        </p:txBody>
      </p:sp>
      <p:sp>
        <p:nvSpPr>
          <p:cNvPr id="56349" name="Text Box 45"/>
          <p:cNvSpPr txBox="1"/>
          <p:nvPr/>
        </p:nvSpPr>
        <p:spPr>
          <a:xfrm>
            <a:off x="1981200" y="3810000"/>
            <a:ext cx="2057400" cy="83026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spcBef>
                <a:spcPct val="50000"/>
              </a:spcBef>
              <a:buClrTx/>
              <a:buSzTx/>
              <a:buFontTx/>
              <a:buNone/>
            </a:pPr>
            <a:r>
              <a:rPr sz="2400" dirty="0">
                <a:latin typeface="Times New Roman" panose="02020603050405020304" pitchFamily="18" charset="0"/>
              </a:rPr>
              <a:t>relevant document set</a:t>
            </a:r>
            <a:endParaRPr sz="2400" dirty="0">
              <a:latin typeface="Times New Roman" panose="02020603050405020304" pitchFamily="18" charset="0"/>
            </a:endParaRPr>
          </a:p>
        </p:txBody>
      </p:sp>
      <p:sp>
        <p:nvSpPr>
          <p:cNvPr id="56350" name="Text Box 8"/>
          <p:cNvSpPr txBox="1"/>
          <p:nvPr/>
        </p:nvSpPr>
        <p:spPr>
          <a:xfrm>
            <a:off x="6477000" y="4502150"/>
            <a:ext cx="2286000" cy="466725"/>
          </a:xfrm>
          <a:prstGeom prst="rect">
            <a:avLst/>
          </a:prstGeom>
          <a:solidFill>
            <a:srgbClr val="DDDDDD"/>
          </a:solidFill>
          <a:ln w="9525" cap="flat" cmpd="sng">
            <a:solidFill>
              <a:schemeClr val="tx1"/>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spcBef>
                <a:spcPct val="50000"/>
              </a:spcBef>
              <a:buClrTx/>
              <a:buSzTx/>
              <a:buFontTx/>
              <a:buNone/>
            </a:pPr>
            <a:r>
              <a:rPr sz="2400" dirty="0">
                <a:latin typeface="Times New Roman" panose="02020603050405020304" pitchFamily="18" charset="0"/>
              </a:rPr>
              <a:t>Term weighting</a:t>
            </a:r>
            <a:endParaRPr sz="2400" dirty="0">
              <a:latin typeface="Times New Roman" panose="02020603050405020304" pitchFamily="18" charset="0"/>
            </a:endParaRPr>
          </a:p>
        </p:txBody>
      </p:sp>
      <p:sp>
        <p:nvSpPr>
          <p:cNvPr id="56351" name="Line 32"/>
          <p:cNvSpPr/>
          <p:nvPr/>
        </p:nvSpPr>
        <p:spPr>
          <a:xfrm>
            <a:off x="8001000" y="3733800"/>
            <a:ext cx="0" cy="762000"/>
          </a:xfrm>
          <a:prstGeom prst="line">
            <a:avLst/>
          </a:prstGeom>
          <a:ln w="9525" cap="flat" cmpd="sng">
            <a:solidFill>
              <a:schemeClr val="tx1"/>
            </a:solidFill>
            <a:prstDash val="solid"/>
            <a:headEnd type="none" w="med" len="med"/>
            <a:tailEnd type="triangle" w="med" len="med"/>
          </a:ln>
        </p:spPr>
      </p:sp>
      <p:sp>
        <p:nvSpPr>
          <p:cNvPr id="56352" name="Line 29"/>
          <p:cNvSpPr/>
          <p:nvPr/>
        </p:nvSpPr>
        <p:spPr>
          <a:xfrm>
            <a:off x="7696200" y="3733800"/>
            <a:ext cx="304800" cy="0"/>
          </a:xfrm>
          <a:prstGeom prst="line">
            <a:avLst/>
          </a:prstGeom>
          <a:ln w="9525" cap="flat" cmpd="sng">
            <a:solidFill>
              <a:schemeClr val="tx1"/>
            </a:solidFill>
            <a:prstDash val="solid"/>
            <a:headEnd type="none" w="med" len="med"/>
            <a:tailEnd type="none" w="med" len="med"/>
          </a:ln>
        </p:spPr>
      </p:sp>
      <p:sp>
        <p:nvSpPr>
          <p:cNvPr id="56353" name="Text Box 43"/>
          <p:cNvSpPr txBox="1"/>
          <p:nvPr/>
        </p:nvSpPr>
        <p:spPr>
          <a:xfrm>
            <a:off x="5470525" y="4343400"/>
            <a:ext cx="1143000" cy="83026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stStyle>
          <a:p>
            <a:pPr marL="0" lvl="0" indent="0" algn="ctr">
              <a:spcBef>
                <a:spcPct val="50000"/>
              </a:spcBef>
              <a:buClrTx/>
              <a:buSzTx/>
              <a:buFontTx/>
              <a:buNone/>
            </a:pPr>
            <a:r>
              <a:rPr sz="2400" dirty="0">
                <a:latin typeface="Times New Roman" panose="02020603050405020304" pitchFamily="18" charset="0"/>
              </a:rPr>
              <a:t>Query terms</a:t>
            </a:r>
            <a:endParaRPr sz="2400" dirty="0">
              <a:latin typeface="Times New Roman" panose="02020603050405020304"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bwMode="auto">
          <a:ln>
            <a:miter lim="800000"/>
          </a:ln>
          <a:effectLst/>
          <a:sp3d prstMaterial="plastic"/>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18288" bIns="0" numCol="1" anchor="b" anchorCtr="0" compatLnSpc="1">
            <a:normAutofit/>
            <a:scene3d>
              <a:camera prst="orthographicFront"/>
              <a:lightRig rig="freezing" dir="t">
                <a:rot lat="0" lon="0" rev="5640000"/>
              </a:lightRig>
            </a:scene3d>
            <a:sp3d prstMaterial="flat">
              <a:bevelT w="38100" h="38100"/>
              <a:contourClr>
                <a:schemeClr val="tx2"/>
              </a:contourClr>
            </a:sp3d>
          </a:bodyPr>
          <a:lstStyle/>
          <a:p>
            <a:pPr marL="0" marR="0" lvl="0" indent="0" algn="r" defTabSz="914400" rtl="0" eaLnBrk="1" fontAlgn="auto" latinLnBrk="0" hangingPunct="1">
              <a:lnSpc>
                <a:spcPct val="100000"/>
              </a:lnSpc>
              <a:spcBef>
                <a:spcPct val="0"/>
              </a:spcBef>
              <a:spcAft>
                <a:spcPts val="0"/>
              </a:spcAft>
              <a:buClrTx/>
              <a:buSzTx/>
              <a:buFontTx/>
              <a:buNone/>
              <a:defRPr/>
            </a:pPr>
            <a:r>
              <a:rPr kumimoji="0" lang="en-US" sz="5600" b="1" i="0" u="none" strike="noStrike" kern="1200" cap="none" spc="0" normalizeH="0" baseline="0" noProof="0" dirty="0" smtClean="0">
                <a:ln>
                  <a:noFill/>
                </a:ln>
                <a:solidFill>
                  <a:schemeClr val="accent3">
                    <a:tint val="90000"/>
                    <a:satMod val="120000"/>
                  </a:schemeClr>
                </a:solidFill>
                <a:effectLst>
                  <a:outerShdw blurRad="38100" dist="25400" dir="5400000" algn="tl" rotWithShape="0">
                    <a:srgbClr val="000000">
                      <a:alpha val="43000"/>
                    </a:srgbClr>
                  </a:outerShdw>
                </a:effectLst>
                <a:uLnTx/>
                <a:uFillTx/>
                <a:latin typeface="+mj-lt"/>
                <a:ea typeface="+mj-ea"/>
                <a:cs typeface="+mj-cs"/>
              </a:rPr>
              <a:t>Thank you</a:t>
            </a:r>
            <a:endParaRPr kumimoji="0" lang="en-US" sz="5600" b="1" i="0" u="none" strike="noStrike" kern="1200" cap="none" spc="0" normalizeH="0" baseline="0" noProof="0" dirty="0">
              <a:ln>
                <a:noFill/>
              </a:ln>
              <a:solidFill>
                <a:schemeClr val="accent3">
                  <a:tint val="90000"/>
                  <a:satMod val="120000"/>
                </a:schemeClr>
              </a:solidFill>
              <a:effectLst>
                <a:outerShdw blurRad="38100" dist="25400" dir="5400000" algn="tl" rotWithShape="0">
                  <a:srgbClr val="000000">
                    <a:alpha val="43000"/>
                  </a:srgbClr>
                </a:outerShdw>
              </a:effectLst>
              <a:uLnTx/>
              <a:uFillTx/>
              <a:latin typeface="+mj-lt"/>
              <a:ea typeface="+mj-ea"/>
              <a:cs typeface="+mj-cs"/>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Flow</Template>
  <TotalTime>0</TotalTime>
  <Words>13722</Words>
  <Application>WPS Presentation</Application>
  <PresentationFormat>On-screen Show (4:3)</PresentationFormat>
  <Paragraphs>511</Paragraphs>
  <Slides>47</Slides>
  <Notes>3</Notes>
  <HiddenSlides>0</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1</vt:i4>
      </vt:variant>
      <vt:variant>
        <vt:lpstr>幻灯片标题</vt:lpstr>
      </vt:variant>
      <vt:variant>
        <vt:i4>47</vt:i4>
      </vt:variant>
    </vt:vector>
  </HeadingPairs>
  <TitlesOfParts>
    <vt:vector size="68" baseType="lpstr">
      <vt:lpstr>Arial</vt:lpstr>
      <vt:lpstr>SimSun</vt:lpstr>
      <vt:lpstr>Wingdings</vt:lpstr>
      <vt:lpstr>Calibri</vt:lpstr>
      <vt:lpstr>Constantia</vt:lpstr>
      <vt:lpstr>Wingdings 2</vt:lpstr>
      <vt:lpstr>Wingdings</vt:lpstr>
      <vt:lpstr>Times New Roman</vt:lpstr>
      <vt:lpstr>Constantia (Body)</vt:lpstr>
      <vt:lpstr>Tahoma</vt:lpstr>
      <vt:lpstr>MS Gothic</vt:lpstr>
      <vt:lpstr>Monotype Sorts</vt:lpstr>
      <vt:lpstr>Arial Narrow</vt:lpstr>
      <vt:lpstr>PMingLiU</vt:lpstr>
      <vt:lpstr>MingLiU-ExtB</vt:lpstr>
      <vt:lpstr>Wingdings 2</vt:lpstr>
      <vt:lpstr>Microsoft YaHei</vt:lpstr>
      <vt:lpstr>Arial Unicode MS</vt:lpstr>
      <vt:lpstr>Monotype Sorts</vt:lpstr>
      <vt:lpstr>Flow</vt:lpstr>
      <vt:lpstr>Paint.Picture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AAU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Informatics</dc:creator>
  <cp:lastModifiedBy>tesfa zerfu</cp:lastModifiedBy>
  <cp:revision>233</cp:revision>
  <dcterms:created xsi:type="dcterms:W3CDTF">2008-03-10T09:35:09Z</dcterms:created>
  <dcterms:modified xsi:type="dcterms:W3CDTF">2026-03-16T18:37:56Z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BE75167E05424C0C9F527BF88B877A75_13</vt:lpwstr>
  </property>
  <property fmtid="{D5CDD505-2E9C-101B-9397-08002B2CF9AE}" pid="3" name="KSOProductBuildVer">
    <vt:lpwstr>1033-12.2.0.23196</vt:lpwstr>
  </property>
</Properties>
</file>